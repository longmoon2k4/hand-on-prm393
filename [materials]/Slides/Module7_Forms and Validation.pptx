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76" r:id="rId2"/>
    <p:sldId id="275" r:id="rId3"/>
    <p:sldId id="257" r:id="rId4"/>
    <p:sldId id="258" r:id="rId5"/>
    <p:sldId id="259" r:id="rId6"/>
    <p:sldId id="260" r:id="rId7"/>
    <p:sldId id="287" r:id="rId8"/>
    <p:sldId id="295" r:id="rId9"/>
    <p:sldId id="280" r:id="rId10"/>
    <p:sldId id="299" r:id="rId11"/>
    <p:sldId id="261" r:id="rId12"/>
    <p:sldId id="263" r:id="rId13"/>
    <p:sldId id="264" r:id="rId14"/>
    <p:sldId id="281" r:id="rId15"/>
    <p:sldId id="300" r:id="rId16"/>
    <p:sldId id="265" r:id="rId17"/>
    <p:sldId id="266" r:id="rId18"/>
    <p:sldId id="267" r:id="rId19"/>
    <p:sldId id="277" r:id="rId20"/>
    <p:sldId id="301" r:id="rId21"/>
    <p:sldId id="303" r:id="rId22"/>
    <p:sldId id="288" r:id="rId23"/>
    <p:sldId id="302" r:id="rId24"/>
    <p:sldId id="290" r:id="rId25"/>
    <p:sldId id="274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677" autoAdjust="0"/>
  </p:normalViewPr>
  <p:slideViewPr>
    <p:cSldViewPr snapToGrid="0" snapToObjects="1">
      <p:cViewPr varScale="1">
        <p:scale>
          <a:sx n="68" d="100"/>
          <a:sy n="68" d="100"/>
        </p:scale>
        <p:origin x="126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this module as the bridge between UI and real-world data. Everything users type into your app will go through forms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 b="1"/>
              <a:t>References</a:t>
            </a:r>
            <a:endParaRPr lang="en-US"/>
          </a:p>
          <a:p>
            <a:r>
              <a:rPr lang="en-US" i="1"/>
              <a:t>Mastering Flutter 2025</a:t>
            </a:r>
            <a:endParaRPr lang="en-US"/>
          </a:p>
          <a:p>
            <a:pPr lvl="1"/>
            <a:r>
              <a:rPr lang="en-US"/>
              <a:t>Chapter 4 – Basic Widgets (input fields, buttons)</a:t>
            </a:r>
          </a:p>
          <a:p>
            <a:pPr lvl="1"/>
            <a:r>
              <a:rPr lang="en-US"/>
              <a:t>Chapter 14 – Handling User Input &amp; Gestures</a:t>
            </a:r>
          </a:p>
          <a:p>
            <a:pPr lvl="1"/>
            <a:r>
              <a:rPr lang="en-US"/>
              <a:t>Chapter 6 – State Management (supporting concepts)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7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You could ask the class: “Have you ever abandoned an app because of an annoying input form?”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in this subject, when we say “form”, we almost always use TextFormField.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57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Demo: show students the real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33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demo:  Lab 7.1</a:t>
            </a:r>
          </a:p>
          <a:p>
            <a:r>
              <a:rPr lang="en-US"/>
              <a:t>import 'package:flutter/material.dart';</a:t>
            </a:r>
          </a:p>
          <a:p>
            <a:endParaRPr lang="en-US"/>
          </a:p>
          <a:p>
            <a:r>
              <a:rPr lang="en-US"/>
              <a:t>void main() =&gt; runApp(const Lab7_1App());</a:t>
            </a:r>
          </a:p>
          <a:p>
            <a:endParaRPr lang="en-US"/>
          </a:p>
          <a:p>
            <a:r>
              <a:rPr lang="en-US"/>
              <a:t>class Lab7_1App extends StatelessWidget {</a:t>
            </a:r>
          </a:p>
          <a:p>
            <a:r>
              <a:rPr lang="en-US"/>
              <a:t>  const Lab7_1App({super.key});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MaterialApp(</a:t>
            </a:r>
          </a:p>
          <a:p>
            <a:r>
              <a:rPr lang="en-US"/>
              <a:t>      title: 'Lab 7.1 – Basic Form',</a:t>
            </a:r>
          </a:p>
          <a:p>
            <a:r>
              <a:rPr lang="en-US"/>
              <a:t>      theme: ThemeData.dark(useMaterial3: true),</a:t>
            </a:r>
          </a:p>
          <a:p>
            <a:r>
              <a:rPr lang="en-US"/>
              <a:t>      home: const BasicSignupScreen(),</a:t>
            </a:r>
          </a:p>
          <a:p>
            <a:r>
              <a:rPr lang="en-US"/>
              <a:t>      debugShowCheckedModeBanner: false,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BasicSignupScreen extends StatefulWidget {</a:t>
            </a:r>
          </a:p>
          <a:p>
            <a:r>
              <a:rPr lang="en-US"/>
              <a:t>  const BasicSignupScreen({super.key});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State&lt;BasicSignupScreen&gt; createState() =&gt; _BasicSignupScreenState();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_BasicSignupScreenState extends State&lt;BasicSignupScreen&gt; {</a:t>
            </a:r>
          </a:p>
          <a:p>
            <a:r>
              <a:rPr lang="en-US"/>
              <a:t>  final _formKey = GlobalKey&lt;FormState&gt;();</a:t>
            </a:r>
          </a:p>
          <a:p>
            <a:endParaRPr lang="en-US"/>
          </a:p>
          <a:p>
            <a:r>
              <a:rPr lang="en-US"/>
              <a:t>  String _name = '';</a:t>
            </a:r>
          </a:p>
          <a:p>
            <a:r>
              <a:rPr lang="en-US"/>
              <a:t>  String _email = '';</a:t>
            </a:r>
          </a:p>
          <a:p>
            <a:r>
              <a:rPr lang="en-US"/>
              <a:t>  String _password = '';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Text('Basic Signup Form')),</a:t>
            </a:r>
          </a:p>
          <a:p>
            <a:r>
              <a:rPr lang="en-US"/>
              <a:t>      body: Padding(</a:t>
            </a:r>
          </a:p>
          <a:p>
            <a:r>
              <a:rPr lang="en-US"/>
              <a:t>        padding: const EdgeInsets.all(16),</a:t>
            </a:r>
          </a:p>
          <a:p>
            <a:r>
              <a:rPr lang="en-US"/>
              <a:t>        child: Form(</a:t>
            </a:r>
          </a:p>
          <a:p>
            <a:r>
              <a:rPr lang="en-US"/>
              <a:t>          key: _formKey,</a:t>
            </a:r>
          </a:p>
          <a:p>
            <a:r>
              <a:rPr lang="en-US"/>
              <a:t>          child: ListView(</a:t>
            </a:r>
          </a:p>
          <a:p>
            <a:r>
              <a:rPr lang="en-US"/>
              <a:t>            children: [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'Full name'),</a:t>
            </a:r>
          </a:p>
          <a:p>
            <a:r>
              <a:rPr lang="en-US"/>
              <a:t>                textInputAction: TextInputAction.next,</a:t>
            </a:r>
          </a:p>
          <a:p>
            <a:r>
              <a:rPr lang="en-US"/>
              <a:t>                validator: (value) {</a:t>
            </a:r>
          </a:p>
          <a:p>
            <a:r>
              <a:rPr lang="en-US"/>
              <a:t>                  if (value == null || value.trim().isEmpty) {</a:t>
            </a:r>
          </a:p>
          <a:p>
            <a:r>
              <a:rPr lang="en-US"/>
              <a:t>                    return 'Name is required';</a:t>
            </a:r>
          </a:p>
          <a:p>
            <a:r>
              <a:rPr lang="en-US"/>
              <a:t>                  }</a:t>
            </a:r>
          </a:p>
          <a:p>
            <a:r>
              <a:rPr lang="en-US"/>
              <a:t>                  return null;</a:t>
            </a:r>
          </a:p>
          <a:p>
            <a:r>
              <a:rPr lang="en-US"/>
              <a:t>                },</a:t>
            </a:r>
          </a:p>
          <a:p>
            <a:r>
              <a:rPr lang="en-US"/>
              <a:t>                onSaved: (value) =&gt; _name = value!.trim(),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16),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'Email'),</a:t>
            </a:r>
          </a:p>
          <a:p>
            <a:r>
              <a:rPr lang="en-US"/>
              <a:t>                keyboardType: TextInputType.emailAddress,</a:t>
            </a:r>
          </a:p>
          <a:p>
            <a:r>
              <a:rPr lang="en-US"/>
              <a:t>                textInputAction: TextInputAction.next,</a:t>
            </a:r>
          </a:p>
          <a:p>
            <a:r>
              <a:rPr lang="en-US"/>
              <a:t>                validator: (value) {</a:t>
            </a:r>
          </a:p>
          <a:p>
            <a:r>
              <a:rPr lang="en-US"/>
              <a:t>                  final text = value?.trim() ?? '';</a:t>
            </a:r>
          </a:p>
          <a:p>
            <a:r>
              <a:rPr lang="en-US"/>
              <a:t>                  if (text.isEmpty) return 'Email is required';</a:t>
            </a:r>
          </a:p>
          <a:p>
            <a:r>
              <a:rPr lang="en-US"/>
              <a:t>                  if (!text.contains('@') || !text.contains('.')) {</a:t>
            </a:r>
          </a:p>
          <a:p>
            <a:r>
              <a:rPr lang="en-US"/>
              <a:t>                    return 'Enter a valid email';</a:t>
            </a:r>
          </a:p>
          <a:p>
            <a:r>
              <a:rPr lang="en-US"/>
              <a:t>                  }</a:t>
            </a:r>
          </a:p>
          <a:p>
            <a:r>
              <a:rPr lang="en-US"/>
              <a:t>                  return null;</a:t>
            </a:r>
          </a:p>
          <a:p>
            <a:r>
              <a:rPr lang="en-US"/>
              <a:t>                },</a:t>
            </a:r>
          </a:p>
          <a:p>
            <a:r>
              <a:rPr lang="en-US"/>
              <a:t>                onSaved: (value) =&gt; _email = value!.trim(),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16),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'Password'),</a:t>
            </a:r>
          </a:p>
          <a:p>
            <a:r>
              <a:rPr lang="en-US"/>
              <a:t>                obscureText: true,</a:t>
            </a:r>
          </a:p>
          <a:p>
            <a:r>
              <a:rPr lang="en-US"/>
              <a:t>                textInputAction: TextInputAction.done,</a:t>
            </a:r>
          </a:p>
          <a:p>
            <a:r>
              <a:rPr lang="en-US"/>
              <a:t>                validator: (value) {</a:t>
            </a:r>
          </a:p>
          <a:p>
            <a:r>
              <a:rPr lang="en-US"/>
              <a:t>                  if (value == null || value.isEmpty) {</a:t>
            </a:r>
          </a:p>
          <a:p>
            <a:r>
              <a:rPr lang="en-US"/>
              <a:t>                    return 'Password is required';</a:t>
            </a:r>
          </a:p>
          <a:p>
            <a:r>
              <a:rPr lang="en-US"/>
              <a:t>                  }</a:t>
            </a:r>
          </a:p>
          <a:p>
            <a:r>
              <a:rPr lang="en-US"/>
              <a:t>                  if (value.length &lt; 6) {</a:t>
            </a:r>
          </a:p>
          <a:p>
            <a:r>
              <a:rPr lang="en-US"/>
              <a:t>                    return 'Use at least 6 characters';</a:t>
            </a:r>
          </a:p>
          <a:p>
            <a:r>
              <a:rPr lang="en-US"/>
              <a:t>                  }</a:t>
            </a:r>
          </a:p>
          <a:p>
            <a:r>
              <a:rPr lang="en-US"/>
              <a:t>                  return null;</a:t>
            </a:r>
          </a:p>
          <a:p>
            <a:r>
              <a:rPr lang="en-US"/>
              <a:t>                },</a:t>
            </a:r>
          </a:p>
          <a:p>
            <a:r>
              <a:rPr lang="en-US"/>
              <a:t>                onSaved: (value) =&gt; _password = value!,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24),</a:t>
            </a:r>
          </a:p>
          <a:p>
            <a:r>
              <a:rPr lang="en-US"/>
              <a:t>              ElevatedButton(</a:t>
            </a:r>
          </a:p>
          <a:p>
            <a:r>
              <a:rPr lang="en-US"/>
              <a:t>                onPressed: _submit,</a:t>
            </a:r>
          </a:p>
          <a:p>
            <a:r>
              <a:rPr lang="en-US"/>
              <a:t>                child: const Text('Sign up'),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],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void _submit() {</a:t>
            </a:r>
          </a:p>
          <a:p>
            <a:r>
              <a:rPr lang="en-US"/>
              <a:t>    final isValid = _formKey.currentState!.validate();</a:t>
            </a:r>
          </a:p>
          <a:p>
            <a:r>
              <a:rPr lang="en-US"/>
              <a:t>    if (!isValid) return;</a:t>
            </a:r>
          </a:p>
          <a:p>
            <a:endParaRPr lang="en-US"/>
          </a:p>
          <a:p>
            <a:r>
              <a:rPr lang="en-US"/>
              <a:t>    _formKey.currentState!.save();</a:t>
            </a:r>
          </a:p>
          <a:p>
            <a:endParaRPr lang="en-US"/>
          </a:p>
          <a:p>
            <a:r>
              <a:rPr lang="en-US"/>
              <a:t>    ScaffoldMessenger.of(context).showSnackBar(</a:t>
            </a:r>
          </a:p>
          <a:p>
            <a:r>
              <a:rPr lang="en-US"/>
              <a:t>      SnackBar(</a:t>
            </a:r>
          </a:p>
          <a:p>
            <a:r>
              <a:rPr lang="en-US"/>
              <a:t>        content: Text('Signed up as $_name ($_email)'),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Demo: BasicSignupScreen – shows students the layout before adding logic.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76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Demo: BasicSignupScreen – highlights the error displayed below the TextFormField after clicking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86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Reminder: the full demo will add async check &amp; loading.</a:t>
            </a:r>
          </a:p>
          <a:p>
            <a:endParaRPr lang="en-US"/>
          </a:p>
          <a:p>
            <a:r>
              <a:rPr lang="en-US"/>
              <a:t>Demo 7.1 – BasicSignupScreen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FF74-C224-F4B2-2EA6-1AE653EA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26A65-8182-2794-392A-255DA5F0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E4B41-2557-E72F-00D0-137E248D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 Lab 7.2 Validation Rules (Password + Confirm Password)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endParaRPr lang="en-US"/>
          </a:p>
          <a:p>
            <a:r>
              <a:rPr lang="en-US"/>
              <a:t>void main() =&gt; runApp(const Lab72App());</a:t>
            </a:r>
          </a:p>
          <a:p>
            <a:endParaRPr lang="en-US"/>
          </a:p>
          <a:p>
            <a:r>
              <a:rPr lang="en-US"/>
              <a:t>class Lab72App extends StatelessWidget {</a:t>
            </a:r>
          </a:p>
          <a:p>
            <a:r>
              <a:rPr lang="en-US"/>
              <a:t>  const Lab72App({super.key});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MaterialApp(</a:t>
            </a:r>
          </a:p>
          <a:p>
            <a:r>
              <a:rPr lang="en-US"/>
              <a:t>      title: 'Lab 7.2 – Validation Rules',</a:t>
            </a:r>
          </a:p>
          <a:p>
            <a:r>
              <a:rPr lang="en-US"/>
              <a:t>      theme: ThemeData.dark(useMaterial3: true),</a:t>
            </a:r>
          </a:p>
          <a:p>
            <a:r>
              <a:rPr lang="en-US"/>
              <a:t>      debugShowCheckedModeBanner: false,</a:t>
            </a:r>
          </a:p>
          <a:p>
            <a:r>
              <a:rPr lang="en-US"/>
              <a:t>      home: const ValidationSignupScreen(),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ValidationSignupScreen extends StatefulWidget {</a:t>
            </a:r>
          </a:p>
          <a:p>
            <a:r>
              <a:rPr lang="en-US"/>
              <a:t>  const ValidationSignupScreen({super.key});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State&lt;ValidationSignupScreen&gt; createState() =&gt; _ValidationSignupScreenState();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_ValidationSignupScreenState extends State&lt;ValidationSignupScreen&gt; {</a:t>
            </a:r>
          </a:p>
          <a:p>
            <a:r>
              <a:rPr lang="en-US"/>
              <a:t>  final _formKey = GlobalKey&lt;FormState&gt;();</a:t>
            </a:r>
          </a:p>
          <a:p>
            <a:endParaRPr lang="en-US"/>
          </a:p>
          <a:p>
            <a:r>
              <a:rPr lang="en-US"/>
              <a:t>  String _email = '';</a:t>
            </a:r>
          </a:p>
          <a:p>
            <a:r>
              <a:rPr lang="en-US"/>
              <a:t>  String _password = '';</a:t>
            </a:r>
          </a:p>
          <a:p>
            <a:r>
              <a:rPr lang="en-US"/>
              <a:t>  String _confirmPassword = '';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Text("Lab 7.2 – Validation Rules")),</a:t>
            </a:r>
          </a:p>
          <a:p>
            <a:r>
              <a:rPr lang="en-US"/>
              <a:t>      body: Padding(</a:t>
            </a:r>
          </a:p>
          <a:p>
            <a:r>
              <a:rPr lang="en-US"/>
              <a:t>        padding: const EdgeInsets.all(16),</a:t>
            </a:r>
          </a:p>
          <a:p>
            <a:r>
              <a:rPr lang="en-US"/>
              <a:t>        child: Form(</a:t>
            </a:r>
          </a:p>
          <a:p>
            <a:r>
              <a:rPr lang="en-US"/>
              <a:t>          key: _formKey,</a:t>
            </a:r>
          </a:p>
          <a:p>
            <a:r>
              <a:rPr lang="en-US"/>
              <a:t>          autovalidateMode: AutovalidateMode.onUserInteraction,</a:t>
            </a:r>
          </a:p>
          <a:p>
            <a:r>
              <a:rPr lang="en-US"/>
              <a:t>          child: ListView(</a:t>
            </a:r>
          </a:p>
          <a:p>
            <a:r>
              <a:rPr lang="en-US"/>
              <a:t>            children: [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"Email"),</a:t>
            </a:r>
          </a:p>
          <a:p>
            <a:r>
              <a:rPr lang="en-US"/>
              <a:t>                keyboardType: TextInputType.emailAddress,</a:t>
            </a:r>
          </a:p>
          <a:p>
            <a:r>
              <a:rPr lang="en-US"/>
              <a:t>                onChanged: (v) =&gt; _email = v.trim(),</a:t>
            </a:r>
          </a:p>
          <a:p>
            <a:r>
              <a:rPr lang="en-US"/>
              <a:t>                validator: _validateEmail,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16),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"Password"),</a:t>
            </a:r>
          </a:p>
          <a:p>
            <a:r>
              <a:rPr lang="en-US"/>
              <a:t>                obscureText: true,</a:t>
            </a:r>
          </a:p>
          <a:p>
            <a:r>
              <a:rPr lang="en-US"/>
              <a:t>                onChanged: (v) =&gt; _password = v,</a:t>
            </a:r>
          </a:p>
          <a:p>
            <a:r>
              <a:rPr lang="en-US"/>
              <a:t>                validator: _validatePassword,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16),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"Confirm Password"),</a:t>
            </a:r>
          </a:p>
          <a:p>
            <a:r>
              <a:rPr lang="en-US"/>
              <a:t>                obscureText: true,</a:t>
            </a:r>
          </a:p>
          <a:p>
            <a:r>
              <a:rPr lang="en-US"/>
              <a:t>                onChanged: (v) =&gt; _confirmPassword = v,</a:t>
            </a:r>
          </a:p>
          <a:p>
            <a:r>
              <a:rPr lang="en-US"/>
              <a:t>                validator: _validateConfirmPassword,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24),</a:t>
            </a:r>
          </a:p>
          <a:p>
            <a:r>
              <a:rPr lang="en-US"/>
              <a:t>              ElevatedButton(</a:t>
            </a:r>
          </a:p>
          <a:p>
            <a:r>
              <a:rPr lang="en-US"/>
              <a:t>                onPressed: _submit,</a:t>
            </a:r>
          </a:p>
          <a:p>
            <a:r>
              <a:rPr lang="en-US"/>
              <a:t>                child: const Text("Create account"),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],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// VALIDATION FUNCTIONS</a:t>
            </a:r>
          </a:p>
          <a:p>
            <a:r>
              <a:rPr lang="en-US"/>
              <a:t>  String? _validateEmail(String? value) {</a:t>
            </a:r>
          </a:p>
          <a:p>
            <a:r>
              <a:rPr lang="en-US"/>
              <a:t>    final text = value?.trim() ?? '';</a:t>
            </a:r>
          </a:p>
          <a:p>
            <a:r>
              <a:rPr lang="en-US"/>
              <a:t>    if (text.isEmpty) return "Email is required";</a:t>
            </a:r>
          </a:p>
          <a:p>
            <a:r>
              <a:rPr lang="en-US"/>
              <a:t>    if (!text.contains("@") || !text.contains(".")) {</a:t>
            </a:r>
          </a:p>
          <a:p>
            <a:r>
              <a:rPr lang="en-US"/>
              <a:t>      return "Enter a valid email";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null;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String? _validatePassword(String? value) {</a:t>
            </a:r>
          </a:p>
          <a:p>
            <a:r>
              <a:rPr lang="en-US"/>
              <a:t>    final text = value ?? '';</a:t>
            </a:r>
          </a:p>
          <a:p>
            <a:r>
              <a:rPr lang="en-US"/>
              <a:t>    if (text.isEmpty) return "Password is required";</a:t>
            </a:r>
          </a:p>
          <a:p>
            <a:r>
              <a:rPr lang="en-US"/>
              <a:t>    if (text.length &lt; 8) return "Use at least 8 characters";</a:t>
            </a:r>
          </a:p>
          <a:p>
            <a:r>
              <a:rPr lang="en-US"/>
              <a:t>    if (!text.contains(RegExp(r"[0-9]"))) return "Include a number";</a:t>
            </a:r>
          </a:p>
          <a:p>
            <a:r>
              <a:rPr lang="en-US"/>
              <a:t>    return null;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String? _validateConfirmPassword(String? value) {</a:t>
            </a:r>
          </a:p>
          <a:p>
            <a:r>
              <a:rPr lang="en-US"/>
              <a:t>    if (value == null || value.isEmpty) return "Please confirm password";</a:t>
            </a:r>
          </a:p>
          <a:p>
            <a:r>
              <a:rPr lang="en-US"/>
              <a:t>    if (value != _password) return "Passwords do not match";</a:t>
            </a:r>
          </a:p>
          <a:p>
            <a:r>
              <a:rPr lang="en-US"/>
              <a:t>    return null;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void _submit() {</a:t>
            </a:r>
          </a:p>
          <a:p>
            <a:r>
              <a:rPr lang="en-US"/>
              <a:t>    if (!_formKey.currentState!.validate()) return;</a:t>
            </a:r>
          </a:p>
          <a:p>
            <a:r>
              <a:rPr lang="en-US"/>
              <a:t>    ScaffoldMessenger.of(context).showSnackBar(</a:t>
            </a:r>
          </a:p>
          <a:p>
            <a:r>
              <a:rPr lang="en-US"/>
              <a:t>      SnackBar(content: Text("Account created for $_email")),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6CE6-2868-382C-44C2-5219BE64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26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Demo: ValidationSignupScreen – point to _validatePassword &amp; _validateConfirmPassword.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Focus on the mindset: “always compare to state, not to other text controllers in validators (for neatness)”.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88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Demo: ValidationSignupScreen – toggle between disabled and onUserInteraction for student to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61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7.2 Validation Rules has autovalidate, inline errors, password rules, confirm password, suitable for illustrating how to write good/bad error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6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8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Demo: FocusFormScreen – tap on device/simulator for student to see Next/Done to transfer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8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Demo:</a:t>
            </a:r>
            <a:r>
              <a:rPr lang="en-US"/>
              <a:t> FocusFormScreen – tap outside field để bàn phím ẩn.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76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7.3 – FocusFormScreen, using ListView to avoid overflow, using Scroll + Keyboard UX → good illustration of layout patterns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70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 : Async Email Check (Optional)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endParaRPr lang="en-US"/>
          </a:p>
          <a:p>
            <a:r>
              <a:rPr lang="en-US"/>
              <a:t>void main() =&gt; runApp(const Lab74App());</a:t>
            </a:r>
          </a:p>
          <a:p>
            <a:endParaRPr lang="en-US"/>
          </a:p>
          <a:p>
            <a:r>
              <a:rPr lang="en-US"/>
              <a:t>class Lab74App extends StatelessWidget {</a:t>
            </a:r>
          </a:p>
          <a:p>
            <a:r>
              <a:rPr lang="en-US"/>
              <a:t>  const Lab74App({super.key});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MaterialApp(</a:t>
            </a:r>
          </a:p>
          <a:p>
            <a:r>
              <a:rPr lang="en-US"/>
              <a:t>      title: 'Lab 7.4 – Async Email Check',</a:t>
            </a:r>
          </a:p>
          <a:p>
            <a:r>
              <a:rPr lang="en-US"/>
              <a:t>      theme: ThemeData.dark(useMaterial3: true),</a:t>
            </a:r>
          </a:p>
          <a:p>
            <a:r>
              <a:rPr lang="en-US"/>
              <a:t>      debugShowCheckedModeBanner: false,</a:t>
            </a:r>
          </a:p>
          <a:p>
            <a:r>
              <a:rPr lang="en-US"/>
              <a:t>      home: const AsyncValidationScreen(),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AsyncValidationScreen extends StatefulWidget {</a:t>
            </a:r>
          </a:p>
          <a:p>
            <a:r>
              <a:rPr lang="en-US"/>
              <a:t>  const AsyncValidationScreen({super.key});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State&lt;AsyncValidationScreen&gt; createState() =&gt; _AsyncValidationScreenState();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_AsyncValidationScreenState extends State&lt;AsyncValidationScreen&gt; {</a:t>
            </a:r>
          </a:p>
          <a:p>
            <a:r>
              <a:rPr lang="en-US"/>
              <a:t>  final _formKey = GlobalKey&lt;FormState&gt;();</a:t>
            </a:r>
          </a:p>
          <a:p>
            <a:endParaRPr lang="en-US"/>
          </a:p>
          <a:p>
            <a:r>
              <a:rPr lang="en-US"/>
              <a:t>  String _email = '';</a:t>
            </a:r>
          </a:p>
          <a:p>
            <a:r>
              <a:rPr lang="en-US"/>
              <a:t>  String _password = '';</a:t>
            </a:r>
          </a:p>
          <a:p>
            <a:r>
              <a:rPr lang="en-US"/>
              <a:t>  bool _isChecking = false;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Text("Lab 7.4 – Async Email Check")),</a:t>
            </a:r>
          </a:p>
          <a:p>
            <a:r>
              <a:rPr lang="en-US"/>
              <a:t>      body: Padding(</a:t>
            </a:r>
          </a:p>
          <a:p>
            <a:r>
              <a:rPr lang="en-US"/>
              <a:t>        padding: const EdgeInsets.all(16),</a:t>
            </a:r>
          </a:p>
          <a:p>
            <a:r>
              <a:rPr lang="en-US"/>
              <a:t>        child: Form(</a:t>
            </a:r>
          </a:p>
          <a:p>
            <a:r>
              <a:rPr lang="en-US"/>
              <a:t>          key: _formKey,</a:t>
            </a:r>
          </a:p>
          <a:p>
            <a:r>
              <a:rPr lang="en-US"/>
              <a:t>          autovalidateMode: AutovalidateMode.onUserInteraction,</a:t>
            </a:r>
          </a:p>
          <a:p>
            <a:r>
              <a:rPr lang="en-US"/>
              <a:t>          child: ListView(</a:t>
            </a:r>
          </a:p>
          <a:p>
            <a:r>
              <a:rPr lang="en-US"/>
              <a:t>            children: [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"Email"),</a:t>
            </a:r>
          </a:p>
          <a:p>
            <a:r>
              <a:rPr lang="en-US"/>
              <a:t>                keyboardType: TextInputType.emailAddress,</a:t>
            </a:r>
          </a:p>
          <a:p>
            <a:r>
              <a:rPr lang="en-US"/>
              <a:t>                onChanged: (v) =&gt; _email = v.trim(),</a:t>
            </a:r>
          </a:p>
          <a:p>
            <a:r>
              <a:rPr lang="en-US"/>
              <a:t>                validator: _validateEmail,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16),</a:t>
            </a:r>
          </a:p>
          <a:p>
            <a:r>
              <a:rPr lang="en-US"/>
              <a:t>              TextFormField(</a:t>
            </a:r>
          </a:p>
          <a:p>
            <a:r>
              <a:rPr lang="en-US"/>
              <a:t>                decoration: const InputDecoration(labelText: "Password"),</a:t>
            </a:r>
          </a:p>
          <a:p>
            <a:r>
              <a:rPr lang="en-US"/>
              <a:t>                obscureText: true,</a:t>
            </a:r>
          </a:p>
          <a:p>
            <a:r>
              <a:rPr lang="en-US"/>
              <a:t>                onChanged: (v) =&gt; _password = v,</a:t>
            </a:r>
          </a:p>
          <a:p>
            <a:r>
              <a:rPr lang="en-US"/>
              <a:t>                validator: (v) =&gt;</a:t>
            </a:r>
          </a:p>
          <a:p>
            <a:r>
              <a:rPr lang="en-US"/>
              <a:t>                    v == null || v.isEmpty ? "Password required" : null,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SizedBox(height: 24),</a:t>
            </a:r>
          </a:p>
          <a:p>
            <a:r>
              <a:rPr lang="en-US"/>
              <a:t>              ElevatedButton(</a:t>
            </a:r>
          </a:p>
          <a:p>
            <a:r>
              <a:rPr lang="en-US"/>
              <a:t>                onPressed: _isChecking ? null : _submit,</a:t>
            </a:r>
          </a:p>
          <a:p>
            <a:r>
              <a:rPr lang="en-US"/>
              <a:t>                child: _isChecking</a:t>
            </a:r>
          </a:p>
          <a:p>
            <a:r>
              <a:rPr lang="en-US"/>
              <a:t>                    ? const SizedBox(</a:t>
            </a:r>
          </a:p>
          <a:p>
            <a:r>
              <a:rPr lang="en-US"/>
              <a:t>                        width: 18,</a:t>
            </a:r>
          </a:p>
          <a:p>
            <a:r>
              <a:rPr lang="en-US"/>
              <a:t>                        height: 18,</a:t>
            </a:r>
          </a:p>
          <a:p>
            <a:r>
              <a:rPr lang="en-US"/>
              <a:t>                        child: CircularProgressIndicator(strokeWidth: 2),</a:t>
            </a:r>
          </a:p>
          <a:p>
            <a:r>
              <a:rPr lang="en-US"/>
              <a:t>                      )</a:t>
            </a:r>
          </a:p>
          <a:p>
            <a:r>
              <a:rPr lang="en-US"/>
              <a:t>                    : const Text("Create account"),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],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String? _validateEmail(String? value) {</a:t>
            </a:r>
          </a:p>
          <a:p>
            <a:r>
              <a:rPr lang="en-US"/>
              <a:t>    final text = value?.trim() ?? '';</a:t>
            </a:r>
          </a:p>
          <a:p>
            <a:r>
              <a:rPr lang="en-US"/>
              <a:t>    if (text.isEmpty) return "Email is required";</a:t>
            </a:r>
          </a:p>
          <a:p>
            <a:r>
              <a:rPr lang="en-US"/>
              <a:t>    if (!text.contains("@") || !text.contains(".")) {</a:t>
            </a:r>
          </a:p>
          <a:p>
            <a:r>
              <a:rPr lang="en-US"/>
              <a:t>      return "Enter a valid email";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null;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_submit() async {</a:t>
            </a:r>
          </a:p>
          <a:p>
            <a:r>
              <a:rPr lang="en-US"/>
              <a:t>    if (!_formKey.currentState!.validate()) return;</a:t>
            </a:r>
          </a:p>
          <a:p>
            <a:endParaRPr lang="en-US"/>
          </a:p>
          <a:p>
            <a:r>
              <a:rPr lang="en-US"/>
              <a:t>    setState(() =&gt; _isChecking = true);</a:t>
            </a:r>
          </a:p>
          <a:p>
            <a:endParaRPr lang="en-US"/>
          </a:p>
          <a:p>
            <a:r>
              <a:rPr lang="en-US"/>
              <a:t>    // Fake server delay</a:t>
            </a:r>
          </a:p>
          <a:p>
            <a:r>
              <a:rPr lang="en-US"/>
              <a:t>    await Future.delayed(const Duration(seconds: 2));</a:t>
            </a:r>
          </a:p>
          <a:p>
            <a:endParaRPr lang="en-US"/>
          </a:p>
          <a:p>
            <a:r>
              <a:rPr lang="en-US"/>
              <a:t>    final isTaken = _email.toLowerCase().startsWith("taken");</a:t>
            </a:r>
          </a:p>
          <a:p>
            <a:endParaRPr lang="en-US"/>
          </a:p>
          <a:p>
            <a:r>
              <a:rPr lang="en-US"/>
              <a:t>    setState(() =&gt; _isChecking = false);</a:t>
            </a:r>
          </a:p>
          <a:p>
            <a:endParaRPr lang="en-US"/>
          </a:p>
          <a:p>
            <a:r>
              <a:rPr lang="en-US"/>
              <a:t>    if (isTaken) {</a:t>
            </a:r>
          </a:p>
          <a:p>
            <a:r>
              <a:rPr lang="en-US"/>
              <a:t>      ScaffoldMessenger.of(context).showSnackBar(</a:t>
            </a:r>
          </a:p>
          <a:p>
            <a:r>
              <a:rPr lang="en-US"/>
              <a:t>        const SnackBar(content: Text("This email is already taken")),</a:t>
            </a:r>
          </a:p>
          <a:p>
            <a:r>
              <a:rPr lang="en-US"/>
              <a:t>      );</a:t>
            </a:r>
          </a:p>
          <a:p>
            <a:r>
              <a:rPr lang="en-US"/>
              <a:t>      return;</a:t>
            </a:r>
          </a:p>
          <a:p>
            <a:r>
              <a:rPr lang="en-US"/>
              <a:t>    }</a:t>
            </a:r>
          </a:p>
          <a:p>
            <a:endParaRPr lang="en-US"/>
          </a:p>
          <a:p>
            <a:r>
              <a:rPr lang="en-US"/>
              <a:t>    ScaffoldMessenger.of(context).showSnackBar(</a:t>
            </a:r>
          </a:p>
          <a:p>
            <a:r>
              <a:rPr lang="en-US"/>
              <a:t>      SnackBar(content: Text("Account created for $_email")),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88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AE39-B09B-78B6-8A27-644FB76A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80167-93E5-E6AE-25B3-FE45D559F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D1FD2-BFE6-CCCB-0B0F-2A8610882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Demo:</a:t>
            </a:r>
            <a:r>
              <a:rPr lang="en-US"/>
              <a:t> AsyncValidationScreen hoặc FullSignupScreen – highlight việc disable nút trong khi chờ.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09DBF-E072-347E-6891-DF0DD2AA5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73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7F92-B452-3A05-C99B-2EC0492E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A29BC-6EE5-B0E5-020A-1AFB99E03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DFBE1-5E96-390C-677D-F0445FFE9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slide helps students see how client-side validation fits into a full signup process. Actual backend and API integration will be covered in Module 8.”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2A0A0-DDFD-9741-9DEA-9A2F34C3A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19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Note:  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synthesize lab exercises from 7.1 - 7.4 to complete the project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EEAD-CE0F-5561-6342-BAF75A59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44A3C-DBEF-A38C-46CF-BCA815436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172C3-B76A-AF58-E5C2-0C3DC4A3D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6C56C-0D0C-7CB9-68D8-F73F11E90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136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47DE-B4D6-9270-6366-E375AB40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C3A7-7616-997E-68E2-64EC6F2FE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2479-A35C-BA47-0B21-843F07F39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E1A2A-C6DF-E673-821D-84F85C65B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980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88003377-ABB3-7CDD-6240-D6ED774D6D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21" y="99726"/>
            <a:ext cx="3092767" cy="95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60C7BA32-3464-EB51-BF22-5A992905C4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1" y="-1281"/>
            <a:ext cx="1940623" cy="60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ev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7714" y="3797574"/>
            <a:ext cx="7620000" cy="1827699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Module 7 - Forms and Validation</a:t>
            </a:r>
            <a:br>
              <a:rPr lang="en-US" sz="4000"/>
            </a:br>
            <a:r>
              <a:rPr lang="en-US" sz="2800"/>
              <a:t>User Input • Validation • UX • Async Checks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Contents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745" y="1012892"/>
            <a:ext cx="8229203" cy="5531497"/>
          </a:xfrm>
        </p:spPr>
        <p:txBody>
          <a:bodyPr/>
          <a:lstStyle/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Build forms using Form and TextFormField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Use FormState and GlobalKey to validate and save data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Apply built-in and custom validation rules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Manage focus and keyboard interactions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Design user-friendly error messages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Implement a complete signup form with validation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0"/>
              <a:t>This module leads into Module 8 – API Networking</a:t>
            </a:r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Why Forms Matter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1" y="1322243"/>
            <a:ext cx="5929086" cy="43818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/>
              <a:t>Why forms are critical in apps:</a:t>
            </a:r>
          </a:p>
          <a:p>
            <a:pPr marL="400040" lvl="1" indent="0">
              <a:lnSpc>
                <a:spcPct val="150000"/>
              </a:lnSpc>
              <a:buNone/>
            </a:pPr>
            <a:r>
              <a:rPr lang="en-US" sz="2200" b="0"/>
              <a:t>Common use cases: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/>
              <a:t>Login / Signup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/>
              <a:t>Profile update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/>
              <a:t>Feedback &amp; contact forms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/>
              <a:t>Booking and checkout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/>
              <a:t>Search and filtering inputs</a:t>
            </a:r>
          </a:p>
          <a:p>
            <a:pPr marL="0" indent="0">
              <a:buNone/>
            </a:pPr>
            <a:endParaRPr lang="en-US" sz="1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57BEDF-2D96-B6EB-1ABA-4494938F2F11}"/>
              </a:ext>
            </a:extLst>
          </p:cNvPr>
          <p:cNvSpPr txBox="1">
            <a:spLocks/>
          </p:cNvSpPr>
          <p:nvPr/>
        </p:nvSpPr>
        <p:spPr bwMode="auto">
          <a:xfrm>
            <a:off x="5548086" y="2041585"/>
            <a:ext cx="5929086" cy="3739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US" sz="2400" b="0"/>
              <a:t>If forms are done poorly:</a:t>
            </a:r>
          </a:p>
          <a:p>
            <a:pPr marL="74294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/>
              <a:t>Users submit invalid or incomplete data</a:t>
            </a:r>
          </a:p>
          <a:p>
            <a:pPr marL="74294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/>
              <a:t>Users get frustrated and abandon the app</a:t>
            </a:r>
          </a:p>
          <a:p>
            <a:pPr marL="74294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/>
              <a:t>Security and data quality issues appear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61BCF-9DA3-9ADA-9152-0E28842B93E3}"/>
              </a:ext>
            </a:extLst>
          </p:cNvPr>
          <p:cNvSpPr txBox="1"/>
          <p:nvPr/>
        </p:nvSpPr>
        <p:spPr>
          <a:xfrm>
            <a:off x="2002971" y="5858282"/>
            <a:ext cx="8828314" cy="57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40" lvl="1" indent="0">
              <a:lnSpc>
                <a:spcPct val="150000"/>
              </a:lnSpc>
              <a:buFont typeface="Arial" pitchFamily="34" charset="0"/>
              <a:buNone/>
            </a:pPr>
            <a:r>
              <a:rPr lang="en-US" sz="2400" b="1"/>
              <a:t>Key idea: Good apps = good forms + good validatio</a:t>
            </a:r>
            <a:endParaRPr lang="en-US" sz="16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Input Widgets Overview</a:t>
            </a:r>
            <a:endParaRPr sz="32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7EFC6A-81A6-BA13-EE84-991020FC6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78" y="1368492"/>
            <a:ext cx="8229600" cy="537909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Core input widgets in Flutter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TextField – basic text input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TextFormField – text input with validation in a form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Checkbox, Switch, Radio – boolean choices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DropdownButton – pick from a list of options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Date &amp; time pickers – select from dialogs</a:t>
            </a:r>
          </a:p>
          <a:p>
            <a:pPr marL="0" indent="0">
              <a:buNone/>
            </a:pPr>
            <a:r>
              <a:rPr lang="en-US"/>
              <a:t>When to use which?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Use TextField for simple, one-off inputs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Use TextFormField inside a Form when you need validation</a:t>
            </a:r>
          </a:p>
          <a:p>
            <a:endParaRPr lang="en-US"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Form</a:t>
            </a:r>
            <a:r>
              <a:rPr lang="en-US" sz="3200"/>
              <a:t> &amp; </a:t>
            </a:r>
            <a:r>
              <a:rPr lang="en-US"/>
              <a:t>FormState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860" y="1534887"/>
            <a:ext cx="5083426" cy="465908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What is a Form?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A Form groups multiple input fields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A GlobalKey&lt;FormState&gt; lets you:</a:t>
            </a:r>
          </a:p>
          <a:p>
            <a:pPr marL="1142979" lvl="2" indent="-342900">
              <a:buFont typeface="Courier New" panose="02070309020205020404" pitchFamily="49" charset="0"/>
              <a:buChar char="o"/>
            </a:pPr>
            <a:r>
              <a:rPr lang="en-US" b="0"/>
              <a:t>Validate all fields at once</a:t>
            </a:r>
          </a:p>
          <a:p>
            <a:pPr marL="1142979" lvl="2" indent="-342900">
              <a:buFont typeface="Courier New" panose="02070309020205020404" pitchFamily="49" charset="0"/>
              <a:buChar char="o"/>
            </a:pPr>
            <a:r>
              <a:rPr lang="en-US" b="0"/>
              <a:t>Save all field values</a:t>
            </a:r>
          </a:p>
          <a:p>
            <a:pPr marL="1142979" lvl="2" indent="-342900">
              <a:buFont typeface="Courier New" panose="02070309020205020404" pitchFamily="49" charset="0"/>
              <a:buChar char="o"/>
            </a:pPr>
            <a:r>
              <a:rPr lang="en-US" b="0"/>
              <a:t>Reset the form</a:t>
            </a:r>
          </a:p>
          <a:p>
            <a:pPr marL="0" indent="0">
              <a:buNone/>
            </a:pPr>
            <a:r>
              <a:rPr lang="en-US"/>
              <a:t>Core methods: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formKey.currentState!.validate()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formKey.currentState!.save()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 b="0"/>
              <a:t>formKey.currentState!.reset()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F12295-65BB-6CDE-A951-1C9B27137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5219"/>
            <a:ext cx="4524699" cy="5111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1- Basic Signup Form</a:t>
            </a:r>
            <a:endParaRPr sz="3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3A31-C461-64D4-947A-16FEE9336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69" y="1600731"/>
            <a:ext cx="5192217" cy="4525699"/>
          </a:xfrm>
        </p:spPr>
        <p:txBody>
          <a:bodyPr/>
          <a:lstStyle/>
          <a:p>
            <a:r>
              <a:rPr lang="en-US" b="0"/>
              <a:t>Goal: Create a simple signup form using Form + TextFormField.</a:t>
            </a:r>
          </a:p>
          <a:p>
            <a:r>
              <a:rPr lang="en-US" b="0"/>
              <a:t>Requirements</a:t>
            </a:r>
          </a:p>
          <a:p>
            <a:pPr lvl="1"/>
            <a:r>
              <a:rPr lang="en-US"/>
              <a:t>Fields: Name – Email – Password</a:t>
            </a:r>
          </a:p>
          <a:p>
            <a:pPr lvl="1"/>
            <a:r>
              <a:rPr lang="en-US" b="0"/>
              <a:t>All fields required</a:t>
            </a:r>
          </a:p>
          <a:p>
            <a:pPr lvl="1"/>
            <a:r>
              <a:rPr lang="en-US"/>
              <a:t>Email must contain @ and .</a:t>
            </a:r>
          </a:p>
          <a:p>
            <a:pPr lvl="1"/>
            <a:r>
              <a:rPr lang="en-US"/>
              <a:t>Password ≥ 6 characters</a:t>
            </a:r>
          </a:p>
          <a:p>
            <a:r>
              <a:rPr lang="en-US" b="0"/>
              <a:t>Submit Behavior</a:t>
            </a:r>
          </a:p>
          <a:p>
            <a:pPr lvl="1"/>
            <a:r>
              <a:rPr lang="en-US" b="0"/>
              <a:t>validate() → show inline errors</a:t>
            </a:r>
          </a:p>
          <a:p>
            <a:pPr lvl="1"/>
            <a:r>
              <a:rPr lang="en-US" b="0"/>
              <a:t>If valid → show SnackBar: “Signup successful”</a:t>
            </a:r>
          </a:p>
          <a:p>
            <a:pPr marL="456712" lvl="1" indent="0">
              <a:buNone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9C442-5870-975B-E400-C628E0B42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724251"/>
            <a:ext cx="2917371" cy="4625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7468-B109-8BB1-918E-B7B80A76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34" y="214313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Basic Signup Form -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42BCF-225D-661D-FCEA-3388D8BB7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371" y="1032816"/>
            <a:ext cx="4527587" cy="57489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F1B936-6559-E12A-04DC-921474462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42" y="1497236"/>
            <a:ext cx="5965102" cy="4820144"/>
          </a:xfrm>
        </p:spPr>
        <p:txBody>
          <a:bodyPr/>
          <a:lstStyle/>
          <a:p>
            <a:r>
              <a:rPr lang="en-US" sz="2400"/>
              <a:t>Minimal signup screen structure</a:t>
            </a:r>
          </a:p>
          <a:p>
            <a:pPr lvl="1"/>
            <a:r>
              <a:rPr lang="en-US" sz="2400" b="0"/>
              <a:t>Scaffold</a:t>
            </a:r>
          </a:p>
          <a:p>
            <a:pPr lvl="1"/>
            <a:r>
              <a:rPr lang="en-US" sz="2400" b="0"/>
              <a:t>AppBar</a:t>
            </a:r>
          </a:p>
          <a:p>
            <a:pPr lvl="1"/>
            <a:r>
              <a:rPr lang="en-US" sz="2400" b="0"/>
              <a:t>Form with _formKey</a:t>
            </a:r>
          </a:p>
          <a:p>
            <a:pPr lvl="1"/>
            <a:r>
              <a:rPr lang="en-US" sz="2400" b="0"/>
              <a:t>TextFormFields for name, email, password</a:t>
            </a:r>
          </a:p>
          <a:p>
            <a:pPr lvl="1"/>
            <a:r>
              <a:rPr lang="en-US" sz="2400" b="0"/>
              <a:t>A submit button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61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DAE1-16E0-5E36-1177-0F5990DF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 Basic Signup Form - Built-in Validators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D117-6CCB-94C9-C577-E21292D2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602" y="1687817"/>
            <a:ext cx="5301141" cy="4404959"/>
          </a:xfrm>
        </p:spPr>
        <p:txBody>
          <a:bodyPr/>
          <a:lstStyle/>
          <a:p>
            <a:r>
              <a:rPr lang="en-US"/>
              <a:t>The validator function</a:t>
            </a:r>
          </a:p>
          <a:p>
            <a:pPr lvl="1"/>
            <a:r>
              <a:rPr lang="en-US" b="0"/>
              <a:t>Signature: String? Function(String? value)</a:t>
            </a:r>
          </a:p>
          <a:p>
            <a:pPr lvl="1"/>
            <a:r>
              <a:rPr lang="en-US" b="0"/>
              <a:t>If valid → return null</a:t>
            </a:r>
          </a:p>
          <a:p>
            <a:pPr lvl="1"/>
            <a:r>
              <a:rPr lang="en-US" b="0"/>
              <a:t>If invalid → return error message (String)</a:t>
            </a:r>
          </a:p>
          <a:p>
            <a:r>
              <a:rPr lang="en-US"/>
              <a:t>Common checks:</a:t>
            </a:r>
          </a:p>
          <a:p>
            <a:pPr lvl="1"/>
            <a:r>
              <a:rPr lang="en-US" b="0"/>
              <a:t>Required field (not empty)</a:t>
            </a:r>
          </a:p>
          <a:p>
            <a:pPr lvl="1"/>
            <a:r>
              <a:rPr lang="en-US" b="0"/>
              <a:t>Email format (contains @ and .)</a:t>
            </a:r>
          </a:p>
          <a:p>
            <a:pPr lvl="1"/>
            <a:r>
              <a:rPr lang="en-US" b="0"/>
              <a:t>Minimum length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CA175B-BA9C-22A9-A3FC-991FE7025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743" y="1753133"/>
            <a:ext cx="5199572" cy="34823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7419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Basic Signup Form - Submit Flow &amp; Button State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395B-4010-0F0F-99FC-5F0217B0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1696744"/>
            <a:ext cx="6234592" cy="4116227"/>
          </a:xfrm>
        </p:spPr>
        <p:txBody>
          <a:bodyPr/>
          <a:lstStyle/>
          <a:p>
            <a:r>
              <a:rPr lang="en-US" sz="2000"/>
              <a:t>Typical submit flow:</a:t>
            </a:r>
          </a:p>
          <a:p>
            <a:pPr lvl="1"/>
            <a:r>
              <a:rPr lang="en-US" sz="1800" b="0"/>
              <a:t>User taps Submit</a:t>
            </a:r>
          </a:p>
          <a:p>
            <a:pPr lvl="1"/>
            <a:r>
              <a:rPr lang="en-US" sz="1800" b="0"/>
              <a:t>Call </a:t>
            </a:r>
            <a:r>
              <a:rPr lang="en-US" b="0"/>
              <a:t>validate()</a:t>
            </a:r>
            <a:endParaRPr lang="en-US" sz="1800" b="0"/>
          </a:p>
          <a:p>
            <a:pPr lvl="1"/>
            <a:r>
              <a:rPr lang="en-US" sz="1800" b="0"/>
              <a:t>If valid → call </a:t>
            </a:r>
            <a:r>
              <a:rPr lang="en-US" b="0"/>
              <a:t>save()</a:t>
            </a:r>
            <a:r>
              <a:rPr lang="en-US" sz="1800" b="0"/>
              <a:t> and submit data</a:t>
            </a:r>
          </a:p>
          <a:p>
            <a:pPr lvl="1"/>
            <a:r>
              <a:rPr lang="en-US" sz="1800" b="0"/>
              <a:t>If invalid → show inline errors </a:t>
            </a:r>
          </a:p>
          <a:p>
            <a:pPr lvl="1"/>
            <a:r>
              <a:rPr lang="en-US" sz="1800"/>
              <a:t>Display error when form invalid</a:t>
            </a:r>
          </a:p>
          <a:p>
            <a:pPr lvl="1"/>
            <a:r>
              <a:rPr lang="en-US" sz="1800"/>
              <a:t>Display SnackBar when valid</a:t>
            </a:r>
          </a:p>
          <a:p>
            <a:pPr lvl="1"/>
            <a:r>
              <a:rPr lang="en-US" sz="1800"/>
              <a:t>“FormState standard” Submit logic</a:t>
            </a:r>
          </a:p>
          <a:p>
            <a:r>
              <a:rPr lang="en-US" sz="2000"/>
              <a:t>(Simple submit flow → validate → save → SnackBar</a:t>
            </a:r>
            <a:endParaRPr lang="en-US" sz="2000" b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1680A-F8D3-00FB-FA5C-41A331BA2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763" y="1810396"/>
            <a:ext cx="4552950" cy="32188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95D9-A437-44AC-FCC9-94E04CB4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4786-6AC0-ECC0-118C-33FCB1E3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2 - Validation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E6E7-0C04-750F-C832-87BA4BA9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602" y="1687817"/>
            <a:ext cx="5551512" cy="4404959"/>
          </a:xfrm>
        </p:spPr>
        <p:txBody>
          <a:bodyPr/>
          <a:lstStyle/>
          <a:p>
            <a:r>
              <a:rPr lang="en-US" b="0"/>
              <a:t>Goal: Add strong password + confirm password logic.</a:t>
            </a:r>
          </a:p>
          <a:p>
            <a:r>
              <a:rPr lang="en-US" b="0"/>
              <a:t>Requirements:</a:t>
            </a:r>
          </a:p>
          <a:p>
            <a:pPr lvl="1"/>
            <a:r>
              <a:rPr lang="en-US" b="0"/>
              <a:t>Password ≥ 8 chars &amp; includes number</a:t>
            </a:r>
          </a:p>
          <a:p>
            <a:pPr lvl="1"/>
            <a:r>
              <a:rPr lang="en-US" b="0"/>
              <a:t>Confirm password must match</a:t>
            </a:r>
          </a:p>
          <a:p>
            <a:pPr lvl="1"/>
            <a:r>
              <a:rPr lang="en-US" b="0"/>
              <a:t>Use helper validator functions</a:t>
            </a:r>
          </a:p>
          <a:p>
            <a:pPr lvl="1"/>
            <a:r>
              <a:rPr lang="en-US"/>
              <a:t>Enable AutovalidateMode.onUserInteraction</a:t>
            </a:r>
            <a:endParaRPr lang="en-US" b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C84FD-CCA0-C3D1-646C-ED8136BD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584" y="1514085"/>
            <a:ext cx="2990916" cy="483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2150" y="327379"/>
            <a:ext cx="8229600" cy="818503"/>
          </a:xfrm>
        </p:spPr>
        <p:txBody>
          <a:bodyPr/>
          <a:lstStyle/>
          <a:p>
            <a:pPr algn="ctr">
              <a:defRPr sz="1800"/>
            </a:pPr>
            <a:r>
              <a:rPr lang="en-US" sz="3200"/>
              <a:t>Demo 2 - Custom Validation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682C-BEE4-D001-B8E3-F6A41946F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402" y="1524001"/>
            <a:ext cx="8133442" cy="2856089"/>
          </a:xfrm>
        </p:spPr>
        <p:txBody>
          <a:bodyPr/>
          <a:lstStyle/>
          <a:p>
            <a:pPr marL="456712" lvl="1" indent="0">
              <a:buNone/>
            </a:pPr>
            <a:endParaRPr lang="en-US" b="0"/>
          </a:p>
          <a:p>
            <a:pPr lvl="1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13D80-A0A3-EB70-8F07-A13456918A85}"/>
              </a:ext>
            </a:extLst>
          </p:cNvPr>
          <p:cNvSpPr txBox="1">
            <a:spLocks/>
          </p:cNvSpPr>
          <p:nvPr/>
        </p:nvSpPr>
        <p:spPr bwMode="auto">
          <a:xfrm>
            <a:off x="654756" y="1328057"/>
            <a:ext cx="350358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Use custom validators for:</a:t>
            </a:r>
          </a:p>
          <a:p>
            <a:pPr marL="742940" lvl="1" indent="-342900">
              <a:buFont typeface="Courier New" panose="02070309020205020404" pitchFamily="49" charset="0"/>
              <a:buChar char="o"/>
            </a:pPr>
            <a:r>
              <a:rPr lang="en-US" b="0"/>
              <a:t>Business rules (username rules, banned words)</a:t>
            </a:r>
          </a:p>
          <a:p>
            <a:pPr marL="742940" lvl="1" indent="-342900">
              <a:buFont typeface="Courier New" panose="02070309020205020404" pitchFamily="49" charset="0"/>
              <a:buChar char="o"/>
            </a:pPr>
            <a:r>
              <a:rPr lang="en-US" b="0"/>
              <a:t>Password strength (length, numbers, symbols)</a:t>
            </a:r>
          </a:p>
          <a:p>
            <a:pPr marL="742940" lvl="1" indent="-342900">
              <a:buFont typeface="Courier New" panose="02070309020205020404" pitchFamily="49" charset="0"/>
              <a:buChar char="o"/>
            </a:pPr>
            <a:r>
              <a:rPr lang="en-US" b="0"/>
              <a:t>More advanced email checks (pattern / regex)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6C42A-6723-7D05-AA54-7E40E8945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030" y="1524001"/>
            <a:ext cx="6537905" cy="4281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174604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Demo 2 - Confirm Password Logic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088" y="1378514"/>
            <a:ext cx="5241068" cy="4771915"/>
          </a:xfrm>
        </p:spPr>
        <p:txBody>
          <a:bodyPr/>
          <a:lstStyle/>
          <a:p>
            <a:r>
              <a:rPr lang="en-US" sz="2000" b="0"/>
              <a:t>Why confirm password?</a:t>
            </a:r>
          </a:p>
          <a:p>
            <a:pPr lvl="1"/>
            <a:r>
              <a:rPr lang="en-US" b="0"/>
              <a:t>Prevent typos</a:t>
            </a:r>
          </a:p>
          <a:p>
            <a:pPr lvl="1"/>
            <a:r>
              <a:rPr lang="en-US" b="0"/>
              <a:t>Improve user confidence</a:t>
            </a:r>
          </a:p>
          <a:p>
            <a:r>
              <a:rPr lang="en-US" sz="2000" b="0"/>
              <a:t>Pattern:</a:t>
            </a:r>
          </a:p>
          <a:p>
            <a:pPr lvl="1"/>
            <a:r>
              <a:rPr lang="en-US" b="0"/>
              <a:t>Keep _password in state</a:t>
            </a:r>
          </a:p>
          <a:p>
            <a:pPr lvl="1"/>
            <a:r>
              <a:rPr lang="en-US" b="0"/>
              <a:t>Compare confirm password with _password</a:t>
            </a:r>
          </a:p>
          <a:p>
            <a:pPr lvl="1"/>
            <a:r>
              <a:rPr lang="en-US" b="0"/>
              <a:t>Show error if they differ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31967-F12E-9002-329B-AF3A09045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270" y="1378514"/>
            <a:ext cx="6143544" cy="39772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2 - AutovalidateMode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722" y="1609727"/>
            <a:ext cx="5195107" cy="4881384"/>
          </a:xfrm>
        </p:spPr>
        <p:txBody>
          <a:bodyPr/>
          <a:lstStyle/>
          <a:p>
            <a:r>
              <a:rPr lang="en-US" sz="2400"/>
              <a:t>Autovalidate modes:</a:t>
            </a:r>
          </a:p>
          <a:p>
            <a:pPr lvl="1"/>
            <a:r>
              <a:rPr lang="en-US" sz="2200" b="0"/>
              <a:t>AutovalidateMode.disabled</a:t>
            </a:r>
          </a:p>
          <a:p>
            <a:pPr lvl="1"/>
            <a:r>
              <a:rPr lang="en-US" sz="2200" b="0"/>
              <a:t>AutovalidateMode.always</a:t>
            </a:r>
          </a:p>
          <a:p>
            <a:pPr lvl="1"/>
            <a:r>
              <a:rPr lang="en-US" sz="2200" b="0"/>
              <a:t>AutovalidateMode.onUserInteraction (recommended)</a:t>
            </a:r>
          </a:p>
          <a:p>
            <a:r>
              <a:rPr lang="en-US"/>
              <a:t>UX trade-offs:</a:t>
            </a:r>
          </a:p>
          <a:p>
            <a:pPr lvl="1"/>
            <a:r>
              <a:rPr lang="en-US"/>
              <a:t>Too early → annoying (red errors everywhere from the start)</a:t>
            </a:r>
          </a:p>
          <a:p>
            <a:pPr lvl="1"/>
            <a:r>
              <a:rPr lang="en-US"/>
              <a:t>Too late → confusing (errors appear only after submit)</a:t>
            </a:r>
            <a:endParaRPr lang="en-US" b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FF0642-2E69-8803-836A-E807EDB67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829" y="1734942"/>
            <a:ext cx="5607942" cy="25894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66A7-0F27-D5E2-F9B1-3AA9C118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35C8-F41C-6841-3EFE-DADEBFD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Error Messages &amp; 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53BB-EFE2-D15F-5FCB-9DECDC5B6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876" y="1600730"/>
            <a:ext cx="9798467" cy="4749270"/>
          </a:xfrm>
        </p:spPr>
        <p:txBody>
          <a:bodyPr/>
          <a:lstStyle/>
          <a:p>
            <a:pPr>
              <a:defRPr sz="1800"/>
            </a:pPr>
            <a:r>
              <a:rPr lang="en-US" sz="2400" b="0"/>
              <a:t>Good error messages:</a:t>
            </a:r>
          </a:p>
          <a:p>
            <a:pPr lvl="1">
              <a:defRPr sz="1800"/>
            </a:pPr>
            <a:r>
              <a:rPr lang="en-US" sz="2200" b="0"/>
              <a:t>Short and clear</a:t>
            </a:r>
          </a:p>
          <a:p>
            <a:pPr lvl="1">
              <a:defRPr sz="1800"/>
            </a:pPr>
            <a:r>
              <a:rPr lang="en-US" sz="2200" b="0"/>
              <a:t>Specific to the field</a:t>
            </a:r>
          </a:p>
          <a:p>
            <a:pPr lvl="1">
              <a:defRPr sz="1800"/>
            </a:pPr>
            <a:r>
              <a:rPr lang="en-US" sz="2200" b="0"/>
              <a:t>Polite and helpful</a:t>
            </a:r>
          </a:p>
          <a:p>
            <a:pPr>
              <a:defRPr sz="1800"/>
            </a:pPr>
            <a:r>
              <a:rPr lang="en-US" sz="2400" b="0"/>
              <a:t>Examples:</a:t>
            </a:r>
          </a:p>
          <a:p>
            <a:pPr lvl="1">
              <a:defRPr sz="1800"/>
            </a:pPr>
            <a:r>
              <a:rPr lang="en-US" sz="2200" b="0"/>
              <a:t>“Enter a valid email”</a:t>
            </a:r>
          </a:p>
          <a:p>
            <a:pPr lvl="1">
              <a:defRPr sz="1800"/>
            </a:pPr>
            <a:r>
              <a:rPr lang="en-US" sz="2200" b="0"/>
              <a:t>“Password must be at least 8 characters”</a:t>
            </a:r>
          </a:p>
          <a:p>
            <a:pPr lvl="1">
              <a:defRPr sz="1800"/>
            </a:pPr>
            <a:r>
              <a:rPr lang="en-US" sz="2200" b="0"/>
              <a:t>“ERROR_400_INVALID_FIELD”</a:t>
            </a:r>
          </a:p>
          <a:p>
            <a:pPr>
              <a:defRPr sz="1800"/>
            </a:pPr>
            <a:endParaRPr lang="en-US" sz="22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E3DDA-D0C4-3F2E-5894-80B4A0F393CC}"/>
              </a:ext>
            </a:extLst>
          </p:cNvPr>
          <p:cNvSpPr txBox="1"/>
          <p:nvPr/>
        </p:nvSpPr>
        <p:spPr>
          <a:xfrm>
            <a:off x="6096000" y="2164807"/>
            <a:ext cx="441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Show error under the field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Avoid blaming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Highlight only relevant fields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17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E5BF-974F-D2C9-0D1A-CCEEC74A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3 - Focus &amp; Keyboard 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C2F4A-FBD3-1F1A-A413-2560B22F3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70" y="1600731"/>
            <a:ext cx="5682074" cy="4525699"/>
          </a:xfrm>
        </p:spPr>
        <p:txBody>
          <a:bodyPr/>
          <a:lstStyle/>
          <a:p>
            <a:r>
              <a:rPr lang="en-US"/>
              <a:t>Goal: </a:t>
            </a:r>
          </a:p>
          <a:p>
            <a:pPr lvl="1"/>
            <a:r>
              <a:rPr lang="en-US" b="0"/>
              <a:t>Improve input experience on mobile.</a:t>
            </a:r>
          </a:p>
          <a:p>
            <a:r>
              <a:rPr lang="en-US"/>
              <a:t>Requirements:</a:t>
            </a:r>
          </a:p>
          <a:p>
            <a:pPr lvl="1"/>
            <a:r>
              <a:rPr lang="en-US" b="0"/>
              <a:t>Create FocusNode for each field</a:t>
            </a:r>
          </a:p>
          <a:p>
            <a:pPr lvl="1"/>
            <a:r>
              <a:rPr lang="en-US" b="0"/>
              <a:t>Use Next/Done with textInputAction</a:t>
            </a:r>
          </a:p>
          <a:p>
            <a:pPr lvl="1"/>
            <a:r>
              <a:rPr lang="en-US" b="0"/>
              <a:t>Move focus using onFieldSubmitted</a:t>
            </a:r>
          </a:p>
          <a:p>
            <a:pPr lvl="1"/>
            <a:r>
              <a:rPr lang="en-US" b="0"/>
              <a:t>Dismiss keyboard using GestureDetector</a:t>
            </a:r>
          </a:p>
          <a:p>
            <a:pPr lvl="1"/>
            <a:r>
              <a:rPr lang="en-US" b="0"/>
              <a:t>Wrap form with ListView to prevent overflow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30094-1481-129A-AE04-D87089B33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854" y="1500046"/>
            <a:ext cx="3127375" cy="462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54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Demo 3 - Managing Focus &amp; Keyboard Content 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687" y="1408969"/>
            <a:ext cx="5548713" cy="5353226"/>
          </a:xfrm>
        </p:spPr>
        <p:txBody>
          <a:bodyPr/>
          <a:lstStyle/>
          <a:p>
            <a:r>
              <a:rPr lang="en-US" b="0"/>
              <a:t>Why manage focus?</a:t>
            </a:r>
          </a:p>
          <a:p>
            <a:pPr lvl="1"/>
            <a:r>
              <a:rPr lang="en-US" b="0"/>
              <a:t>Mobile keyboards can hide fields</a:t>
            </a:r>
          </a:p>
          <a:p>
            <a:pPr lvl="1"/>
            <a:r>
              <a:rPr lang="en-US" b="0"/>
              <a:t>Users expect Next/Done to work smoothly</a:t>
            </a:r>
          </a:p>
          <a:p>
            <a:r>
              <a:rPr lang="en-US" b="0"/>
              <a:t>Tools:</a:t>
            </a:r>
          </a:p>
          <a:p>
            <a:pPr lvl="1"/>
            <a:r>
              <a:rPr lang="en-US" b="0"/>
              <a:t>FocusNode</a:t>
            </a:r>
          </a:p>
          <a:p>
            <a:pPr lvl="1"/>
            <a:r>
              <a:rPr lang="en-US" b="0"/>
              <a:t>textInputAction</a:t>
            </a:r>
          </a:p>
          <a:p>
            <a:pPr lvl="1"/>
            <a:r>
              <a:rPr lang="en-US" b="0"/>
              <a:t>onFieldSubmitted</a:t>
            </a:r>
          </a:p>
          <a:p>
            <a:pPr lvl="1"/>
            <a:r>
              <a:rPr lang="en-US" b="0"/>
              <a:t>FocusScope.of(context).requestFocus(nextFocusNode)</a:t>
            </a:r>
            <a:r>
              <a:rPr lang="en-US" sz="1800" b="0"/>
              <a:t>	</a:t>
            </a:r>
          </a:p>
          <a:p>
            <a:endParaRPr lang="en-US" sz="2000" b="0"/>
          </a:p>
          <a:p>
            <a:endParaRPr lang="en-US" sz="2000" b="0"/>
          </a:p>
          <a:p>
            <a:pPr marL="0" indent="0">
              <a:buNone/>
              <a:defRPr sz="1800"/>
            </a:pPr>
            <a:endParaRPr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5AE6E-32CE-A908-1524-E80AB228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00" y="1555725"/>
            <a:ext cx="4533900" cy="3981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3 - Dismissing the Keyboard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829331"/>
            <a:ext cx="5635171" cy="4125156"/>
          </a:xfrm>
        </p:spPr>
        <p:txBody>
          <a:bodyPr/>
          <a:lstStyle/>
          <a:p>
            <a:r>
              <a:rPr lang="en-US" sz="2400" b="0"/>
              <a:t>Common UX requirement:</a:t>
            </a:r>
          </a:p>
          <a:p>
            <a:pPr lvl="1"/>
            <a:r>
              <a:rPr lang="en-US" sz="2200" b="0"/>
              <a:t>Tap outside the form → keyboard hides</a:t>
            </a:r>
          </a:p>
          <a:p>
            <a:pPr lvl="1"/>
            <a:r>
              <a:rPr lang="en-US" sz="2200" b="0"/>
              <a:t>Pattern: Wrap with GestureDetector</a:t>
            </a:r>
          </a:p>
          <a:p>
            <a:r>
              <a:rPr lang="en-US" sz="2000" b="0"/>
              <a:t>Also: </a:t>
            </a:r>
          </a:p>
          <a:p>
            <a:pPr lvl="1"/>
            <a:r>
              <a:rPr lang="en-US" sz="2200"/>
              <a:t>Wrap form in ListView or SingleChildScrollView to avoid overflow.</a:t>
            </a:r>
            <a:endParaRPr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9DC1A-4741-634A-2CD4-76D7819E3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339" y="1970844"/>
            <a:ext cx="4981575" cy="26555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Form Layout Patterns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769" y="1326503"/>
            <a:ext cx="7086795" cy="48481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/>
              <a:t>Common layouts:</a:t>
            </a:r>
          </a:p>
          <a:p>
            <a:pPr lvl="1">
              <a:lnSpc>
                <a:spcPct val="150000"/>
              </a:lnSpc>
            </a:pPr>
            <a:r>
              <a:rPr lang="en-US" b="0"/>
              <a:t>Single-page scrollable form</a:t>
            </a:r>
          </a:p>
          <a:p>
            <a:pPr lvl="1">
              <a:lnSpc>
                <a:spcPct val="150000"/>
              </a:lnSpc>
            </a:pPr>
            <a:r>
              <a:rPr lang="en-US" b="0"/>
              <a:t>Grouped sections (e.g. Personal Info / Account Info)</a:t>
            </a:r>
          </a:p>
          <a:p>
            <a:pPr lvl="1">
              <a:lnSpc>
                <a:spcPct val="150000"/>
              </a:lnSpc>
            </a:pPr>
            <a:r>
              <a:rPr lang="en-US" b="0"/>
              <a:t>Multi-step wizard (optional, conceptual)</a:t>
            </a:r>
          </a:p>
          <a:p>
            <a:pPr>
              <a:lnSpc>
                <a:spcPct val="150000"/>
              </a:lnSpc>
            </a:pPr>
            <a:r>
              <a:rPr lang="en-US" sz="2400"/>
              <a:t>Avoid:</a:t>
            </a:r>
          </a:p>
          <a:p>
            <a:pPr lvl="1">
              <a:lnSpc>
                <a:spcPct val="150000"/>
              </a:lnSpc>
            </a:pPr>
            <a:r>
              <a:rPr lang="en-US" b="0"/>
              <a:t>Too many fields on screen without grouping</a:t>
            </a:r>
          </a:p>
          <a:p>
            <a:pPr lvl="1">
              <a:lnSpc>
                <a:spcPct val="150000"/>
              </a:lnSpc>
            </a:pPr>
            <a:r>
              <a:rPr lang="en-US" b="0"/>
              <a:t>Keyboard covering the submit button</a:t>
            </a:r>
          </a:p>
          <a:p>
            <a:pPr lvl="1">
              <a:lnSpc>
                <a:spcPct val="150000"/>
              </a:lnSpc>
            </a:pPr>
            <a:r>
              <a:rPr lang="en-US" b="0"/>
              <a:t>Fixed height containers that don’t scroll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8C6C-474F-DD13-BF4F-D55CEA51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4 - Async Email Check (Optional)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B8FE2A-FAD4-9F6D-0813-759569A04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73" y="1601262"/>
            <a:ext cx="5491843" cy="4525699"/>
          </a:xfrm>
        </p:spPr>
        <p:txBody>
          <a:bodyPr/>
          <a:lstStyle/>
          <a:p>
            <a:r>
              <a:rPr lang="en-US"/>
              <a:t>Goal: </a:t>
            </a:r>
          </a:p>
          <a:p>
            <a:pPr lvl="1"/>
            <a:r>
              <a:rPr lang="en-US" b="0"/>
              <a:t>Simulate server-side validation before account creation.</a:t>
            </a:r>
          </a:p>
          <a:p>
            <a:r>
              <a:rPr lang="en-US"/>
              <a:t>Requirements</a:t>
            </a:r>
          </a:p>
          <a:p>
            <a:pPr lvl="1"/>
            <a:r>
              <a:rPr lang="en-US" b="0"/>
              <a:t>Validate form locally</a:t>
            </a:r>
          </a:p>
          <a:p>
            <a:pPr lvl="1"/>
            <a:r>
              <a:rPr lang="en-US" b="0"/>
              <a:t>Show loading state during async check</a:t>
            </a:r>
          </a:p>
          <a:p>
            <a:pPr lvl="1"/>
            <a:r>
              <a:rPr lang="en-US" b="0"/>
              <a:t>Delay 2s: Future.delayed()</a:t>
            </a:r>
          </a:p>
          <a:p>
            <a:pPr lvl="1"/>
            <a:r>
              <a:rPr lang="en-US" b="0"/>
              <a:t>If email starts with “taken” → show error: “Email already taken”</a:t>
            </a:r>
          </a:p>
          <a:p>
            <a:pPr lvl="1"/>
            <a:r>
              <a:rPr lang="en-US" b="0"/>
              <a:t>Disable Submit button during check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92B2D5-DFA3-657A-E8BF-EA598531C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284" y="1637826"/>
            <a:ext cx="2909659" cy="471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75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2A2B-6C09-A5D6-D1FF-553B2DFA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9876-EF44-F6C9-FE6B-520DBBAB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Async Email Check (Optional)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CB5053-96EF-8590-9D90-8A67E92F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30" y="1513645"/>
            <a:ext cx="5491843" cy="452569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Why async validation?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/>
              <a:t>Check if email/username already exists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/>
              <a:t>Validate codes or coupons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/>
              <a:t>Confirm availability (e.g. booking slot)</a:t>
            </a:r>
          </a:p>
          <a:p>
            <a:endParaRPr lang="en-US"/>
          </a:p>
          <a:p>
            <a:r>
              <a:rPr lang="en-US"/>
              <a:t>Pattern (simplified): </a:t>
            </a:r>
            <a:endParaRPr lang="en-US" b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7E65DC-0EBE-FA8D-39D0-EA5B01335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473" y="1741075"/>
            <a:ext cx="5470970" cy="43330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61302207-1E4D-CCA9-1DFE-6AF14DC7537B}"/>
              </a:ext>
            </a:extLst>
          </p:cNvPr>
          <p:cNvSpPr/>
          <p:nvPr/>
        </p:nvSpPr>
        <p:spPr>
          <a:xfrm>
            <a:off x="4158343" y="3745728"/>
            <a:ext cx="936171" cy="5334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46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8EC8-EC93-4EC1-B6A6-507F0430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7EB5-A6C5-5B87-44B6-5F066B7A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From Form to Backend (Suggested Content)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5B6E9C-78B7-8EF0-067F-A9BB5B03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513645"/>
            <a:ext cx="9784906" cy="452569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What happens after validation?</a:t>
            </a:r>
          </a:p>
          <a:p>
            <a:r>
              <a:rPr lang="en-US" b="0"/>
              <a:t>User fills the form</a:t>
            </a:r>
          </a:p>
          <a:p>
            <a:r>
              <a:rPr lang="en-US" b="0"/>
              <a:t>Local validation checks (Module 7)</a:t>
            </a:r>
          </a:p>
          <a:p>
            <a:r>
              <a:rPr lang="en-US" b="0"/>
              <a:t>Send data via API (Module 8)</a:t>
            </a:r>
          </a:p>
          <a:p>
            <a:r>
              <a:rPr lang="en-US" b="0"/>
              <a:t>Server performs deeper checks</a:t>
            </a:r>
          </a:p>
          <a:p>
            <a:r>
              <a:rPr lang="en-US" b="0"/>
              <a:t>Server returns success/error</a:t>
            </a:r>
          </a:p>
          <a:p>
            <a:r>
              <a:rPr lang="en-US" b="0"/>
              <a:t>UI updates accordingly</a:t>
            </a:r>
          </a:p>
          <a:p>
            <a:pPr marL="0" indent="0">
              <a:buNone/>
            </a:pPr>
            <a:endParaRPr lang="en-US" b="0"/>
          </a:p>
          <a:p>
            <a:pPr marL="0" indent="0" algn="ctr">
              <a:buNone/>
            </a:pPr>
            <a:r>
              <a:rPr lang="en-US"/>
              <a:t>UI Form → Validation → POST Request → Server → Response → UI Update</a:t>
            </a: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89222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FC63-9EBC-77CA-3E9E-AEE0D27E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Full Signup Demo (Combined)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7EB2-8B33-B823-2103-CA4C1BA37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396" y="1491874"/>
            <a:ext cx="4769354" cy="50282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Features combined:</a:t>
            </a:r>
          </a:p>
          <a:p>
            <a:r>
              <a:rPr lang="en-US" b="0"/>
              <a:t>Name, email, password, confirm password</a:t>
            </a:r>
          </a:p>
          <a:p>
            <a:r>
              <a:rPr lang="en-US" b="0"/>
              <a:t>Built-in + custom validation</a:t>
            </a:r>
          </a:p>
          <a:p>
            <a:r>
              <a:rPr lang="en-US" b="0"/>
              <a:t>Autovalidate on user interaction</a:t>
            </a:r>
          </a:p>
          <a:p>
            <a:r>
              <a:rPr lang="en-US" b="0"/>
              <a:t>Focus management (Next/Done)</a:t>
            </a:r>
          </a:p>
          <a:p>
            <a:r>
              <a:rPr lang="en-US" b="0"/>
              <a:t>Show/hide password</a:t>
            </a:r>
          </a:p>
          <a:p>
            <a:r>
              <a:rPr lang="en-US" b="0"/>
              <a:t>Async email check with loading button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7D39F-70E7-9656-7979-3F9D93D58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482" y="1643743"/>
            <a:ext cx="2990840" cy="48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14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F57C0-3C4F-C66A-131B-7F97F157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275D-BACE-2D16-AC98-53E2B058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Lab Forms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A1F6D-1AA3-39AB-E2E0-C4228E3B5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395" y="1491874"/>
            <a:ext cx="9436999" cy="50282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Lab 7 – Forms &amp; Validation</a:t>
            </a:r>
          </a:p>
          <a:p>
            <a:pPr lvl="1"/>
            <a:r>
              <a:rPr lang="en-US" b="0"/>
              <a:t>Lab 7.1 – Basic registration form</a:t>
            </a:r>
          </a:p>
          <a:p>
            <a:pPr lvl="1"/>
            <a:r>
              <a:rPr lang="en-US" b="0"/>
              <a:t>Lab 7.2 – Validation rules &amp; password strength</a:t>
            </a:r>
          </a:p>
          <a:p>
            <a:pPr lvl="1"/>
            <a:r>
              <a:rPr lang="en-US" b="0"/>
              <a:t>Lab 7.3 – Focus &amp; keyboard management</a:t>
            </a:r>
          </a:p>
          <a:p>
            <a:pPr lvl="1"/>
            <a:r>
              <a:rPr lang="en-US" b="0"/>
              <a:t>Lab 7.4 – Optional async email check</a:t>
            </a:r>
          </a:p>
          <a:p>
            <a:r>
              <a:rPr lang="en-US"/>
              <a:t>You will:</a:t>
            </a:r>
          </a:p>
          <a:p>
            <a:pPr lvl="1"/>
            <a:r>
              <a:rPr lang="en-US" b="0"/>
              <a:t>Implement the signup form step by step</a:t>
            </a:r>
          </a:p>
          <a:p>
            <a:pPr lvl="1"/>
            <a:r>
              <a:rPr lang="en-US" b="0"/>
              <a:t>Run it on DartPad and on emulator/device</a:t>
            </a:r>
          </a:p>
          <a:p>
            <a:pPr lvl="1"/>
            <a:r>
              <a:rPr lang="en-US" b="0"/>
              <a:t>Capture screenshots and submit your code</a:t>
            </a:r>
          </a:p>
        </p:txBody>
      </p:sp>
    </p:spTree>
    <p:extLst>
      <p:ext uri="{BB962C8B-B14F-4D97-AF65-F5344CB8AC3E}">
        <p14:creationId xmlns:p14="http://schemas.microsoft.com/office/powerpoint/2010/main" val="4281376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4F37-1B9C-2421-DDB6-C6AA320C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F06-E657-9371-C4DA-7F147F6B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82C1-55BA-F0EB-6E98-573CB14D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242" y="1458817"/>
            <a:ext cx="9745516" cy="462280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In this module, you learned how to:</a:t>
            </a:r>
          </a:p>
          <a:p>
            <a:pPr>
              <a:lnSpc>
                <a:spcPct val="150000"/>
              </a:lnSpc>
            </a:pPr>
            <a:r>
              <a:rPr lang="en-US" b="0"/>
              <a:t>Build forms using Form and TextFormField</a:t>
            </a:r>
          </a:p>
          <a:p>
            <a:pPr>
              <a:lnSpc>
                <a:spcPct val="150000"/>
              </a:lnSpc>
            </a:pPr>
            <a:r>
              <a:rPr lang="en-US" b="0"/>
              <a:t>Use FormState to validate, save, and reset data</a:t>
            </a:r>
          </a:p>
          <a:p>
            <a:pPr>
              <a:lnSpc>
                <a:spcPct val="150000"/>
              </a:lnSpc>
            </a:pPr>
            <a:r>
              <a:rPr lang="en-US" b="0"/>
              <a:t>Implement required fields and custom validation rules</a:t>
            </a:r>
          </a:p>
          <a:p>
            <a:pPr>
              <a:lnSpc>
                <a:spcPct val="150000"/>
              </a:lnSpc>
            </a:pPr>
            <a:r>
              <a:rPr lang="en-US" b="0"/>
              <a:t>Manage focus and keyboard interactions on mobile</a:t>
            </a:r>
          </a:p>
          <a:p>
            <a:pPr>
              <a:lnSpc>
                <a:spcPct val="150000"/>
              </a:lnSpc>
            </a:pPr>
            <a:r>
              <a:rPr lang="en-US" b="0"/>
              <a:t>Show clear error messages and success feedback</a:t>
            </a:r>
          </a:p>
          <a:p>
            <a:pPr>
              <a:lnSpc>
                <a:spcPct val="150000"/>
              </a:lnSpc>
            </a:pPr>
            <a:r>
              <a:rPr lang="en-US" b="0"/>
              <a:t>Combine everything into a complete signup form</a:t>
            </a:r>
          </a:p>
          <a:p>
            <a:pPr>
              <a:lnSpc>
                <a:spcPct val="150000"/>
              </a:lnSpc>
            </a:pP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96034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0489" y="1600731"/>
            <a:ext cx="10351651" cy="45256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000" b="0"/>
              <a:t>Mastering Flutter 2025 – Ch.</a:t>
            </a:r>
            <a:r>
              <a:rPr lang="en-US" sz="2000" b="0"/>
              <a:t>4, 14</a:t>
            </a:r>
            <a:endParaRPr sz="2000" b="0"/>
          </a:p>
          <a:p>
            <a:pPr>
              <a:lnSpc>
                <a:spcPct val="150000"/>
              </a:lnSpc>
              <a:defRPr sz="1800"/>
            </a:pPr>
            <a:r>
              <a:rPr sz="2000" b="0"/>
              <a:t>docs.flutter.dev</a:t>
            </a:r>
            <a:endParaRPr lang="en-US" sz="2000" b="0"/>
          </a:p>
          <a:p>
            <a:pPr>
              <a:lnSpc>
                <a:spcPct val="150000"/>
              </a:lnSpc>
              <a:defRPr sz="1800"/>
            </a:pPr>
            <a:r>
              <a:rPr lang="en-US" sz="2000">
                <a:hlinkClick r:id="rId3"/>
              </a:rPr>
              <a:t>https://dartpad.dev</a:t>
            </a:r>
            <a:endParaRPr lang="en-US" sz="200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5497</TotalTime>
  <Words>3361</Words>
  <Application>Microsoft Office PowerPoint</Application>
  <PresentationFormat>Widescreen</PresentationFormat>
  <Paragraphs>589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Courier New</vt:lpstr>
      <vt:lpstr>Myriad Pro</vt:lpstr>
      <vt:lpstr>Tahoma</vt:lpstr>
      <vt:lpstr>Times New Roman</vt:lpstr>
      <vt:lpstr>Theme1</vt:lpstr>
      <vt:lpstr>Module 7 - Forms and Validation User Input • Validation • UX • Async Checks</vt:lpstr>
      <vt:lpstr>Contents</vt:lpstr>
      <vt:lpstr>Why Forms Matter</vt:lpstr>
      <vt:lpstr>Input Widgets Overview</vt:lpstr>
      <vt:lpstr>Form &amp; FormState</vt:lpstr>
      <vt:lpstr>Demo 1- Basic Signup Form</vt:lpstr>
      <vt:lpstr>Basic Signup Form - Structure</vt:lpstr>
      <vt:lpstr> Basic Signup Form - Built-in Validators</vt:lpstr>
      <vt:lpstr>Basic Signup Form - Submit Flow &amp; Button State</vt:lpstr>
      <vt:lpstr>Demo 2 - Validation Rules</vt:lpstr>
      <vt:lpstr>Demo 2 - Custom Validation Rules</vt:lpstr>
      <vt:lpstr>Demo 2 - Confirm Password Logic</vt:lpstr>
      <vt:lpstr>Demo 2 - AutovalidateMode</vt:lpstr>
      <vt:lpstr>Error Messages &amp; UX</vt:lpstr>
      <vt:lpstr>Demo 3 - Focus &amp; Keyboard UX</vt:lpstr>
      <vt:lpstr>Demo 3 - Managing Focus &amp; Keyboard Content </vt:lpstr>
      <vt:lpstr>Demo 3 - Dismissing the Keyboard</vt:lpstr>
      <vt:lpstr>Form Layout Patterns</vt:lpstr>
      <vt:lpstr>Demo 4 - Async Email Check (Optional)</vt:lpstr>
      <vt:lpstr>Async Email Check (Optional)</vt:lpstr>
      <vt:lpstr>From Form to Backend (Suggested Content)</vt:lpstr>
      <vt:lpstr>Full Signup Demo (Combined)</vt:lpstr>
      <vt:lpstr>Lab Forms &amp; Validation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26</cp:revision>
  <dcterms:created xsi:type="dcterms:W3CDTF">2013-01-27T09:14:16Z</dcterms:created>
  <dcterms:modified xsi:type="dcterms:W3CDTF">2025-12-11T06:24:06Z</dcterms:modified>
  <cp:category/>
</cp:coreProperties>
</file>