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6"/>
  </p:notesMasterIdLst>
  <p:sldIdLst>
    <p:sldId id="276" r:id="rId2"/>
    <p:sldId id="275" r:id="rId3"/>
    <p:sldId id="257" r:id="rId4"/>
    <p:sldId id="306" r:id="rId5"/>
    <p:sldId id="258" r:id="rId6"/>
    <p:sldId id="259" r:id="rId7"/>
    <p:sldId id="260" r:id="rId8"/>
    <p:sldId id="307" r:id="rId9"/>
    <p:sldId id="308" r:id="rId10"/>
    <p:sldId id="309" r:id="rId11"/>
    <p:sldId id="310" r:id="rId12"/>
    <p:sldId id="311" r:id="rId13"/>
    <p:sldId id="280" r:id="rId14"/>
    <p:sldId id="261" r:id="rId15"/>
    <p:sldId id="263" r:id="rId16"/>
    <p:sldId id="300" r:id="rId17"/>
    <p:sldId id="264" r:id="rId18"/>
    <p:sldId id="281" r:id="rId19"/>
    <p:sldId id="265" r:id="rId20"/>
    <p:sldId id="266" r:id="rId21"/>
    <p:sldId id="267" r:id="rId22"/>
    <p:sldId id="277" r:id="rId23"/>
    <p:sldId id="301" r:id="rId24"/>
    <p:sldId id="312" r:id="rId25"/>
    <p:sldId id="313" r:id="rId26"/>
    <p:sldId id="314" r:id="rId27"/>
    <p:sldId id="315" r:id="rId28"/>
    <p:sldId id="318" r:id="rId29"/>
    <p:sldId id="319" r:id="rId30"/>
    <p:sldId id="317" r:id="rId31"/>
    <p:sldId id="321" r:id="rId32"/>
    <p:sldId id="320" r:id="rId33"/>
    <p:sldId id="290" r:id="rId34"/>
    <p:sldId id="274" r:id="rId35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84387" autoAdjust="0"/>
  </p:normalViewPr>
  <p:slideViewPr>
    <p:cSldViewPr snapToGrid="0" snapToObjects="1">
      <p:cViewPr varScale="1">
        <p:scale>
          <a:sx n="70" d="100"/>
          <a:sy n="70" d="100"/>
        </p:scale>
        <p:origin x="1152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12553-EA1B-4B29-ADCC-3A47A68A6AD6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56F68-4D1E-40C7-852D-6D05FEA8C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80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this module unlocks real-world app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37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/>
              <a:t>Give examples: order history, payment info → requires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94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F10F5-E92A-BB56-693C-B253FB7B7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7D1E7-DF7F-48E1-0CBE-99DADBF69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49D2F-1628-FA49-FE3A-5E4DA01A7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Mention that this is the exact sequence used by REST APIs.</a:t>
            </a:r>
            <a:endParaRPr lang="en-US" sz="1200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B3F1D-A5C1-8CA0-65AD-91B43C5C5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92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Token ≠ password, so App doesn't secure password.</a:t>
            </a:r>
          </a:p>
          <a:p>
            <a:r>
              <a:rPr lang="en-US"/>
              <a:t>Access Token is shortened to reduce exposure risk.</a:t>
            </a:r>
          </a:p>
          <a:p>
            <a:r>
              <a:rPr lang="en-US"/>
              <a:t>Refresh Token has strong permissions → must be stored securely (Secure Storage).</a:t>
            </a:r>
          </a:p>
          <a:p>
            <a:r>
              <a:rPr lang="en-US"/>
              <a:t>Explain to students that Flutter doesn't need to "understand the token" — just store the token and send it in the header: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8575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“JWTs must not store passwords. Only identity claims.”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33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Mention UI spacing, padding, and consistent layout.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7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23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slide replaces the http.post version, but the flow is identical to real backend authentication.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76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61A93-6704-3F5F-86CC-6F8D97523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9A452-9361-B1BE-0304-01F8AA94C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D05AF-2DAB-806D-A870-946430937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E2D4B-AC35-8FA2-792D-EC0A613C6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762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865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FF74-C224-F4B2-2EA6-1AE653EA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26A65-8182-2794-392A-255DA5F08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E4B41-2557-E72F-00D0-137E248D9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Instructor Notes</a:t>
            </a:r>
          </a:p>
          <a:p>
            <a:r>
              <a:rPr lang="en-US"/>
              <a:t>Always begin with the Mock Version to ensure everyone gets the correct login behavior.</a:t>
            </a:r>
          </a:p>
          <a:p>
            <a:r>
              <a:rPr lang="en-US"/>
              <a:t>The Real API Version should be introduced after students understand the authentication flow.</a:t>
            </a:r>
          </a:p>
          <a:p>
            <a:r>
              <a:rPr lang="en-US"/>
              <a:t>This structure mirrors real-world development:</a:t>
            </a:r>
          </a:p>
          <a:p>
            <a:r>
              <a:rPr lang="en-US"/>
              <a:t>→ build UI → mock logic → integrate real backend → refine.</a:t>
            </a:r>
          </a:p>
          <a:p>
            <a:r>
              <a:rPr lang="en-US"/>
              <a:t>The same AuthService structure is preserved in both versions to reinforce clean architecture concepts.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B6CE6-2868-382C-44C2-5219BE641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26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/>
              <a:t>Why This Demo?</a:t>
            </a:r>
          </a:p>
          <a:p>
            <a:r>
              <a:rPr lang="en-US" b="0"/>
              <a:t>Demonstrates real API integration in Flutter</a:t>
            </a:r>
          </a:p>
          <a:p>
            <a:r>
              <a:rPr lang="en-US" b="0"/>
              <a:t>Mimics real production login flows</a:t>
            </a:r>
          </a:p>
          <a:p>
            <a:r>
              <a:rPr lang="en-US" b="0"/>
              <a:t>Shows how to handle networking, exceptions, and asynchronous programming</a:t>
            </a:r>
          </a:p>
          <a:p>
            <a:r>
              <a:rPr lang="en-US" b="0"/>
              <a:t>Prepares students for backend-connected mobile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18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/>
              <a:t>Emphasize: Demo 10.2 is not a new app, it is a natural extension of Demo 10.1. Same architecture, new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2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Highlight the idea of one shared service class for all auth-related methods (login, signup, logout, etc.).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883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good validation reduces load on backend and improves 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6880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/>
              <a:t>Explain clearly which parts are reused from Demo 10.1 (Form pattern, error handling, service class) and which parts are new (extra fields + cross-field validation + signup() API).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4616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session management is required for every real mobile application that needs login.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468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where Demo 10.3 extends Demo 10.1 and 10.2.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289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Demo 10.3 will implement the full auto-login + logout behaviors.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762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Highlight that Demo 10.3 is the first “full authentication cycle” demo</a:t>
            </a:r>
          </a:p>
          <a:p>
            <a:r>
              <a:rPr lang="en-US"/>
              <a:t>Files:</a:t>
            </a:r>
          </a:p>
          <a:p>
            <a:r>
              <a:rPr lang="en-US"/>
              <a:t>splash_screen.dart</a:t>
            </a:r>
          </a:p>
          <a:p>
            <a:r>
              <a:rPr lang="en-US"/>
              <a:t>auth_service.dart (extended with token persistence)</a:t>
            </a:r>
          </a:p>
          <a:p>
            <a:r>
              <a:rPr lang="en-US"/>
              <a:t>login_screen.dart (writes token)</a:t>
            </a:r>
          </a:p>
          <a:p>
            <a:r>
              <a:rPr lang="en-US"/>
              <a:t>home_screen.dart (logout clears token)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270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68814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FAE39-B09B-78B6-8A27-644FB76A4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80167-93E5-E6AE-25B3-FE45D559F7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D1FD2-BFE6-CCCB-0B0F-2A86108824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09DBF-E072-347E-6891-DF0DD2AA5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2731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F6B0F-B7B7-0F9C-C736-646230FA0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7BA77-DD3B-17BC-CEEF-3C5D4E2B57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0F008F-941F-DBC6-688F-000D626B38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03435-CF58-F1FC-111A-751942E34A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901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E70FB-48B6-D55C-DB24-474AE8924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208CC5-BA7C-B608-A303-4D488438A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D8AA8C-C35D-F379-82BB-1E4884899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Full detailed setup is in </a:t>
            </a:r>
            <a:r>
              <a:rPr lang="en-US" i="1"/>
              <a:t>Firebase Setup Guide</a:t>
            </a:r>
            <a:r>
              <a:rPr lang="en-US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FCE92-19E2-F73C-08EE-5465C66B49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914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FFE81-7F73-55E8-126A-28AAADE1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EE36F2-4558-D665-A876-DB1755E018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1AFE6-2CF9-948D-A1E5-752C7958D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200"/>
              <a:t>Outcome:</a:t>
            </a:r>
          </a:p>
          <a:p>
            <a:r>
              <a:rPr lang="en-US" sz="1200" b="0"/>
              <a:t>Students can integrate Google login into any Flutter app.</a:t>
            </a:r>
            <a:endParaRPr lang="en-US" sz="1100" b="0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02BB8-4059-6906-1927-0EB80790D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70253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47A03-E18E-BBF9-8069-BA4A3D01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6FADA-FEE6-65EB-07F1-042B69E57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8AF1F8-4660-CEF1-F1F2-02B235DDA0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DF50F-FC83-1D9C-815D-8E89270D03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9289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F38E4-0F1D-F462-B861-28356DB40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090E3-8DA7-31B4-E0DA-ACB70957C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2AA12F-4B6C-3F51-6A27-256D992C3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B7F2F-85F5-931E-198E-57DF4E61D3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078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97A40-6378-49F1-EE25-5DF7575D3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86980C-A3C9-3530-41CF-A7B5DD66A2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EA7836-639A-C711-10A7-27CE4544D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Focus in this demo: Local Notification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2C5677-E01C-E8CE-84FC-87BCAD2B6C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5922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24E47-ACB8-EE5D-03BD-C836A5AE6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DAC573-0436-56F4-0FF7-AFE6C8151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B96D1-70DE-2472-D98E-979344D1D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B764D2-79A9-3C8F-5B60-A057116C2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4374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8D146-FD5C-3E2F-EC3D-2E1AF18C5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085017-F423-A80C-25AD-3BDB81F762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F8958-E9FC-E5EB-10B0-46301906AC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the real app, we call NotificationService.show() right after login() succeeds.</a:t>
            </a:r>
          </a:p>
          <a:p>
            <a:r>
              <a:rPr lang="en-US"/>
              <a:t>Here, we trigger it manually with a button for demonstration.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44EF1-68F9-893F-07FC-BB4D7471FC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0241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28C52-406A-B8AC-FA37-2452D2BAA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6D4088-7677-52CA-B84C-C3EA4BA59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B22FD7-1E07-6662-FE84-E7DDC991C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Highlights how real apps design secure, maintainable, and user-friendly authentication flows.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F46FA-2ABA-3D6C-7395-117A74586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52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347DE-B4D6-9270-6366-E375AB403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EC3A7-7616-997E-68E2-64EC6F2FE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F2479-A35C-BA47-0B21-843F07F39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E1A2A-C6DF-E673-821D-84F85C65B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980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0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2747700"/>
            <a:ext cx="8890000" cy="411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19503" y="3175003"/>
            <a:ext cx="8394700" cy="1827699"/>
          </a:xfrm>
        </p:spPr>
        <p:txBody>
          <a:bodyPr>
            <a:normAutofit/>
          </a:bodyPr>
          <a:lstStyle>
            <a:lvl1pPr>
              <a:defRPr sz="3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19500" y="5143500"/>
            <a:ext cx="8407400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5A98E9B9-51CE-7965-7FC7-26222AD75D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45" y="82867"/>
            <a:ext cx="2946463" cy="913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25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508000"/>
            <a:ext cx="10972800" cy="81850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050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46478040-2A45-5DBB-5162-0D253E94A8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81" y="53583"/>
            <a:ext cx="1785175" cy="553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80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9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/>
            </a:lvl2pPr>
            <a:lvl3pPr>
              <a:spcBef>
                <a:spcPts val="450"/>
              </a:spcBef>
              <a:spcAft>
                <a:spcPts val="450"/>
              </a:spcAft>
              <a:defRPr sz="1800"/>
            </a:lvl3pPr>
            <a:lvl4pPr>
              <a:spcBef>
                <a:spcPts val="450"/>
              </a:spcBef>
              <a:spcAft>
                <a:spcPts val="450"/>
              </a:spcAft>
              <a:defRPr sz="1600"/>
            </a:lvl4pPr>
            <a:lvl5pPr>
              <a:spcBef>
                <a:spcPts val="450"/>
              </a:spcBef>
              <a:spcAft>
                <a:spcPts val="450"/>
              </a:spcAft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8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6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2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0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1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869" y="275167"/>
            <a:ext cx="1097227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869" y="1600731"/>
            <a:ext cx="10972271" cy="452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5500" y="6350001"/>
            <a:ext cx="1143000" cy="317500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14-Dec-25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003" y="6350002"/>
            <a:ext cx="3860271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9003" y="6350003"/>
            <a:ext cx="596636" cy="310887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3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demo@test.com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pub.dev/packages/flutter_local_notifications" TargetMode="External"/><Relationship Id="rId3" Type="http://schemas.openxmlformats.org/officeDocument/2006/relationships/hyperlink" Target="https://docs.flutter.dev/" TargetMode="External"/><Relationship Id="rId7" Type="http://schemas.openxmlformats.org/officeDocument/2006/relationships/hyperlink" Target="https://dummyjson.com/docs/auth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.dev/packages/path_provider" TargetMode="External"/><Relationship Id="rId5" Type="http://schemas.openxmlformats.org/officeDocument/2006/relationships/hyperlink" Target="https://pub.dev/packages/shared_preferences" TargetMode="External"/><Relationship Id="rId4" Type="http://schemas.openxmlformats.org/officeDocument/2006/relationships/hyperlink" Target="https://firebase.google.com/docs/aut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B5F414-5C89-8AF0-685A-A02E88216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7714" y="3797574"/>
            <a:ext cx="7620000" cy="18276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/>
              <a:t>Module 10 - Authentication, Session Management &amp; Notifications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75710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04CB-0E6B-D061-0990-333BDC65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38667"/>
            <a:ext cx="8229600" cy="818503"/>
          </a:xfrm>
        </p:spPr>
        <p:txBody>
          <a:bodyPr/>
          <a:lstStyle/>
          <a:p>
            <a:pPr algn="ctr"/>
            <a:r>
              <a:rPr lang="en-US" sz="3200"/>
              <a:t>Learning Objectives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415528-BB05-41C8-4355-5639D534B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267" y="1012892"/>
            <a:ext cx="7832681" cy="5531497"/>
          </a:xfrm>
        </p:spPr>
        <p:txBody>
          <a:bodyPr/>
          <a:lstStyle/>
          <a:p>
            <a:pPr marL="0" indent="0"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/>
              <a:t>Content: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Backend authentication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Token-based login (JWT)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Sessions &amp; secure token storage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Login + Signup flow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Auto-login &amp; logout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Protected routes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Introduction to Firebase Auth</a:t>
            </a:r>
          </a:p>
          <a:p>
            <a:pPr defTabSz="914400" ea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b="0"/>
              <a:t>Notifications after authentication (Local Notification)</a:t>
            </a:r>
          </a:p>
        </p:txBody>
      </p:sp>
    </p:spTree>
    <p:extLst>
      <p:ext uri="{BB962C8B-B14F-4D97-AF65-F5344CB8AC3E}">
        <p14:creationId xmlns:p14="http://schemas.microsoft.com/office/powerpoint/2010/main" val="85103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/>
              <a:t>What is Authentication?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796" y="1322243"/>
            <a:ext cx="5673203" cy="5451090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/>
              <a:t>Authentication = verifying who the user is.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/>
              <a:t>Used to:</a:t>
            </a:r>
          </a:p>
          <a:p>
            <a:pPr marL="68579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Protect user accounts</a:t>
            </a:r>
          </a:p>
          <a:p>
            <a:pPr marL="68579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Allow personalized features</a:t>
            </a:r>
          </a:p>
          <a:p>
            <a:pPr marL="68579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Control access to private data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/>
              <a:t>Authentication vs Authorization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/>
              <a:t>Authentication → Who are you?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/>
              <a:t>Authorization → What are you allowed to do?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000"/>
              <a:t>Use real examples: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0"/>
              <a:t>Shopee, GrabFood, Tiki.</a:t>
            </a:r>
            <a:endParaRPr lang="en-US" sz="2400" b="0"/>
          </a:p>
        </p:txBody>
      </p:sp>
      <p:pic>
        <p:nvPicPr>
          <p:cNvPr id="2050" name="Picture 2" descr="Part 1: Who Are You? — Understanding Authentication in Simple Terms | by  Dinesh Arney | Medium">
            <a:extLst>
              <a:ext uri="{FF2B5EF4-FFF2-40B4-BE49-F238E27FC236}">
                <a16:creationId xmlns:a16="http://schemas.microsoft.com/office/drawing/2014/main" id="{56BCDC1E-254C-AB97-33D0-A00CADA84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0017" y="1740429"/>
            <a:ext cx="5240090" cy="4366859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70CC8-CEDD-6810-0941-1D7204093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B884-E386-4703-7412-7956A18AF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/>
              <a:t>Authentication Flow (High-Level)</a:t>
            </a:r>
            <a:endParaRPr lang="en-US" sz="3200" b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0779C7-7D21-21A0-0104-B1BD26D21574}"/>
              </a:ext>
            </a:extLst>
          </p:cNvPr>
          <p:cNvSpPr txBox="1">
            <a:spLocks/>
          </p:cNvSpPr>
          <p:nvPr/>
        </p:nvSpPr>
        <p:spPr bwMode="auto">
          <a:xfrm>
            <a:off x="750174" y="1457709"/>
            <a:ext cx="5345826" cy="5027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0"/>
              <a:t>User enters credentials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0"/>
              <a:t>App sends API request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0"/>
              <a:t>Backend verifies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0"/>
              <a:t>Backend returns token (JWT)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0"/>
              <a:t>App stores token locally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0"/>
              <a:t>App uses token on every API request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000" b="0"/>
              <a:t>Session maintained until logout or token expires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3D5CDC-6A14-37C6-CB5F-CB6CCA1B1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563" y="1457709"/>
            <a:ext cx="3534481" cy="46176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5911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869" y="275167"/>
            <a:ext cx="10972271" cy="11430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sz="3200"/>
              <a:t>Token-Based Authentication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AE4DE74-A905-F202-9DD4-B5075E585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869" y="1519255"/>
            <a:ext cx="4402668" cy="5063578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What is a token?</a:t>
            </a:r>
          </a:p>
          <a:p>
            <a:r>
              <a:rPr lang="en-US" sz="2000" b="0"/>
              <a:t>A token is a short-lived digital credential generated by the server to prove a user’s identity.</a:t>
            </a:r>
          </a:p>
          <a:p>
            <a:pPr marL="0" indent="0">
              <a:buNone/>
            </a:pPr>
            <a:r>
              <a:rPr lang="en-US" sz="2000"/>
              <a:t>Benefits</a:t>
            </a:r>
          </a:p>
          <a:p>
            <a:r>
              <a:rPr lang="en-US" sz="2000" b="0"/>
              <a:t>Stateless</a:t>
            </a:r>
          </a:p>
          <a:p>
            <a:r>
              <a:rPr lang="en-US" sz="2000" b="0"/>
              <a:t>Secure</a:t>
            </a:r>
          </a:p>
          <a:p>
            <a:r>
              <a:rPr lang="en-US" sz="2000" b="0"/>
              <a:t>Works across mobile/web</a:t>
            </a:r>
          </a:p>
          <a:p>
            <a:r>
              <a:rPr lang="en-US" sz="2000" b="0"/>
              <a:t>Fast</a:t>
            </a:r>
          </a:p>
          <a:p>
            <a:pPr marL="0" indent="0">
              <a:buNone/>
            </a:pPr>
            <a:r>
              <a:rPr lang="en-US" sz="2000"/>
              <a:t>Types</a:t>
            </a:r>
          </a:p>
          <a:p>
            <a:r>
              <a:rPr lang="en-US" sz="2000" b="0"/>
              <a:t>Access tokens</a:t>
            </a:r>
          </a:p>
          <a:p>
            <a:r>
              <a:rPr lang="en-US" sz="2000" b="0"/>
              <a:t>Refresh tokens</a:t>
            </a:r>
            <a:endParaRPr lang="en-US" b="0"/>
          </a:p>
        </p:txBody>
      </p:sp>
      <p:pic>
        <p:nvPicPr>
          <p:cNvPr id="1026" name="Picture 2" descr="JWT - Refresh Token and Access Token | Coding Shuttle">
            <a:extLst>
              <a:ext uri="{FF2B5EF4-FFF2-40B4-BE49-F238E27FC236}">
                <a16:creationId xmlns:a16="http://schemas.microsoft.com/office/drawing/2014/main" id="{E02D3069-404C-2908-F10E-E9C64C63E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1911" y="1899022"/>
            <a:ext cx="6664149" cy="2484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7B1321-5441-5F31-341B-E766ECF4B259}"/>
              </a:ext>
            </a:extLst>
          </p:cNvPr>
          <p:cNvSpPr txBox="1"/>
          <p:nvPr/>
        </p:nvSpPr>
        <p:spPr>
          <a:xfrm>
            <a:off x="5271911" y="4643103"/>
            <a:ext cx="6445956" cy="170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User sends username/password → server checks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Server returns Access Token + Refresh Token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sends Access Token in each request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When Access Token expires → send Refresh Token to get new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CB8DE6-2C09-6CCE-D1BC-6A45D8F9C034}"/>
              </a:ext>
            </a:extLst>
          </p:cNvPr>
          <p:cNvSpPr txBox="1"/>
          <p:nvPr/>
        </p:nvSpPr>
        <p:spPr>
          <a:xfrm>
            <a:off x="5113867" y="145434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Token Flow Diagram (Recommended)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869" y="275167"/>
            <a:ext cx="10972271" cy="1143000"/>
          </a:xfrm>
        </p:spPr>
        <p:txBody>
          <a:bodyPr wrap="square" anchor="ctr">
            <a:normAutofit/>
          </a:bodyPr>
          <a:lstStyle/>
          <a:p>
            <a:pPr algn="ctr"/>
            <a:r>
              <a:rPr lang="en-US" sz="3200"/>
              <a:t>JWT (JSON Web Token) Explained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 wrap="square" anchor="t">
            <a:normAutofit/>
          </a:bodyPr>
          <a:lstStyle/>
          <a:p>
            <a:r>
              <a:rPr lang="en-US" sz="2400"/>
              <a:t>Structure of a JWT:</a:t>
            </a:r>
          </a:p>
          <a:p>
            <a:pPr lvl="1"/>
            <a:r>
              <a:rPr lang="en-US" sz="2000" b="0"/>
              <a:t>Header (algorithm, type)</a:t>
            </a:r>
          </a:p>
          <a:p>
            <a:pPr lvl="1"/>
            <a:r>
              <a:rPr lang="en-US" sz="2000" b="0"/>
              <a:t>Payload (user ID, email, role)</a:t>
            </a:r>
          </a:p>
          <a:p>
            <a:pPr lvl="1"/>
            <a:r>
              <a:rPr lang="en-US" sz="2000" b="0"/>
              <a:t>Signature (verification)</a:t>
            </a:r>
          </a:p>
          <a:p>
            <a:r>
              <a:rPr lang="en-US" sz="2400"/>
              <a:t>Properties:</a:t>
            </a:r>
          </a:p>
          <a:p>
            <a:pPr lvl="1"/>
            <a:r>
              <a:rPr lang="en-US" sz="2000"/>
              <a:t>Base64 encoded</a:t>
            </a:r>
          </a:p>
          <a:p>
            <a:pPr lvl="1"/>
            <a:r>
              <a:rPr lang="en-US" sz="2000"/>
              <a:t>Signed (not encrypted)</a:t>
            </a:r>
          </a:p>
          <a:p>
            <a:pPr lvl="1"/>
            <a:r>
              <a:rPr lang="en-US" sz="2000"/>
              <a:t>Has expiry time</a:t>
            </a:r>
            <a:endParaRPr lang="en-US" sz="2000" b="0"/>
          </a:p>
          <a:p>
            <a:pPr marL="0" indent="0">
              <a:lnSpc>
                <a:spcPct val="150000"/>
              </a:lnSpc>
              <a:buNone/>
            </a:pPr>
            <a:endParaRPr lang="en-US" sz="1200"/>
          </a:p>
          <a:p>
            <a:pPr marL="0" indent="0">
              <a:lnSpc>
                <a:spcPct val="150000"/>
              </a:lnSpc>
              <a:buNone/>
            </a:pPr>
            <a:endParaRPr lang="en-US" sz="14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A892FB-09D0-9C0E-3C4F-BCF54099DB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9947" y="1600203"/>
            <a:ext cx="6945065" cy="34660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Login Screen UI Structure</a:t>
            </a:r>
            <a:endParaRPr sz="320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EA307E-67D3-8B2F-52BE-9FF886D7E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412" y="1473906"/>
            <a:ext cx="3654778" cy="4525963"/>
          </a:xfrm>
        </p:spPr>
        <p:txBody>
          <a:bodyPr wrap="square" anchor="t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/>
              <a:t>Components</a:t>
            </a:r>
          </a:p>
          <a:p>
            <a:pPr>
              <a:lnSpc>
                <a:spcPct val="120000"/>
              </a:lnSpc>
            </a:pPr>
            <a:r>
              <a:rPr lang="en-US" b="0"/>
              <a:t>Email TextField</a:t>
            </a:r>
          </a:p>
          <a:p>
            <a:pPr>
              <a:lnSpc>
                <a:spcPct val="120000"/>
              </a:lnSpc>
            </a:pPr>
            <a:r>
              <a:rPr lang="en-US" b="0"/>
              <a:t>Password TextField</a:t>
            </a:r>
          </a:p>
          <a:p>
            <a:pPr>
              <a:lnSpc>
                <a:spcPct val="120000"/>
              </a:lnSpc>
            </a:pPr>
            <a:r>
              <a:rPr lang="en-US" b="0"/>
              <a:t>Login Button</a:t>
            </a:r>
          </a:p>
          <a:p>
            <a:pPr>
              <a:lnSpc>
                <a:spcPct val="120000"/>
              </a:lnSpc>
            </a:pPr>
            <a:r>
              <a:rPr lang="en-US" b="0"/>
              <a:t>“Forgot Password?”</a:t>
            </a:r>
          </a:p>
          <a:p>
            <a:pPr>
              <a:lnSpc>
                <a:spcPct val="120000"/>
              </a:lnSpc>
            </a:pPr>
            <a:r>
              <a:rPr lang="en-US" b="0"/>
              <a:t>Navigation to Signup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/>
              <a:t>Good Practices</a:t>
            </a:r>
          </a:p>
          <a:p>
            <a:pPr>
              <a:lnSpc>
                <a:spcPct val="120000"/>
              </a:lnSpc>
            </a:pPr>
            <a:r>
              <a:rPr lang="en-US" b="0"/>
              <a:t>Inline field validation</a:t>
            </a:r>
          </a:p>
          <a:p>
            <a:pPr>
              <a:lnSpc>
                <a:spcPct val="120000"/>
              </a:lnSpc>
            </a:pPr>
            <a:r>
              <a:rPr lang="en-US" b="0"/>
              <a:t>Disable button while loading</a:t>
            </a:r>
          </a:p>
          <a:p>
            <a:pPr>
              <a:lnSpc>
                <a:spcPct val="120000"/>
              </a:lnSpc>
            </a:pPr>
            <a:r>
              <a:rPr lang="en-US" b="0"/>
              <a:t>Hide/show password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90B3C8-298F-7285-FEFF-9BB840250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152" y="1294920"/>
            <a:ext cx="2981660" cy="50004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6BDDB6-4165-85C8-EE91-84F31278E2E7}"/>
              </a:ext>
            </a:extLst>
          </p:cNvPr>
          <p:cNvSpPr txBox="1"/>
          <p:nvPr/>
        </p:nvSpPr>
        <p:spPr>
          <a:xfrm>
            <a:off x="8211271" y="1338556"/>
            <a:ext cx="3396529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Designing Login Form</a:t>
            </a:r>
          </a:p>
          <a:p>
            <a:pPr>
              <a:lnSpc>
                <a:spcPct val="15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Email Field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Type: email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Validator: regex or basic contains '@'</a:t>
            </a:r>
          </a:p>
          <a:p>
            <a:pPr>
              <a:lnSpc>
                <a:spcPct val="15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Password Field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obscureText: true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Min 6 characters</a:t>
            </a:r>
          </a:p>
          <a:p>
            <a:pPr>
              <a:lnSpc>
                <a:spcPct val="150000"/>
              </a:lnSpc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Buttons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Primary submit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Secondary link to signup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A2CED-89DB-4BFD-3863-D96B71690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Demo 10.1 - Backend Login Flow (Overview)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321D38-5B04-BC46-1489-CF651C5DD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3" y="1600731"/>
            <a:ext cx="5170311" cy="4916504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Objectives</a:t>
            </a:r>
          </a:p>
          <a:p>
            <a:r>
              <a:rPr lang="en-US" sz="1800" b="0"/>
              <a:t>Build a login screen with email + password fields</a:t>
            </a:r>
          </a:p>
          <a:p>
            <a:r>
              <a:rPr lang="en-US" sz="1800" b="0"/>
              <a:t>Validate inputs using Flutter Form</a:t>
            </a:r>
          </a:p>
          <a:p>
            <a:r>
              <a:rPr lang="en-US" sz="1800" b="0"/>
              <a:t>Simulate backend authentication</a:t>
            </a:r>
          </a:p>
          <a:p>
            <a:r>
              <a:rPr lang="en-US" sz="1800" b="0"/>
              <a:t>Receive &amp; store a mock token</a:t>
            </a:r>
          </a:p>
          <a:p>
            <a:r>
              <a:rPr lang="en-US" sz="1800" b="0"/>
              <a:t>Navigate to a protected screen</a:t>
            </a:r>
          </a:p>
          <a:p>
            <a:pPr marL="0" indent="0">
              <a:buNone/>
            </a:pPr>
            <a:r>
              <a:rPr lang="en-US" sz="2000"/>
              <a:t>Step-by-Step Flow</a:t>
            </a:r>
          </a:p>
          <a:p>
            <a:r>
              <a:rPr lang="en-US" sz="1800" b="0"/>
              <a:t>Step 1 — Build UI</a:t>
            </a:r>
          </a:p>
          <a:p>
            <a:r>
              <a:rPr lang="en-US" sz="1800" b="0"/>
              <a:t>Step 2 — Simulate backend request</a:t>
            </a:r>
          </a:p>
          <a:p>
            <a:r>
              <a:rPr lang="en-US" sz="1800" b="0"/>
              <a:t>Step 3 — Handle mock response</a:t>
            </a:r>
          </a:p>
          <a:p>
            <a:r>
              <a:rPr lang="en-US" sz="1800" b="0"/>
              <a:t>Step 4 — Navigate to protected screen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F164CE-BB73-F080-ADF7-2C511D963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334" y="1600730"/>
            <a:ext cx="2845962" cy="49165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4B7C61-BC88-0989-36C7-361AAFFFD9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8260" y="1583290"/>
            <a:ext cx="2719607" cy="495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499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7468-B109-8BB1-918E-B7B80A767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79" y="417513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Step 2 - Simulated Authentication Request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2F1B936-6559-E12A-04DC-921474462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043" y="1497235"/>
            <a:ext cx="5110979" cy="5197075"/>
          </a:xfrm>
        </p:spPr>
        <p:txBody>
          <a:bodyPr/>
          <a:lstStyle/>
          <a:p>
            <a:pPr marL="0" indent="0">
              <a:buNone/>
            </a:pPr>
            <a:r>
              <a:rPr lang="en-US" sz="2000" b="0"/>
              <a:t>Because public API services may fail or block emulators,</a:t>
            </a:r>
          </a:p>
          <a:p>
            <a:pPr marL="0" indent="0">
              <a:buNone/>
            </a:pPr>
            <a:r>
              <a:rPr lang="en-US" sz="2000"/>
              <a:t>Demo 10.1 uses a mock backend inside AuthService.</a:t>
            </a:r>
          </a:p>
          <a:p>
            <a:pPr marL="0" indent="0">
              <a:buNone/>
            </a:pPr>
            <a:r>
              <a:rPr lang="en-US" sz="2000"/>
              <a:t>What Happens Here?</a:t>
            </a:r>
          </a:p>
          <a:p>
            <a:r>
              <a:rPr lang="en-US" sz="2000" b="0"/>
              <a:t>The app pretends to send credentials to a server</a:t>
            </a:r>
          </a:p>
          <a:p>
            <a:r>
              <a:rPr lang="en-US" sz="2000" b="0"/>
              <a:t>Adds a 2-second delay to mimic real network latency</a:t>
            </a:r>
          </a:p>
          <a:p>
            <a:r>
              <a:rPr lang="en-US" sz="2000" b="0"/>
              <a:t>Checks if email/password match the demo account</a:t>
            </a:r>
          </a:p>
          <a:p>
            <a:r>
              <a:rPr lang="en-US" sz="2000" b="0"/>
              <a:t>Returns a mock JWT token when valid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B6ED10-2880-66CC-FF35-F638CF79B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022" y="2075621"/>
            <a:ext cx="6186311" cy="223784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059DB4-2C8E-4F31-778C-8F7FF7392413}"/>
              </a:ext>
            </a:extLst>
          </p:cNvPr>
          <p:cNvSpPr txBox="1"/>
          <p:nvPr/>
        </p:nvSpPr>
        <p:spPr>
          <a:xfrm>
            <a:off x="5667022" y="1563296"/>
            <a:ext cx="55541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</a:t>
            </a:r>
          </a:p>
        </p:txBody>
      </p:sp>
    </p:spTree>
    <p:extLst>
      <p:ext uri="{BB962C8B-B14F-4D97-AF65-F5344CB8AC3E}">
        <p14:creationId xmlns:p14="http://schemas.microsoft.com/office/powerpoint/2010/main" val="15858210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CC3D-CC73-7774-3B02-5B925500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D6E9-F984-5EEF-87B4-D9E6AD78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507" y="228541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Step 3 - Authentication Result Processing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EA5F8C-B3D2-1D7E-8805-13EBF7A6F197}"/>
              </a:ext>
            </a:extLst>
          </p:cNvPr>
          <p:cNvSpPr txBox="1"/>
          <p:nvPr/>
        </p:nvSpPr>
        <p:spPr>
          <a:xfrm>
            <a:off x="936978" y="1371952"/>
            <a:ext cx="4549422" cy="4307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If credentials are valid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Receive mock token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Save token inside AuthService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Prepare for navigation</a:t>
            </a:r>
          </a:p>
          <a:p>
            <a:pPr>
              <a:lnSpc>
                <a:spcPct val="200000"/>
              </a:lnSpc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If invalid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Return null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Show error Snackbar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86095-D8B3-66C7-5A6B-E105215F9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244" y="2426157"/>
            <a:ext cx="5638093" cy="26186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C99D6A-EC7D-C5D7-EAA8-DA1748DA440D}"/>
              </a:ext>
            </a:extLst>
          </p:cNvPr>
          <p:cNvSpPr txBox="1"/>
          <p:nvPr/>
        </p:nvSpPr>
        <p:spPr>
          <a:xfrm>
            <a:off x="5949244" y="170657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Code Snippet</a:t>
            </a:r>
          </a:p>
        </p:txBody>
      </p:sp>
    </p:spTree>
    <p:extLst>
      <p:ext uri="{BB962C8B-B14F-4D97-AF65-F5344CB8AC3E}">
        <p14:creationId xmlns:p14="http://schemas.microsoft.com/office/powerpoint/2010/main" val="50131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DDAE1-16E0-5E36-1177-0F5990DF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 Error Handling (Step 1 + Step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AD117-6CCB-94C9-C577-E21292D2D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672082"/>
            <a:ext cx="5675489" cy="4502940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Error &amp; Validation Handling</a:t>
            </a:r>
          </a:p>
          <a:p>
            <a:r>
              <a:rPr lang="en-US" sz="2000" b="0"/>
              <a:t>Client-side Validation (Step 1)</a:t>
            </a:r>
          </a:p>
          <a:p>
            <a:pPr marL="0" indent="0">
              <a:buNone/>
            </a:pPr>
            <a:r>
              <a:rPr lang="en-US" sz="2000">
                <a:highlight>
                  <a:srgbClr val="C0C0C0"/>
                </a:highlight>
              </a:rPr>
              <a:t>if (!_formKey.currentState!.validate()) return;</a:t>
            </a:r>
          </a:p>
          <a:p>
            <a:r>
              <a:rPr lang="en-US" sz="2000" b="0"/>
              <a:t>Common validation errors:</a:t>
            </a:r>
          </a:p>
          <a:p>
            <a:pPr lvl="1"/>
            <a:r>
              <a:rPr lang="en-US" b="0"/>
              <a:t>Empty email/password</a:t>
            </a:r>
          </a:p>
          <a:p>
            <a:pPr lvl="1"/>
            <a:r>
              <a:rPr lang="en-US" b="0"/>
              <a:t>Invalid email format</a:t>
            </a:r>
          </a:p>
          <a:p>
            <a:r>
              <a:rPr lang="en-US" b="0"/>
              <a:t>Authentication errors (Step 3)</a:t>
            </a:r>
          </a:p>
          <a:p>
            <a:pPr marL="400040" lvl="1" indent="0">
              <a:buNone/>
            </a:pPr>
            <a:r>
              <a:rPr lang="en-US" b="1"/>
              <a:t>if (token == null) {                            </a:t>
            </a:r>
          </a:p>
          <a:p>
            <a:pPr marL="400040" lvl="1" indent="0">
              <a:buNone/>
            </a:pPr>
            <a:r>
              <a:rPr lang="en-US" b="1"/>
              <a:t>   Snackbar("Invalid credentials");</a:t>
            </a:r>
          </a:p>
          <a:p>
            <a:pPr marL="400040" lvl="1" indent="0">
              <a:buNone/>
            </a:pPr>
            <a:r>
              <a:rPr lang="en-US" b="1"/>
              <a:t>}                                                      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29A1762-A3EE-017C-CB07-E71F7335D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991" y="1672082"/>
            <a:ext cx="3028950" cy="21145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116559-B20D-599A-6CDC-0CF928DD1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858" y="4132211"/>
            <a:ext cx="3000375" cy="21145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6573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795D9-A437-44AC-FCC9-94E04CB4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4786-6AC0-ECC0-118C-33FCB1E37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Mock API vs Real API in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9E6E7-0C04-750F-C832-87BA4BA9B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518484"/>
            <a:ext cx="5054600" cy="5085516"/>
          </a:xfrm>
        </p:spPr>
        <p:txBody>
          <a:bodyPr/>
          <a:lstStyle/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/>
              <a:t>Why Two Versions?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0"/>
              <a:t>In Demo 10.1, we use Mock Authentication to ensure that the demo works in all environments.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800" b="0"/>
              <a:t>The Real API version is required to prepare students for real backend integration.</a:t>
            </a:r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/>
              <a:t>When to Use Which Version?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000" b="0"/>
              <a:t>Mock API</a:t>
            </a:r>
          </a:p>
          <a:p>
            <a:pPr marL="685790" lvl="1" indent="-285750">
              <a:spcBef>
                <a:spcPts val="600"/>
              </a:spcBef>
              <a:spcAft>
                <a:spcPts val="0"/>
              </a:spcAft>
            </a:pPr>
            <a:r>
              <a:rPr lang="en-US" sz="1800" b="0"/>
              <a:t>Classroom demonstrations</a:t>
            </a:r>
          </a:p>
          <a:p>
            <a:pPr marL="685790" lvl="1" indent="-285750">
              <a:spcBef>
                <a:spcPts val="600"/>
              </a:spcBef>
              <a:spcAft>
                <a:spcPts val="0"/>
              </a:spcAft>
            </a:pPr>
            <a:r>
              <a:rPr lang="en-US" sz="1800" b="0"/>
              <a:t>Early-stage learning</a:t>
            </a:r>
          </a:p>
          <a:p>
            <a:pPr marL="685790" lvl="1" indent="-285750">
              <a:spcBef>
                <a:spcPts val="600"/>
              </a:spcBef>
              <a:spcAft>
                <a:spcPts val="0"/>
              </a:spcAft>
            </a:pPr>
            <a:r>
              <a:rPr lang="en-US" sz="1800" b="0"/>
              <a:t>When students use unstable devices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lang="en-US" sz="2000" b="0"/>
              <a:t>Real API</a:t>
            </a:r>
          </a:p>
          <a:p>
            <a:pPr marL="685790" lvl="1" indent="-285750">
              <a:spcBef>
                <a:spcPts val="600"/>
              </a:spcBef>
              <a:spcAft>
                <a:spcPts val="0"/>
              </a:spcAft>
            </a:pPr>
            <a:r>
              <a:rPr lang="en-US" sz="1800" b="0"/>
              <a:t>Assignments</a:t>
            </a:r>
          </a:p>
          <a:p>
            <a:pPr marL="685790" lvl="1" indent="-285750">
              <a:spcBef>
                <a:spcPts val="600"/>
              </a:spcBef>
              <a:spcAft>
                <a:spcPts val="0"/>
              </a:spcAft>
            </a:pPr>
            <a:r>
              <a:rPr lang="en-US" sz="1800" b="0"/>
              <a:t>Capstone projects</a:t>
            </a:r>
          </a:p>
          <a:p>
            <a:pPr marL="685790" lvl="1" indent="-285750">
              <a:spcBef>
                <a:spcPts val="600"/>
              </a:spcBef>
              <a:spcAft>
                <a:spcPts val="0"/>
              </a:spcAft>
            </a:pPr>
            <a:r>
              <a:rPr lang="en-US" sz="1800"/>
              <a:t>When the real HTTP request/response pattern</a:t>
            </a:r>
            <a:endParaRPr lang="en-US" sz="1800" b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8020627-2AD3-40D7-BBF5-3C3DE873E61D}"/>
              </a:ext>
            </a:extLst>
          </p:cNvPr>
          <p:cNvGraphicFramePr>
            <a:graphicFrameLocks noGrp="1"/>
          </p:cNvGraphicFramePr>
          <p:nvPr/>
        </p:nvGraphicFramePr>
        <p:xfrm>
          <a:off x="6096000" y="1950155"/>
          <a:ext cx="5816499" cy="394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833">
                  <a:extLst>
                    <a:ext uri="{9D8B030D-6E8A-4147-A177-3AD203B41FA5}">
                      <a16:colId xmlns:a16="http://schemas.microsoft.com/office/drawing/2014/main" val="3948216375"/>
                    </a:ext>
                  </a:extLst>
                </a:gridCol>
                <a:gridCol w="1938833">
                  <a:extLst>
                    <a:ext uri="{9D8B030D-6E8A-4147-A177-3AD203B41FA5}">
                      <a16:colId xmlns:a16="http://schemas.microsoft.com/office/drawing/2014/main" val="3902823368"/>
                    </a:ext>
                  </a:extLst>
                </a:gridCol>
                <a:gridCol w="1938833">
                  <a:extLst>
                    <a:ext uri="{9D8B030D-6E8A-4147-A177-3AD203B41FA5}">
                      <a16:colId xmlns:a16="http://schemas.microsoft.com/office/drawing/2014/main" val="37922205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Mock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 API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7142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Internet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✔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8418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Error-free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✔ Always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May fail (network, server, TLS, CORS)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5940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Works on all devices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✔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Not always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3164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Predictability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✔ 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70754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 for teaching basics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✔ 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✔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8526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 for real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✔ 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12918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A2AFA5D-4774-F771-E54A-BEBBE4F87B09}"/>
              </a:ext>
            </a:extLst>
          </p:cNvPr>
          <p:cNvSpPr txBox="1"/>
          <p:nvPr/>
        </p:nvSpPr>
        <p:spPr>
          <a:xfrm>
            <a:off x="6321778" y="1518484"/>
            <a:ext cx="55907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Comparison Table</a:t>
            </a:r>
          </a:p>
        </p:txBody>
      </p:sp>
    </p:spTree>
    <p:extLst>
      <p:ext uri="{BB962C8B-B14F-4D97-AF65-F5344CB8AC3E}">
        <p14:creationId xmlns:p14="http://schemas.microsoft.com/office/powerpoint/2010/main" val="519049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822D-57C8-17C7-48C4-DB31DA7E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F89A-9CCB-8B7E-3AA6-4619C2AD2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Demo1.1.R - Real API in Authentication</a:t>
            </a:r>
            <a:endParaRPr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F395B-4010-0F0F-99FC-5F0217B0B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170" y="1511007"/>
            <a:ext cx="5351796" cy="4842404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Description:</a:t>
            </a:r>
            <a:endParaRPr lang="en-US" sz="2000" b="0"/>
          </a:p>
          <a:p>
            <a:pPr marL="0" indent="0">
              <a:buNone/>
            </a:pPr>
            <a:r>
              <a:rPr lang="en-US" sz="2000" b="0"/>
              <a:t>A real authentication demo using the DummyJSON API. The app sends login credentials via HTTP, receives an access token, handles errors, and navigates to the Home screen on success.</a:t>
            </a:r>
          </a:p>
          <a:p>
            <a:pPr marL="0" indent="0">
              <a:buNone/>
            </a:pPr>
            <a:r>
              <a:rPr lang="en-US" sz="2000"/>
              <a:t>Key Steps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Build Login UI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Send Real API Request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Process Response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Navigate to Home Screen</a:t>
            </a:r>
          </a:p>
          <a:p>
            <a:pPr marL="0" indent="0">
              <a:buNone/>
            </a:pPr>
            <a:endParaRPr lang="en-US" sz="2000" b="0"/>
          </a:p>
          <a:p>
            <a:pPr marL="0" indent="0">
              <a:buNone/>
            </a:pPr>
            <a:endParaRPr lang="en-US" sz="2000" b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3D4150-7074-55A9-DC19-0BD8F2CD85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5035" y="1511006"/>
            <a:ext cx="2646823" cy="51501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E673067-02C5-3588-A7FF-6D461C52F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7690" y="1511007"/>
            <a:ext cx="2539140" cy="5150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9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2150" y="327379"/>
            <a:ext cx="8229600" cy="818503"/>
          </a:xfrm>
        </p:spPr>
        <p:txBody>
          <a:bodyPr/>
          <a:lstStyle/>
          <a:p>
            <a:pPr algn="ctr">
              <a:defRPr sz="1800"/>
            </a:pPr>
            <a:r>
              <a:rPr lang="en-US" sz="3200"/>
              <a:t>Signup Flow Overview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026347A-9AF8-3421-D548-0E969E30A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870" y="1145882"/>
            <a:ext cx="4199198" cy="5254917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Goal</a:t>
            </a:r>
          </a:p>
          <a:p>
            <a:r>
              <a:rPr lang="en-US" b="0"/>
              <a:t>Extend Demo 10.1 by adding a Signup screen</a:t>
            </a:r>
          </a:p>
          <a:p>
            <a:r>
              <a:rPr lang="en-US" b="0"/>
              <a:t>Reuse the same AuthService and error handling patterns</a:t>
            </a:r>
          </a:p>
          <a:p>
            <a:r>
              <a:rPr lang="en-US" b="0"/>
              <a:t>Allow users to create an account, then go back to Login</a:t>
            </a:r>
          </a:p>
        </p:txBody>
      </p:sp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56823862-9371-DC99-BABD-AAD903D4C5A6}"/>
              </a:ext>
            </a:extLst>
          </p:cNvPr>
          <p:cNvSpPr txBox="1">
            <a:spLocks/>
          </p:cNvSpPr>
          <p:nvPr/>
        </p:nvSpPr>
        <p:spPr bwMode="auto">
          <a:xfrm>
            <a:off x="5825336" y="1129008"/>
            <a:ext cx="5328085" cy="5254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Flow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User taps “Create account” on the Login screen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Navigate to SignupScreen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User fills in: name, email/username, password, confirm password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Form validates input (field + cross-field rules)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App calls AuthService.signup(...)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On success → show success message → navigate back to Login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0"/>
              <a:t>On failure → show API error (e.g., email already used)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571300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Signup API Integration (Reuse AuthService)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087" y="1378514"/>
            <a:ext cx="5416248" cy="4771915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Backend Integration Pattern</a:t>
            </a:r>
          </a:p>
          <a:p>
            <a:r>
              <a:rPr lang="en-US" sz="2000" b="0"/>
              <a:t>Login and Signup share the same service layer: AuthService</a:t>
            </a:r>
          </a:p>
          <a:p>
            <a:r>
              <a:rPr lang="en-US" sz="2000" b="0"/>
              <a:t>Add a new method:</a:t>
            </a:r>
          </a:p>
          <a:p>
            <a:pPr marL="0" indent="0">
              <a:buNone/>
            </a:pPr>
            <a:r>
              <a:rPr lang="en-US" sz="2000" b="0">
                <a:highlight>
                  <a:srgbClr val="C0C0C0"/>
                </a:highlight>
              </a:rPr>
              <a:t>Future&lt;void&gt; signup(SignupRequest dto);</a:t>
            </a:r>
          </a:p>
          <a:p>
            <a:pPr marL="0" indent="0">
              <a:buNone/>
            </a:pPr>
            <a:r>
              <a:rPr lang="en-US" sz="2000"/>
              <a:t>Relation to Demo 10.1</a:t>
            </a:r>
          </a:p>
          <a:p>
            <a:r>
              <a:rPr lang="en-US" sz="2000" b="0"/>
              <a:t>Demo 10.1 → AuthService.login(...)</a:t>
            </a:r>
          </a:p>
          <a:p>
            <a:r>
              <a:rPr lang="en-US" sz="2000" b="0"/>
              <a:t>Demo 10.2 → same AuthService, just add signup(...)</a:t>
            </a:r>
          </a:p>
          <a:p>
            <a:r>
              <a:rPr lang="en-US" sz="2000" b="0"/>
              <a:t>UI uses the same error handling + loading patterns as login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97DFBC5-037C-0C98-CE82-18884A63F750}"/>
              </a:ext>
            </a:extLst>
          </p:cNvPr>
          <p:cNvSpPr txBox="1">
            <a:spLocks/>
          </p:cNvSpPr>
          <p:nvPr/>
        </p:nvSpPr>
        <p:spPr bwMode="auto">
          <a:xfrm>
            <a:off x="6121400" y="1378513"/>
            <a:ext cx="5173335" cy="4771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Steps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/>
              <a:t>Build a DTO (data object) for signup: name, email/username, password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/>
              <a:t>Send POST /signup (or equivalent) to backend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/>
              <a:t>Parse JSON response</a:t>
            </a:r>
          </a:p>
          <a:p>
            <a:pPr marL="742940" lvl="1" indent="-342900">
              <a:buFont typeface="Arial" panose="020B0604020202020204" pitchFamily="34" charset="0"/>
              <a:buChar char="•"/>
            </a:pPr>
            <a:r>
              <a:rPr lang="en-US"/>
              <a:t>Handle common errors:</a:t>
            </a:r>
          </a:p>
          <a:p>
            <a:pPr marL="1599692" lvl="3" indent="-342900"/>
            <a:r>
              <a:rPr lang="en-US" i="0"/>
              <a:t>Duplicate email / username</a:t>
            </a:r>
          </a:p>
          <a:p>
            <a:pPr marL="1599692" lvl="3" indent="-342900"/>
            <a:r>
              <a:rPr lang="en-US" i="0"/>
              <a:t>Weak password</a:t>
            </a:r>
          </a:p>
          <a:p>
            <a:pPr marL="1599692" lvl="3" indent="-342900"/>
            <a:r>
              <a:rPr lang="en-US" i="0"/>
              <a:t>Invalid data</a:t>
            </a:r>
            <a:endParaRPr lang="en-US" b="0" i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E5BF-974F-D2C9-0D1A-CCEEC74A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Password Validation Rules (Used in Signup Form)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937161-2A1F-340F-B559-34A442862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869" y="1600731"/>
            <a:ext cx="5181331" cy="4525699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Field-level rules</a:t>
            </a:r>
          </a:p>
          <a:p>
            <a:r>
              <a:rPr lang="en-US" b="0"/>
              <a:t>Minimum 6–8 characters</a:t>
            </a:r>
          </a:p>
          <a:p>
            <a:r>
              <a:rPr lang="en-US" b="0"/>
              <a:t>At least 1 uppercase letter</a:t>
            </a:r>
          </a:p>
          <a:p>
            <a:r>
              <a:rPr lang="en-US" b="0"/>
              <a:t>At least 1 number</a:t>
            </a:r>
          </a:p>
          <a:p>
            <a:r>
              <a:rPr lang="en-US" b="0"/>
              <a:t>No leading / trailing whitespace</a:t>
            </a:r>
          </a:p>
          <a:p>
            <a:pPr marL="0" indent="0">
              <a:buNone/>
            </a:pPr>
            <a:r>
              <a:rPr lang="en-US"/>
              <a:t>Form-level rules</a:t>
            </a:r>
          </a:p>
          <a:p>
            <a:r>
              <a:rPr lang="en-US" b="0"/>
              <a:t>“Password” and “Confirm Password” must match</a:t>
            </a:r>
          </a:p>
          <a:p>
            <a:r>
              <a:rPr lang="en-US" b="0"/>
              <a:t>Show clear, friendly error messages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10BDF7B-9806-4BF1-641C-DAC5E4DA2C39}"/>
              </a:ext>
            </a:extLst>
          </p:cNvPr>
          <p:cNvSpPr txBox="1">
            <a:spLocks/>
          </p:cNvSpPr>
          <p:nvPr/>
        </p:nvSpPr>
        <p:spPr bwMode="auto">
          <a:xfrm>
            <a:off x="5926935" y="1609729"/>
            <a:ext cx="5181331" cy="452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UX Tips</a:t>
            </a:r>
          </a:p>
          <a:p>
            <a:r>
              <a:rPr lang="en-US" b="0"/>
              <a:t>Show validation before sending request to backend</a:t>
            </a:r>
          </a:p>
          <a:p>
            <a:r>
              <a:rPr lang="en-US" b="0"/>
              <a:t>Use inline error text below fields</a:t>
            </a:r>
          </a:p>
          <a:p>
            <a:r>
              <a:rPr lang="en-US" b="0"/>
              <a:t>Disable “Create account” button when form is invalid or loading</a:t>
            </a:r>
          </a:p>
          <a:p>
            <a:pPr marL="0" indent="0">
              <a:buNone/>
            </a:pPr>
            <a:r>
              <a:rPr lang="en-US"/>
              <a:t>Relation to Previous Modules</a:t>
            </a:r>
          </a:p>
          <a:p>
            <a:r>
              <a:rPr lang="en-US" b="0"/>
              <a:t>Reuse patterns from Module 7 – Forms &amp; Validation</a:t>
            </a:r>
          </a:p>
          <a:p>
            <a:r>
              <a:rPr lang="en-US" b="0"/>
              <a:t>Now applied in a real Signup scenario</a:t>
            </a:r>
          </a:p>
        </p:txBody>
      </p:sp>
    </p:spTree>
    <p:extLst>
      <p:ext uri="{BB962C8B-B14F-4D97-AF65-F5344CB8AC3E}">
        <p14:creationId xmlns:p14="http://schemas.microsoft.com/office/powerpoint/2010/main" val="1928054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DEMO 10.2 — Signup Flow Implementation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4999" y="1326503"/>
            <a:ext cx="5833533" cy="5311364"/>
          </a:xfr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2000"/>
              <a:t>What this demo adds on top of Demo 10.1</a:t>
            </a:r>
          </a:p>
          <a:p>
            <a:pPr>
              <a:spcBef>
                <a:spcPts val="0"/>
              </a:spcBef>
            </a:pPr>
            <a:r>
              <a:rPr lang="en-US" sz="2000" b="0"/>
              <a:t>New SignupScreen with:</a:t>
            </a:r>
          </a:p>
          <a:p>
            <a:pPr marL="742940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800" b="0"/>
              <a:t>Name</a:t>
            </a:r>
          </a:p>
          <a:p>
            <a:pPr marL="742940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800" b="0"/>
              <a:t>Email/username</a:t>
            </a:r>
          </a:p>
          <a:p>
            <a:pPr marL="742940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800" b="0"/>
              <a:t>Password</a:t>
            </a:r>
          </a:p>
          <a:p>
            <a:pPr marL="742940" lvl="1" indent="-342900">
              <a:spcBef>
                <a:spcPts val="0"/>
              </a:spcBef>
              <a:buFont typeface="Courier New" panose="02070309020205020404" pitchFamily="49" charset="0"/>
              <a:buChar char="o"/>
            </a:pPr>
            <a:r>
              <a:rPr lang="en-US" sz="1800" b="0"/>
              <a:t>Confirm password</a:t>
            </a:r>
          </a:p>
          <a:p>
            <a:pPr>
              <a:spcBef>
                <a:spcPts val="0"/>
              </a:spcBef>
            </a:pPr>
            <a:r>
              <a:rPr lang="en-US" sz="2000" b="0"/>
              <a:t>New method in AuthService: signup(...)</a:t>
            </a:r>
          </a:p>
          <a:p>
            <a:pPr>
              <a:spcBef>
                <a:spcPts val="0"/>
              </a:spcBef>
            </a:pPr>
            <a:r>
              <a:rPr lang="en-US" sz="2000" b="0"/>
              <a:t>Navigation between Login ↔ Signup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/>
              <a:t>Demo Features</a:t>
            </a:r>
          </a:p>
          <a:p>
            <a:pPr>
              <a:spcBef>
                <a:spcPts val="0"/>
              </a:spcBef>
            </a:pPr>
            <a:r>
              <a:rPr lang="en-US" sz="2000" b="0"/>
              <a:t>Validated signup form</a:t>
            </a:r>
          </a:p>
          <a:p>
            <a:pPr>
              <a:spcBef>
                <a:spcPts val="0"/>
              </a:spcBef>
            </a:pPr>
            <a:r>
              <a:rPr lang="en-US" sz="2000" b="0"/>
              <a:t>Loading state while sending request</a:t>
            </a:r>
          </a:p>
          <a:p>
            <a:pPr>
              <a:spcBef>
                <a:spcPts val="0"/>
              </a:spcBef>
            </a:pPr>
            <a:r>
              <a:rPr lang="en-US" sz="2000" b="0"/>
              <a:t>Display backend error (e.g. “Email already exists”)</a:t>
            </a:r>
          </a:p>
          <a:p>
            <a:pPr>
              <a:spcBef>
                <a:spcPts val="0"/>
              </a:spcBef>
            </a:pPr>
            <a:r>
              <a:rPr lang="en-US" sz="2000" b="0"/>
              <a:t>On successful signup → show a success message and return to Login 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3258FD-53D5-4299-3799-F506CE9A0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532" y="1326503"/>
            <a:ext cx="2421819" cy="49030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93EB53-BB10-49CC-E071-14AB55259C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2305" y="1326502"/>
            <a:ext cx="2425495" cy="49030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766A7-0F27-D5E2-F9B1-3AA9C1188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35C8-F41C-6841-3EFE-DADEBFDBB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Understanding User Session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05412-E171-78A7-0AE0-2298C190D1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0803" y="1456268"/>
            <a:ext cx="4571729" cy="4694392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What is a Session?</a:t>
            </a:r>
          </a:p>
          <a:p>
            <a:r>
              <a:rPr lang="en-US" b="0"/>
              <a:t>A session represents the authenticated state of a user.</a:t>
            </a:r>
          </a:p>
          <a:p>
            <a:r>
              <a:rPr lang="en-US" b="0"/>
              <a:t>It typically includes:</a:t>
            </a:r>
          </a:p>
          <a:p>
            <a:pPr lvl="1"/>
            <a:r>
              <a:rPr lang="en-US" b="0"/>
              <a:t>Access token</a:t>
            </a:r>
          </a:p>
          <a:p>
            <a:pPr lvl="1"/>
            <a:r>
              <a:rPr lang="en-US" b="0"/>
              <a:t>User profile</a:t>
            </a:r>
          </a:p>
          <a:p>
            <a:pPr lvl="1"/>
            <a:r>
              <a:rPr lang="en-US" b="0"/>
              <a:t>Token expiry timestamp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196A015-0FD2-1F5C-F3CB-AD673C35B32B}"/>
              </a:ext>
            </a:extLst>
          </p:cNvPr>
          <p:cNvSpPr txBox="1">
            <a:spLocks/>
          </p:cNvSpPr>
          <p:nvPr/>
        </p:nvSpPr>
        <p:spPr bwMode="auto">
          <a:xfrm>
            <a:off x="6276624" y="1456268"/>
            <a:ext cx="5511800" cy="5115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How a session starts</a:t>
            </a:r>
          </a:p>
          <a:p>
            <a:r>
              <a:rPr lang="en-US" sz="2000" b="0"/>
              <a:t>User logs in (Demo 10.1)</a:t>
            </a:r>
          </a:p>
          <a:p>
            <a:r>
              <a:rPr lang="en-US" sz="2000" b="0"/>
              <a:t>App receives token</a:t>
            </a:r>
          </a:p>
          <a:p>
            <a:r>
              <a:rPr lang="en-US" sz="2000" b="0"/>
              <a:t>App stores token locally (SharedPreferences)</a:t>
            </a:r>
          </a:p>
          <a:p>
            <a:r>
              <a:rPr lang="en-US" sz="2000" b="0"/>
              <a:t>App restores token automatically next time (Demo 10.3)</a:t>
            </a:r>
          </a:p>
          <a:p>
            <a:pPr marL="0" indent="0">
              <a:buNone/>
            </a:pPr>
            <a:r>
              <a:rPr lang="en-US" sz="2000"/>
              <a:t>How a session ends</a:t>
            </a:r>
          </a:p>
          <a:p>
            <a:pPr marL="342900" indent="-342900"/>
            <a:r>
              <a:rPr lang="en-US" sz="2000" b="0"/>
              <a:t>Logout</a:t>
            </a:r>
          </a:p>
          <a:p>
            <a:pPr marL="342900" indent="-342900"/>
            <a:r>
              <a:rPr lang="en-US" sz="2000" b="0"/>
              <a:t>Token expired</a:t>
            </a:r>
          </a:p>
          <a:p>
            <a:pPr marL="342900" indent="-342900"/>
            <a:r>
              <a:rPr lang="en-US" sz="2000" b="0"/>
              <a:t>Force logout from server (401 Unauthorized)</a:t>
            </a:r>
          </a:p>
        </p:txBody>
      </p:sp>
    </p:spTree>
    <p:extLst>
      <p:ext uri="{BB962C8B-B14F-4D97-AF65-F5344CB8AC3E}">
        <p14:creationId xmlns:p14="http://schemas.microsoft.com/office/powerpoint/2010/main" val="3591317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0467" y="321916"/>
            <a:ext cx="10972800" cy="818503"/>
          </a:xfrm>
        </p:spPr>
        <p:txBody>
          <a:bodyPr>
            <a:normAutofit/>
          </a:bodyPr>
          <a:lstStyle/>
          <a:p>
            <a:pPr algn="ctr"/>
            <a:r>
              <a:rPr lang="en-US" sz="3200"/>
              <a:t>Persisting Session with SharedPreferences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000" y="1341144"/>
            <a:ext cx="4783667" cy="4845226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 sz="2000"/>
              <a:t>Why store the token locally?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Keep user logged in between app restarts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Faster startup → auto skip login screen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Required for protected APIs</a:t>
            </a:r>
          </a:p>
          <a:p>
            <a:pPr marL="0" indent="0">
              <a:lnSpc>
                <a:spcPct val="150000"/>
              </a:lnSpc>
              <a:buNone/>
              <a:defRPr sz="1800"/>
            </a:pPr>
            <a:r>
              <a:rPr lang="en-US" sz="2000"/>
              <a:t>Session Logic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If token exists → user is authenticated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If missing/expired → navigate to LoginScreen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936C5A-DAE1-79D7-FAD6-88D323411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297" y="2186340"/>
            <a:ext cx="5279893" cy="22050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E8E188-118A-63B7-908F-170A87FFB572}"/>
              </a:ext>
            </a:extLst>
          </p:cNvPr>
          <p:cNvSpPr txBox="1"/>
          <p:nvPr/>
        </p:nvSpPr>
        <p:spPr>
          <a:xfrm>
            <a:off x="6256867" y="1384358"/>
            <a:ext cx="57093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 sz="1800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Code example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Auto Login Flow (SPLASH → LOGIN/HOME)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6710" y="1476319"/>
            <a:ext cx="9256889" cy="509381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Flow</a:t>
            </a:r>
          </a:p>
          <a:p>
            <a:r>
              <a:rPr lang="en-US" b="0"/>
              <a:t>Start SplashScreen</a:t>
            </a:r>
          </a:p>
          <a:p>
            <a:r>
              <a:rPr lang="en-US" b="0"/>
              <a:t>Load token from SharedPreferences</a:t>
            </a:r>
          </a:p>
          <a:p>
            <a:r>
              <a:rPr lang="en-US" b="0"/>
              <a:t>If token exists → go to Home</a:t>
            </a:r>
          </a:p>
          <a:p>
            <a:r>
              <a:rPr lang="en-US" b="0"/>
              <a:t>If no token → go to Login</a:t>
            </a:r>
          </a:p>
          <a:p>
            <a:r>
              <a:rPr lang="en-US" b="0"/>
              <a:t>HomeScreen allows Logout (delete token)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Flow Diagram:</a:t>
            </a:r>
          </a:p>
          <a:p>
            <a:pPr marL="0" indent="0" algn="ctr">
              <a:buNone/>
            </a:pPr>
            <a:r>
              <a:rPr lang="en-US" b="0"/>
              <a:t>	</a:t>
            </a:r>
            <a:r>
              <a:rPr lang="en-US" sz="2400"/>
              <a:t>Splash → (has token?) → Home / Login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DEMO 10.3 — Auto Login + Logout Implementation</a:t>
            </a:r>
            <a:endParaRPr sz="320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D33ED7B-0116-CCA1-33A4-7A4DC356255A}"/>
              </a:ext>
            </a:extLst>
          </p:cNvPr>
          <p:cNvSpPr txBox="1">
            <a:spLocks/>
          </p:cNvSpPr>
          <p:nvPr/>
        </p:nvSpPr>
        <p:spPr bwMode="auto">
          <a:xfrm>
            <a:off x="779544" y="1643002"/>
            <a:ext cx="5958713" cy="4706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Description</a:t>
            </a:r>
          </a:p>
          <a:p>
            <a:r>
              <a:rPr lang="en-US" sz="2000" b="0"/>
              <a:t>Based on Demo 10.1 (Backend Login) and Demo 10.2 (Register).</a:t>
            </a:r>
          </a:p>
          <a:p>
            <a:r>
              <a:rPr lang="en-US" sz="2000" b="0"/>
              <a:t>Upon successful login, save the auth_token app to SharedPreferences.</a:t>
            </a:r>
          </a:p>
          <a:p>
            <a:r>
              <a:rPr lang="en-US" sz="2000" b="0"/>
              <a:t>The next time you open the app, the token checks for SplashScreen:</a:t>
            </a:r>
          </a:p>
          <a:p>
            <a:r>
              <a:rPr lang="en-US" sz="2000" b="0"/>
              <a:t>With token → go straight to Home (auto login).</a:t>
            </a:r>
          </a:p>
          <a:p>
            <a:r>
              <a:rPr lang="en-US" sz="2000" b="0"/>
              <a:t>Without token → go back to Login screen.</a:t>
            </a:r>
          </a:p>
          <a:p>
            <a:r>
              <a:rPr lang="en-US" sz="2000" b="0"/>
              <a:t>The Logout button on Home deletes the token, forcing the user to log in again next time.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300FCF-A854-8C87-BC9D-47841EF5B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7850" y="1489014"/>
            <a:ext cx="2473778" cy="47069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3296A4-7757-B037-E136-6400D50B8D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256" y="1566008"/>
            <a:ext cx="2473778" cy="463000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38C6C-474F-DD13-BF4F-D55CEA511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Test Scenarios for Demo 10.3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1CFA293-816A-E2BB-449E-3A0729FCD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5963132"/>
              </p:ext>
            </p:extLst>
          </p:nvPr>
        </p:nvGraphicFramePr>
        <p:xfrm>
          <a:off x="816428" y="1590524"/>
          <a:ext cx="10791372" cy="4211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7258">
                  <a:extLst>
                    <a:ext uri="{9D8B030D-6E8A-4147-A177-3AD203B41FA5}">
                      <a16:colId xmlns:a16="http://schemas.microsoft.com/office/drawing/2014/main" val="3557581096"/>
                    </a:ext>
                  </a:extLst>
                </a:gridCol>
                <a:gridCol w="3646714">
                  <a:extLst>
                    <a:ext uri="{9D8B030D-6E8A-4147-A177-3AD203B41FA5}">
                      <a16:colId xmlns:a16="http://schemas.microsoft.com/office/drawing/2014/main" val="2364528584"/>
                    </a:ext>
                  </a:extLst>
                </a:gridCol>
                <a:gridCol w="4597400">
                  <a:extLst>
                    <a:ext uri="{9D8B030D-6E8A-4147-A177-3AD203B41FA5}">
                      <a16:colId xmlns:a16="http://schemas.microsoft.com/office/drawing/2014/main" val="2452387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Scenario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Steps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Expected Result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2265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1. First Login &amp; Session Creation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/>
                        <a:t>Open the app → Login screen appears.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/>
                        <a:t>Enter valid credentials (</a:t>
                      </a:r>
                      <a:r>
                        <a:rPr lang="en-US">
                          <a:hlinkClick r:id="rId3"/>
                        </a:rPr>
                        <a:t>demo@test.com</a:t>
                      </a:r>
                      <a:r>
                        <a:rPr lang="en-US"/>
                        <a:t> / 123456).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/>
                        <a:t>Tap </a:t>
                      </a:r>
                      <a:r>
                        <a:rPr lang="en-US" b="1"/>
                        <a:t>Login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User is navigated to </a:t>
                      </a:r>
                      <a:r>
                        <a:rPr lang="en-US" b="1"/>
                        <a:t>Home – Demos 10.1–10.3</a:t>
                      </a:r>
                      <a:r>
                        <a:rPr lang="en-US"/>
                        <a:t>.• Token is displayed (e.g.,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mock_token_123456</a:t>
                      </a:r>
                      <a:r>
                        <a:rPr lang="en-US"/>
                        <a:t>).• Token is saved to SharedPreferences.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3710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2. Auto Login (App Relaunch)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/>
                        <a:t>Close the app completely (remove from Recent Apps).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/>
                        <a:t>Reopen the app from the launcher icon.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Login screen is </a:t>
                      </a:r>
                      <a:r>
                        <a:rPr lang="en-US" b="1"/>
                        <a:t>skipped</a:t>
                      </a:r>
                      <a:r>
                        <a:rPr lang="en-US"/>
                        <a:t>.• SplashScreen loads token.• User is taken directly to </a:t>
                      </a:r>
                      <a:r>
                        <a:rPr lang="en-US" b="1"/>
                        <a:t>Home</a:t>
                      </a:r>
                      <a:r>
                        <a:rPr lang="en-US"/>
                        <a:t> with the same token displayed.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0571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3. Logout &amp; Session Clearing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en-US"/>
                        <a:t>From Home, tap the </a:t>
                      </a:r>
                      <a:r>
                        <a:rPr lang="en-US" b="1"/>
                        <a:t>Logout</a:t>
                      </a:r>
                      <a:r>
                        <a:rPr lang="en-US"/>
                        <a:t> icon.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/>
                        <a:t>App returns to Login screen.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/>
                        <a:t>Close and reopen the app.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• User stays on </a:t>
                      </a:r>
                      <a:r>
                        <a:rPr lang="en-US" b="1"/>
                        <a:t>Login</a:t>
                      </a:r>
                      <a:r>
                        <a:rPr lang="en-US"/>
                        <a:t> screen (auto-login disabled).• Token is removed from SharedPreferences.• Must log in again to access Home.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47199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28754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12A2B-6C09-A5D6-D1FF-553B2DFA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31ED55F-B02D-33F0-AA28-C287D247874D}"/>
              </a:ext>
            </a:extLst>
          </p:cNvPr>
          <p:cNvSpPr/>
          <p:nvPr/>
        </p:nvSpPr>
        <p:spPr>
          <a:xfrm>
            <a:off x="8295721" y="1730828"/>
            <a:ext cx="3618479" cy="39841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39876-EF44-F6C9-FE6B-520DBBABE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What is Firebase Authentication?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CB5053-96EF-8590-9D90-8A67E92F2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715" y="1434623"/>
            <a:ext cx="6800548" cy="5075034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Firebase Authentication is a cloud-based identity platform that provides:</a:t>
            </a:r>
          </a:p>
          <a:p>
            <a:r>
              <a:rPr lang="en-US" sz="2000" b="0"/>
              <a:t>Secure and scalable login</a:t>
            </a:r>
          </a:p>
          <a:p>
            <a:r>
              <a:rPr lang="en-US" sz="2000" b="0"/>
              <a:t>Google, Apple, Facebook sign-in</a:t>
            </a:r>
          </a:p>
          <a:p>
            <a:r>
              <a:rPr lang="en-US" sz="2000" b="0"/>
              <a:t>Email/password authentication</a:t>
            </a:r>
          </a:p>
          <a:p>
            <a:r>
              <a:rPr lang="en-US" sz="2000" b="0"/>
              <a:t>Automatic session persistence</a:t>
            </a:r>
          </a:p>
          <a:p>
            <a:r>
              <a:rPr lang="en-US" sz="2000" b="0"/>
              <a:t>Built-in token refresh</a:t>
            </a:r>
          </a:p>
          <a:p>
            <a:r>
              <a:rPr lang="en-US" sz="2000" b="0"/>
              <a:t>Industry usage: e-commerce, travel, fintech apps</a:t>
            </a:r>
          </a:p>
          <a:p>
            <a:pPr marL="0" indent="0">
              <a:buNone/>
            </a:pPr>
            <a:r>
              <a:rPr lang="en-US" sz="2000"/>
              <a:t>Why we introduce Firebase here?</a:t>
            </a:r>
          </a:p>
          <a:p>
            <a:r>
              <a:rPr lang="en-US" sz="2000" b="0"/>
              <a:t>Easier identity management than building your own backend</a:t>
            </a:r>
          </a:p>
          <a:p>
            <a:r>
              <a:rPr lang="en-US" sz="2000" b="0"/>
              <a:t>Industry standard for mobile apps</a:t>
            </a:r>
          </a:p>
          <a:p>
            <a:r>
              <a:rPr lang="en-US" sz="2000" b="0"/>
              <a:t>Used in modern e-commerce, booking, social apps</a:t>
            </a:r>
            <a:endParaRPr lang="en-US" sz="1800" b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1E0711D-A7CE-AD77-B2C3-83DF9E779E6E}"/>
              </a:ext>
            </a:extLst>
          </p:cNvPr>
          <p:cNvGrpSpPr/>
          <p:nvPr/>
        </p:nvGrpSpPr>
        <p:grpSpPr>
          <a:xfrm>
            <a:off x="8197748" y="2057769"/>
            <a:ext cx="3618480" cy="3412347"/>
            <a:chOff x="8295720" y="2057769"/>
            <a:chExt cx="3618480" cy="3412347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9DC9E700-8FA3-F6C4-0896-DA48D91C4E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5720" y="3303449"/>
              <a:ext cx="3618480" cy="12438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2" name="Picture 4" descr="Google Logo PNG Transparent &amp; SVG Vector - Freebie Supply">
              <a:extLst>
                <a:ext uri="{FF2B5EF4-FFF2-40B4-BE49-F238E27FC236}">
                  <a16:creationId xmlns:a16="http://schemas.microsoft.com/office/drawing/2014/main" id="{E081EA3F-C48A-CE13-C1A6-27197F2A63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39144" y="4771137"/>
              <a:ext cx="2068656" cy="6989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CA894FB-11F6-14C6-A6BE-D3BFC2DF4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868706" y="2057769"/>
              <a:ext cx="1060551" cy="102184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9055464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74161-D875-6409-E29A-6D1C06A3F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CB3F-28CE-86C9-09DA-0C575CE07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Google Sign-In Authentication Flow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CE3ED3F-D7AB-C0B1-DA72-422A55E5A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3714" y="1434623"/>
            <a:ext cx="6640086" cy="4049108"/>
          </a:xfrm>
        </p:spPr>
        <p:txBody>
          <a:bodyPr/>
          <a:lstStyle/>
          <a:p>
            <a:pPr marL="0" indent="0">
              <a:buNone/>
            </a:pPr>
            <a:r>
              <a:rPr lang="en-US" sz="2400"/>
              <a:t>Flow: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/>
              <a:t>User taps Sign in with Google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/>
              <a:t>Google account chooser appears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/>
              <a:t>Google issues OAuth tokens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/>
              <a:t>Convert to Firebase credential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/>
              <a:t>Firebase signs in the user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/>
              <a:t>App receives Firebase User object</a:t>
            </a:r>
          </a:p>
          <a:p>
            <a:pPr marL="342900" indent="-342900">
              <a:buFont typeface="+mj-lt"/>
              <a:buAutoNum type="arabicPeriod"/>
            </a:pPr>
            <a:r>
              <a:rPr lang="en-US" b="0"/>
              <a:t>Navigate to Home</a:t>
            </a:r>
          </a:p>
        </p:txBody>
      </p:sp>
      <p:pic>
        <p:nvPicPr>
          <p:cNvPr id="8" name="Picture 7" descr="A screenshot of a phone&#10;&#10;AI-generated content may be incorrect.">
            <a:extLst>
              <a:ext uri="{FF2B5EF4-FFF2-40B4-BE49-F238E27FC236}">
                <a16:creationId xmlns:a16="http://schemas.microsoft.com/office/drawing/2014/main" id="{9F3D462B-0059-9813-4471-C59277E6F5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6729" y="1676400"/>
            <a:ext cx="2770900" cy="38073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E569CD5-954D-B486-9294-1C002BD6D3B0}"/>
              </a:ext>
            </a:extLst>
          </p:cNvPr>
          <p:cNvSpPr txBox="1"/>
          <p:nvPr/>
        </p:nvSpPr>
        <p:spPr>
          <a:xfrm>
            <a:off x="903714" y="5350076"/>
            <a:ext cx="10460971" cy="11339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Idea: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b="1">
                <a:highlight>
                  <a:srgbClr val="C0C0C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Firebase handles identity → our app only handles UI + navigatio</a:t>
            </a:r>
          </a:p>
        </p:txBody>
      </p:sp>
    </p:spTree>
    <p:extLst>
      <p:ext uri="{BB962C8B-B14F-4D97-AF65-F5344CB8AC3E}">
        <p14:creationId xmlns:p14="http://schemas.microsoft.com/office/powerpoint/2010/main" val="3374403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6D239-1243-1A13-25F5-9D874FE51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6FA9B-654A-F491-3010-D05A49C36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Required Configurations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8487AB7-A7AA-9058-25BA-C81BB0DE1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344" y="1434623"/>
            <a:ext cx="9132914" cy="4915377"/>
          </a:xfrm>
        </p:spPr>
        <p:txBody>
          <a:bodyPr/>
          <a:lstStyle/>
          <a:p>
            <a:pPr marL="0" indent="0">
              <a:buNone/>
            </a:pPr>
            <a:r>
              <a:rPr lang="en-US" sz="2400"/>
              <a:t>Before coding Google Sign-In, the following must be configured:</a:t>
            </a:r>
          </a:p>
          <a:p>
            <a:pPr marL="857240" lvl="1" indent="-457200">
              <a:buFont typeface="+mj-lt"/>
              <a:buAutoNum type="arabicPeriod"/>
            </a:pPr>
            <a:r>
              <a:rPr lang="en-US" sz="2400" b="0"/>
              <a:t>Create Firebase Project</a:t>
            </a:r>
          </a:p>
          <a:p>
            <a:pPr marL="857240" lvl="1" indent="-457200">
              <a:buFont typeface="+mj-lt"/>
              <a:buAutoNum type="arabicPeriod"/>
            </a:pPr>
            <a:r>
              <a:rPr lang="en-US" sz="2400" b="0"/>
              <a:t>Add Android App (correct package name)</a:t>
            </a:r>
          </a:p>
          <a:p>
            <a:pPr marL="857240" lvl="1" indent="-457200">
              <a:buFont typeface="+mj-lt"/>
              <a:buAutoNum type="arabicPeriod"/>
            </a:pPr>
            <a:r>
              <a:rPr lang="en-US" sz="2400" b="0"/>
              <a:t>Add SHA-1 + SHA-256 fingerprints</a:t>
            </a:r>
          </a:p>
          <a:p>
            <a:pPr marL="857240" lvl="1" indent="-457200">
              <a:buFont typeface="+mj-lt"/>
              <a:buAutoNum type="arabicPeriod"/>
            </a:pPr>
            <a:r>
              <a:rPr lang="en-US" sz="2400" b="0"/>
              <a:t>Download and place google-services.json → android/app/</a:t>
            </a:r>
          </a:p>
          <a:p>
            <a:pPr marL="857240" lvl="1" indent="-457200">
              <a:buFont typeface="+mj-lt"/>
              <a:buAutoNum type="arabicPeriod"/>
            </a:pPr>
            <a:r>
              <a:rPr lang="en-US" sz="2400" b="0"/>
              <a:t>Add dependencies:</a:t>
            </a:r>
          </a:p>
          <a:p>
            <a:pPr marL="1085829" lvl="2" indent="-285750"/>
            <a:r>
              <a:rPr lang="en-US" sz="2400" b="0"/>
              <a:t>firebase_core</a:t>
            </a:r>
          </a:p>
          <a:p>
            <a:pPr marL="1085829" lvl="2" indent="-285750"/>
            <a:r>
              <a:rPr lang="en-US" sz="2400" b="0"/>
              <a:t>firebase_auth</a:t>
            </a:r>
          </a:p>
          <a:p>
            <a:pPr marL="1085829" lvl="2" indent="-285750"/>
            <a:r>
              <a:rPr lang="en-US" sz="2400" b="0"/>
              <a:t>google_sign_in</a:t>
            </a:r>
          </a:p>
          <a:p>
            <a:pPr marL="857240" lvl="1" indent="-457200">
              <a:buFont typeface="+mj-lt"/>
              <a:buAutoNum type="arabicPeriod"/>
            </a:pPr>
            <a:r>
              <a:rPr lang="en-US" sz="2400" b="0"/>
              <a:t>Enable Google Sign-In in Firebase Console</a:t>
            </a:r>
          </a:p>
        </p:txBody>
      </p:sp>
    </p:spTree>
    <p:extLst>
      <p:ext uri="{BB962C8B-B14F-4D97-AF65-F5344CB8AC3E}">
        <p14:creationId xmlns:p14="http://schemas.microsoft.com/office/powerpoint/2010/main" val="1539134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D0DFE-5B0C-F7FD-B769-2628711AB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26824-CC85-5131-ED4F-0BC168997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Demo 10.4: Google Sign-In (Overview)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BC5C43D-D6F6-04F6-D386-F41BC6054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0086" y="1335834"/>
            <a:ext cx="5134430" cy="545529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This demo demonstrates:</a:t>
            </a:r>
          </a:p>
          <a:p>
            <a:r>
              <a:rPr lang="en-US" sz="2000" b="0"/>
              <a:t>Google Sign-In (FirebaseAuth)</a:t>
            </a:r>
          </a:p>
          <a:p>
            <a:r>
              <a:rPr lang="en-US" sz="2000" b="0"/>
              <a:t>Display user profile (photo, email, name)</a:t>
            </a:r>
          </a:p>
          <a:p>
            <a:r>
              <a:rPr lang="en-US" sz="2000" b="0"/>
              <a:t>Persist login automatically</a:t>
            </a:r>
          </a:p>
          <a:p>
            <a:r>
              <a:rPr lang="en-US" sz="2000" b="0"/>
              <a:t>Logout from Firebase &amp; Google</a:t>
            </a:r>
          </a:p>
          <a:p>
            <a:pPr marL="0" indent="0">
              <a:buNone/>
            </a:pPr>
            <a:r>
              <a:rPr lang="en-US" sz="2000"/>
              <a:t>Files Used:</a:t>
            </a:r>
          </a:p>
          <a:p>
            <a:r>
              <a:rPr lang="en-US" sz="2000" b="0"/>
              <a:t>firebase_auth_service.dart</a:t>
            </a:r>
          </a:p>
          <a:p>
            <a:r>
              <a:rPr lang="en-US" sz="2000" b="0"/>
              <a:t>google_sign_in_button.dart</a:t>
            </a:r>
          </a:p>
          <a:p>
            <a:r>
              <a:rPr lang="en-US" sz="2000" b="0"/>
              <a:t>google_profile_screen.dart</a:t>
            </a:r>
          </a:p>
          <a:p>
            <a:r>
              <a:rPr lang="en-US" sz="2000" b="0"/>
              <a:t>main.dart configuration update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8EAA8F-249F-159B-7FFA-F99493B7A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google_sign_in_button.dart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google_profile_screen.dart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 descr="A screen shot of a phone&#10;&#10;AI-generated content may be incorrect.">
            <a:extLst>
              <a:ext uri="{FF2B5EF4-FFF2-40B4-BE49-F238E27FC236}">
                <a16:creationId xmlns:a16="http://schemas.microsoft.com/office/drawing/2014/main" id="{62F3DB76-A52B-1AAF-91BB-727035EA5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057" y="1326503"/>
            <a:ext cx="2558143" cy="5163161"/>
          </a:xfrm>
          <a:prstGeom prst="rect">
            <a:avLst/>
          </a:prstGeom>
        </p:spPr>
      </p:pic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59A9E0D2-193D-E077-6B40-14EC205FF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4057" y="1326502"/>
            <a:ext cx="2558143" cy="5163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237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72AB3-BACF-F128-6D75-EFC312DCC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D8A87-1B06-93EB-648D-2A36A3486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Common Errors &amp; Fixes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72C210E-460D-DA1D-1FAA-7A22B9F3E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09535"/>
              </p:ext>
            </p:extLst>
          </p:nvPr>
        </p:nvGraphicFramePr>
        <p:xfrm>
          <a:off x="1349829" y="1634066"/>
          <a:ext cx="9481458" cy="384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486">
                  <a:extLst>
                    <a:ext uri="{9D8B030D-6E8A-4147-A177-3AD203B41FA5}">
                      <a16:colId xmlns:a16="http://schemas.microsoft.com/office/drawing/2014/main" val="2894181862"/>
                    </a:ext>
                  </a:extLst>
                </a:gridCol>
                <a:gridCol w="3160486">
                  <a:extLst>
                    <a:ext uri="{9D8B030D-6E8A-4147-A177-3AD203B41FA5}">
                      <a16:colId xmlns:a16="http://schemas.microsoft.com/office/drawing/2014/main" val="1755933532"/>
                    </a:ext>
                  </a:extLst>
                </a:gridCol>
                <a:gridCol w="3160486">
                  <a:extLst>
                    <a:ext uri="{9D8B030D-6E8A-4147-A177-3AD203B41FA5}">
                      <a16:colId xmlns:a16="http://schemas.microsoft.com/office/drawing/2014/main" val="12498844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75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Google Sign-In screen does not appear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Missing SHA-1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 SHA-1 → rebuild app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9776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“DEVELOPER_ERROR”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Wrong package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Ensure package name matches Firebase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4645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Firebase initialization error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Missing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google-services.json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Place file inside </a:t>
                      </a:r>
                      <a:r>
                        <a:rPr lang="fr-FR">
                          <a:latin typeface="Courier New" panose="02070309020205020404" pitchFamily="49" charset="0"/>
                        </a:rPr>
                        <a:t>/android/app/</a:t>
                      </a:r>
                      <a:endParaRPr lang="fr-FR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8789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App crashes at launch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Missing Gradle plugin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Add </a:t>
                      </a:r>
                      <a:r>
                        <a:rPr lang="en-US">
                          <a:latin typeface="Courier New" panose="02070309020205020404" pitchFamily="49" charset="0"/>
                        </a:rPr>
                        <a:t>com.google.gms.google-services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5243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Login returns </a:t>
                      </a:r>
                      <a:r>
                        <a:rPr lang="en-US" b="1"/>
                        <a:t>null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Emulator lacks Google Play 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 emulator with Play Store or real device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338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85347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0F6CE-629C-5F41-30C9-2CC18A29E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B25E5-83C1-9D16-ECF2-9B8AC28CD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What is a Notification?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C42E5E-12D7-2646-F2F3-7C6D7128D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2429" y="1421446"/>
            <a:ext cx="8447114" cy="4541634"/>
          </a:xfrm>
        </p:spPr>
        <p:txBody>
          <a:bodyPr/>
          <a:lstStyle/>
          <a:p>
            <a:pPr marL="0" indent="0">
              <a:buNone/>
            </a:pPr>
            <a:r>
              <a:rPr lang="en-US" sz="2400"/>
              <a:t>Notifications in Mobile Applications</a:t>
            </a:r>
          </a:p>
          <a:p>
            <a:r>
              <a:rPr lang="en-US" sz="2400" b="0"/>
              <a:t>A notification is a system-level message displayed outside the app UI.</a:t>
            </a:r>
          </a:p>
          <a:p>
            <a:r>
              <a:rPr lang="en-US" sz="2400" b="0"/>
              <a:t>It allows the app to inform users about important events.</a:t>
            </a:r>
          </a:p>
          <a:p>
            <a:r>
              <a:rPr lang="en-US" sz="2400" b="0"/>
              <a:t>Notifications improve user engagement and awareness.</a:t>
            </a:r>
          </a:p>
          <a:p>
            <a:pPr marL="0" indent="0">
              <a:buNone/>
            </a:pPr>
            <a:r>
              <a:rPr lang="en-US" sz="2400"/>
              <a:t>Examples:</a:t>
            </a:r>
          </a:p>
          <a:p>
            <a:r>
              <a:rPr lang="en-US" sz="2400" b="0"/>
              <a:t>Login success</a:t>
            </a:r>
          </a:p>
          <a:p>
            <a:r>
              <a:rPr lang="en-US" sz="2400" b="0"/>
              <a:t>Account activity alerts</a:t>
            </a:r>
          </a:p>
          <a:p>
            <a:r>
              <a:rPr lang="en-US" sz="2400" b="0"/>
              <a:t>Reminders</a:t>
            </a:r>
          </a:p>
        </p:txBody>
      </p:sp>
    </p:spTree>
    <p:extLst>
      <p:ext uri="{BB962C8B-B14F-4D97-AF65-F5344CB8AC3E}">
        <p14:creationId xmlns:p14="http://schemas.microsoft.com/office/powerpoint/2010/main" val="26830021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4566E-FB9A-3499-617A-7A092A674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4A500-CEB8-B9A4-7F84-1D02A3927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Local vs Push Notification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8014AA2E-1E02-9F70-0C80-CEA8018416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1242329"/>
              </p:ext>
            </p:extLst>
          </p:nvPr>
        </p:nvGraphicFramePr>
        <p:xfrm>
          <a:off x="1687286" y="1600200"/>
          <a:ext cx="7957457" cy="3299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8114">
                  <a:extLst>
                    <a:ext uri="{9D8B030D-6E8A-4147-A177-3AD203B41FA5}">
                      <a16:colId xmlns:a16="http://schemas.microsoft.com/office/drawing/2014/main" val="865066983"/>
                    </a:ext>
                  </a:extLst>
                </a:gridCol>
                <a:gridCol w="4539343">
                  <a:extLst>
                    <a:ext uri="{9D8B030D-6E8A-4147-A177-3AD203B41FA5}">
                      <a16:colId xmlns:a16="http://schemas.microsoft.com/office/drawing/2014/main" val="1346388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 Notification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Push Notification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3000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Triggered by the app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 from a server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817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internet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Internet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8589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backend needed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backend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26019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to implement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complex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4046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04480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DCA57-F037-7403-C627-B7748635E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36367-091A-C3F2-A863-560A2EFE1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Why Notifications After Authentication?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BDE1A-60B3-7BA2-6CE2-D2BB27F86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969" y="1464908"/>
            <a:ext cx="9343573" cy="5099178"/>
          </a:xfrm>
        </p:spPr>
        <p:txBody>
          <a:bodyPr/>
          <a:lstStyle/>
          <a:p>
            <a:pPr marL="0" indent="0">
              <a:buNone/>
            </a:pPr>
            <a:r>
              <a:rPr lang="en-US" sz="2400"/>
              <a:t>Notifications in Authentication Flow</a:t>
            </a:r>
          </a:p>
          <a:p>
            <a:r>
              <a:rPr lang="en-US" b="0"/>
              <a:t>Notifications are commonly used after important user actions such as:</a:t>
            </a:r>
          </a:p>
          <a:p>
            <a:r>
              <a:rPr lang="en-US" b="0"/>
              <a:t>Successful login</a:t>
            </a:r>
          </a:p>
          <a:p>
            <a:r>
              <a:rPr lang="en-US" b="0"/>
              <a:t>Account verification</a:t>
            </a:r>
          </a:p>
          <a:p>
            <a:r>
              <a:rPr lang="en-US" b="0"/>
              <a:t>Password reset</a:t>
            </a:r>
          </a:p>
          <a:p>
            <a:pPr marL="0" indent="0">
              <a:buNone/>
            </a:pPr>
            <a:r>
              <a:rPr lang="en-US"/>
              <a:t>Example:</a:t>
            </a:r>
          </a:p>
          <a:p>
            <a:r>
              <a:rPr lang="en-US" b="0"/>
              <a:t>“Login successful. Welcome back!”</a:t>
            </a:r>
          </a:p>
          <a:p>
            <a:pPr marL="0" indent="0">
              <a:buNone/>
            </a:pPr>
            <a:r>
              <a:rPr lang="en-US" sz="2400"/>
              <a:t>Purpose:</a:t>
            </a:r>
          </a:p>
          <a:p>
            <a:r>
              <a:rPr lang="en-US" sz="2400" b="0"/>
              <a:t>Connect notifications with real application workflows.</a:t>
            </a:r>
          </a:p>
        </p:txBody>
      </p:sp>
    </p:spTree>
    <p:extLst>
      <p:ext uri="{BB962C8B-B14F-4D97-AF65-F5344CB8AC3E}">
        <p14:creationId xmlns:p14="http://schemas.microsoft.com/office/powerpoint/2010/main" val="7469092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8B799-E7D0-4FD2-4D5B-BA6395776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63402-55B4-9DF7-CFC3-F1C4D2C94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515" y="297994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Demo 10.5: Local Notification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E3048-8A21-F866-CBCC-BBC902CE7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366936"/>
            <a:ext cx="6397172" cy="5110063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Objective</a:t>
            </a:r>
          </a:p>
          <a:p>
            <a:r>
              <a:rPr lang="en-US" sz="2000" b="0"/>
              <a:t>Integrate local notifications in a Flutter application</a:t>
            </a:r>
          </a:p>
          <a:p>
            <a:r>
              <a:rPr lang="en-US" sz="2000" b="0"/>
              <a:t>Trigger a notification after a successful login</a:t>
            </a:r>
          </a:p>
          <a:p>
            <a:r>
              <a:rPr lang="en-US" sz="2000" b="0"/>
              <a:t>Keep notification logic separate from authentication logic</a:t>
            </a:r>
          </a:p>
          <a:p>
            <a:pPr marL="0" indent="0">
              <a:buNone/>
            </a:pPr>
            <a:r>
              <a:rPr lang="en-US" sz="2000" b="0"/>
              <a:t>Step 1 – Setup Notification Service</a:t>
            </a:r>
          </a:p>
          <a:p>
            <a:r>
              <a:rPr lang="en-US" sz="2000" b="0"/>
              <a:t>Initialize plugin</a:t>
            </a:r>
          </a:p>
          <a:p>
            <a:r>
              <a:rPr lang="en-US" sz="2000" b="0"/>
              <a:t>Configure Android settings &amp; permission</a:t>
            </a:r>
          </a:p>
          <a:p>
            <a:pPr marL="0" indent="0">
              <a:buNone/>
            </a:pPr>
            <a:r>
              <a:rPr lang="en-US" sz="2000" b="0"/>
              <a:t>Step 2 – Trigger Notification After Login</a:t>
            </a:r>
          </a:p>
          <a:p>
            <a:r>
              <a:rPr lang="en-US" sz="2000" b="0"/>
              <a:t>Call notification logic</a:t>
            </a:r>
          </a:p>
          <a:p>
            <a:r>
              <a:rPr lang="en-US" sz="2000" b="0"/>
              <a:t>System displays notification</a:t>
            </a:r>
            <a:endParaRPr lang="en-US" sz="1800" b="0"/>
          </a:p>
        </p:txBody>
      </p:sp>
      <p:pic>
        <p:nvPicPr>
          <p:cNvPr id="6" name="Picture 5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1B6C7989-AA4E-2B30-8049-DEC497329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71" y="1326503"/>
            <a:ext cx="2393496" cy="5021648"/>
          </a:xfrm>
          <a:prstGeom prst="rect">
            <a:avLst/>
          </a:prstGeom>
        </p:spPr>
      </p:pic>
      <p:pic>
        <p:nvPicPr>
          <p:cNvPr id="10" name="Picture 9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2E3F4964-8162-9385-A9A5-F85F9047E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100" y="1238088"/>
            <a:ext cx="2337834" cy="5110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85871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69AFD-0903-0342-6AA7-59EC44DEB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3A41F-1291-8D1F-700B-62086AEC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Best Practices &amp; Patterns for Authentication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5AA20-4112-C6C2-172E-6008BD571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1366937"/>
            <a:ext cx="5134430" cy="4673080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Security</a:t>
            </a:r>
          </a:p>
          <a:p>
            <a:r>
              <a:rPr lang="en-US" sz="2000" b="0"/>
              <a:t>Hash &amp; salt passwords (server-side).</a:t>
            </a:r>
          </a:p>
          <a:p>
            <a:r>
              <a:rPr lang="en-US" sz="2000" b="0"/>
              <a:t>Never store raw tokens → use secure storage.</a:t>
            </a:r>
          </a:p>
          <a:p>
            <a:r>
              <a:rPr lang="en-US" sz="2000" b="0"/>
              <a:t>Always use HTTPS.</a:t>
            </a:r>
          </a:p>
          <a:p>
            <a:pPr marL="0" indent="0">
              <a:buNone/>
            </a:pPr>
            <a:r>
              <a:rPr lang="en-US"/>
              <a:t>User Experience</a:t>
            </a:r>
          </a:p>
          <a:p>
            <a:r>
              <a:rPr lang="en-US" sz="2000" b="0"/>
              <a:t>Clear and friendly error messages.</a:t>
            </a:r>
          </a:p>
          <a:p>
            <a:r>
              <a:rPr lang="en-US" sz="2000" b="0"/>
              <a:t>Show loading indicators for all network calls.</a:t>
            </a:r>
          </a:p>
          <a:p>
            <a:r>
              <a:rPr lang="en-US" sz="2000" b="0"/>
              <a:t>Support auto-login with persisted session.</a:t>
            </a:r>
            <a:endParaRPr lang="en-US" sz="1800" b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5B4AF6-272C-1233-D25E-3D271A6D40DC}"/>
              </a:ext>
            </a:extLst>
          </p:cNvPr>
          <p:cNvSpPr txBox="1">
            <a:spLocks/>
          </p:cNvSpPr>
          <p:nvPr/>
        </p:nvSpPr>
        <p:spPr bwMode="auto">
          <a:xfrm>
            <a:off x="6121400" y="1366937"/>
            <a:ext cx="5134430" cy="4673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/>
              <a:t>Architecture Patterns</a:t>
            </a:r>
          </a:p>
          <a:p>
            <a:r>
              <a:rPr lang="en-US" sz="2000" b="0"/>
              <a:t>AuthService (Singleton) separating UI from logic.</a:t>
            </a:r>
          </a:p>
          <a:p>
            <a:r>
              <a:rPr lang="en-US" sz="2000" b="0"/>
              <a:t>Standard flow: Splash → Login → Home.</a:t>
            </a:r>
          </a:p>
          <a:p>
            <a:r>
              <a:rPr lang="en-US" sz="2000" b="0"/>
              <a:t>Use pushReplacementNamed() to prevent navigating back to Login.</a:t>
            </a:r>
          </a:p>
          <a:p>
            <a:pPr marL="0" indent="0">
              <a:buNone/>
            </a:pPr>
            <a:r>
              <a:rPr lang="en-US" sz="2000"/>
              <a:t>Error Handling</a:t>
            </a:r>
          </a:p>
          <a:p>
            <a:r>
              <a:rPr lang="en-US" sz="2000" b="0"/>
              <a:t>Wrap API calls in try/catch.</a:t>
            </a:r>
          </a:p>
          <a:p>
            <a:r>
              <a:rPr lang="en-US" sz="2000" b="0"/>
              <a:t>Display errors gracefully (Snackbar / inline text).</a:t>
            </a:r>
            <a:endParaRPr lang="en-US" sz="1800" b="0"/>
          </a:p>
        </p:txBody>
      </p:sp>
    </p:spTree>
    <p:extLst>
      <p:ext uri="{BB962C8B-B14F-4D97-AF65-F5344CB8AC3E}">
        <p14:creationId xmlns:p14="http://schemas.microsoft.com/office/powerpoint/2010/main" val="36879593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4F37-1B9C-2421-DDB6-C6AA320C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8F06-E657-9371-C4DA-7F147F6B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03200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882C1-55BA-F0EB-6E98-573CB14D4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930" y="1066313"/>
            <a:ext cx="11167927" cy="506616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/>
              <a:t>In this module, students learned:</a:t>
            </a:r>
          </a:p>
          <a:p>
            <a:pPr>
              <a:lnSpc>
                <a:spcPct val="150000"/>
              </a:lnSpc>
            </a:pPr>
            <a:r>
              <a:rPr lang="en-US" sz="2000" b="0"/>
              <a:t>Core concepts of authentication, authorization, sessions, and JWT tokens</a:t>
            </a:r>
          </a:p>
          <a:p>
            <a:pPr>
              <a:lnSpc>
                <a:spcPct val="150000"/>
              </a:lnSpc>
            </a:pPr>
            <a:r>
              <a:rPr lang="en-US" sz="2000" b="0"/>
              <a:t>How to design and validate login and signup forms in Flutter</a:t>
            </a:r>
          </a:p>
          <a:p>
            <a:pPr>
              <a:lnSpc>
                <a:spcPct val="150000"/>
              </a:lnSpc>
            </a:pPr>
            <a:r>
              <a:rPr lang="en-US" sz="2000" b="0"/>
              <a:t>How to implement authentication using:</a:t>
            </a:r>
          </a:p>
          <a:p>
            <a:pPr lvl="1">
              <a:lnSpc>
                <a:spcPct val="150000"/>
              </a:lnSpc>
            </a:pPr>
            <a:r>
              <a:rPr lang="en-US" sz="1800" b="0"/>
              <a:t>Mock backend service (Demo 10.1)</a:t>
            </a:r>
          </a:p>
          <a:p>
            <a:pPr lvl="1">
              <a:lnSpc>
                <a:spcPct val="150000"/>
              </a:lnSpc>
            </a:pPr>
            <a:r>
              <a:rPr lang="en-US" sz="1800" b="0"/>
              <a:t>Real REST API integration (Demo 10.2 – DummyJSON)</a:t>
            </a:r>
          </a:p>
          <a:p>
            <a:pPr>
              <a:lnSpc>
                <a:spcPct val="150000"/>
              </a:lnSpc>
            </a:pPr>
            <a:r>
              <a:rPr lang="en-US" sz="2000" b="0"/>
              <a:t>How to persist user sessions and implement auto-login &amp; logout using SharedPreferences (Demo 10.3)</a:t>
            </a:r>
          </a:p>
          <a:p>
            <a:pPr>
              <a:lnSpc>
                <a:spcPct val="150000"/>
              </a:lnSpc>
            </a:pPr>
            <a:r>
              <a:rPr lang="en-US" sz="2000" b="0"/>
              <a:t>How to integrate Firebase Authentication and Google Sign-In (Demo 10.4)</a:t>
            </a:r>
          </a:p>
          <a:p>
            <a:pPr>
              <a:lnSpc>
                <a:spcPct val="150000"/>
              </a:lnSpc>
            </a:pPr>
            <a:r>
              <a:rPr lang="en-US" sz="2000" b="0"/>
              <a:t>(Optional) How to integrate local notifications to enhance user experience after key actions (Demo 10.5)</a:t>
            </a:r>
          </a:p>
        </p:txBody>
      </p:sp>
    </p:spTree>
    <p:extLst>
      <p:ext uri="{BB962C8B-B14F-4D97-AF65-F5344CB8AC3E}">
        <p14:creationId xmlns:p14="http://schemas.microsoft.com/office/powerpoint/2010/main" val="296034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669" y="1560285"/>
            <a:ext cx="11074131" cy="4844143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nb-NO" sz="2000" b="0"/>
              <a:t>Mastering Flutter 2025: Learn to Develop Flutter Apps, Kevin Moore, Packt Publishing. Chapter 9, 10, 12, 17, 19</a:t>
            </a:r>
          </a:p>
          <a:p>
            <a:pPr>
              <a:lnSpc>
                <a:spcPct val="150000"/>
              </a:lnSpc>
              <a:defRPr sz="1800"/>
            </a:pPr>
            <a:r>
              <a:rPr lang="nb-NO" sz="2000" b="0"/>
              <a:t>Flutter Documentation – Authentication:  </a:t>
            </a:r>
            <a:r>
              <a:rPr lang="nb-NO" sz="2000" b="0">
                <a:hlinkClick r:id="rId3"/>
              </a:rPr>
              <a:t>https://docs.flutter.dev</a:t>
            </a:r>
            <a:r>
              <a:rPr lang="nb-NO" sz="2000" b="0"/>
              <a:t> </a:t>
            </a:r>
          </a:p>
          <a:p>
            <a:pPr>
              <a:lnSpc>
                <a:spcPct val="150000"/>
              </a:lnSpc>
              <a:defRPr sz="1800"/>
            </a:pPr>
            <a:r>
              <a:rPr lang="nb-NO" sz="2000" b="0"/>
              <a:t>Firebase Authentication Documentation: </a:t>
            </a:r>
            <a:r>
              <a:rPr lang="nb-NO" sz="2000" b="0">
                <a:hlinkClick r:id="rId4"/>
              </a:rPr>
              <a:t>https://firebase.google.com/docs/auth</a:t>
            </a:r>
            <a:r>
              <a:rPr lang="nb-NO" sz="2000" b="0"/>
              <a:t> </a:t>
            </a:r>
          </a:p>
          <a:p>
            <a:pPr>
              <a:lnSpc>
                <a:spcPct val="150000"/>
              </a:lnSpc>
              <a:defRPr sz="1800"/>
            </a:pPr>
            <a:r>
              <a:rPr lang="nb-NO" sz="2000" b="0"/>
              <a:t>SharedPreferences Flutter Plugin: </a:t>
            </a:r>
            <a:r>
              <a:rPr lang="nb-NO" sz="2000" b="0">
                <a:hlinkClick r:id="rId5"/>
              </a:rPr>
              <a:t>https://pub.dev/packages/shared_preferences</a:t>
            </a:r>
            <a:r>
              <a:rPr lang="nb-NO" sz="2000" b="0"/>
              <a:t> </a:t>
            </a:r>
          </a:p>
          <a:p>
            <a:pPr>
              <a:lnSpc>
                <a:spcPct val="150000"/>
              </a:lnSpc>
              <a:defRPr sz="1800"/>
            </a:pPr>
            <a:r>
              <a:rPr lang="nb-NO" sz="2000" b="0"/>
              <a:t>Path Provider Plugin: </a:t>
            </a:r>
            <a:r>
              <a:rPr lang="nb-NO" sz="2000" b="0">
                <a:hlinkClick r:id="rId6"/>
              </a:rPr>
              <a:t>https://pub.dev/packages/path_provider</a:t>
            </a:r>
            <a:r>
              <a:rPr lang="nb-NO" sz="2000" b="0"/>
              <a:t> </a:t>
            </a:r>
          </a:p>
          <a:p>
            <a:pPr>
              <a:lnSpc>
                <a:spcPct val="150000"/>
              </a:lnSpc>
              <a:defRPr sz="1800"/>
            </a:pPr>
            <a:r>
              <a:rPr lang="nb-NO" sz="2000" b="0"/>
              <a:t>DummyJSON Authentication API: </a:t>
            </a:r>
            <a:r>
              <a:rPr lang="nb-NO" sz="2000" b="0">
                <a:hlinkClick r:id="rId7"/>
              </a:rPr>
              <a:t>https://dummyjson.com/docs/auth</a:t>
            </a:r>
            <a:r>
              <a:rPr lang="nb-NO" sz="2000" b="0"/>
              <a:t> 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000" b="0"/>
              <a:t> Flutter Local Notifications Plugin: </a:t>
            </a:r>
            <a:r>
              <a:rPr lang="en-US" sz="2000" b="0">
                <a:hlinkClick r:id="rId8"/>
              </a:rPr>
              <a:t>https://pub.dev/packages/flutter_local_notifications</a:t>
            </a:r>
            <a:r>
              <a:rPr lang="en-US" sz="2000" b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15428</TotalTime>
  <Words>2882</Words>
  <Application>Microsoft Office PowerPoint</Application>
  <PresentationFormat>Widescreen</PresentationFormat>
  <Paragraphs>497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 Unicode MS</vt:lpstr>
      <vt:lpstr>Aptos</vt:lpstr>
      <vt:lpstr>Arial</vt:lpstr>
      <vt:lpstr>Courier New</vt:lpstr>
      <vt:lpstr>Myriad Pro</vt:lpstr>
      <vt:lpstr>Tahoma</vt:lpstr>
      <vt:lpstr>Times New Roman</vt:lpstr>
      <vt:lpstr>Theme1</vt:lpstr>
      <vt:lpstr>Module 10 - Authentication, Session Management &amp; Notifications</vt:lpstr>
      <vt:lpstr>Learning Objectives</vt:lpstr>
      <vt:lpstr>What is Authentication?</vt:lpstr>
      <vt:lpstr>Authentication Flow (High-Level)</vt:lpstr>
      <vt:lpstr>Token-Based Authentication</vt:lpstr>
      <vt:lpstr>JWT (JSON Web Token) Explained</vt:lpstr>
      <vt:lpstr>Login Screen UI Structure</vt:lpstr>
      <vt:lpstr>Demo 10.1 - Backend Login Flow (Overview)</vt:lpstr>
      <vt:lpstr>Step 2 - Simulated Authentication Request</vt:lpstr>
      <vt:lpstr>Step 3 - Authentication Result Processing</vt:lpstr>
      <vt:lpstr> Error Handling (Step 1 + Step 3)</vt:lpstr>
      <vt:lpstr>Mock API vs Real API in Authentication</vt:lpstr>
      <vt:lpstr>Demo1.1.R - Real API in Authentication</vt:lpstr>
      <vt:lpstr>Signup Flow Overview</vt:lpstr>
      <vt:lpstr>Signup API Integration (Reuse AuthService)</vt:lpstr>
      <vt:lpstr>Password Validation Rules (Used in Signup Form)</vt:lpstr>
      <vt:lpstr>DEMO 10.2 — Signup Flow Implementation</vt:lpstr>
      <vt:lpstr>Understanding User Session</vt:lpstr>
      <vt:lpstr>Persisting Session with SharedPreferences</vt:lpstr>
      <vt:lpstr>Auto Login Flow (SPLASH → LOGIN/HOME)</vt:lpstr>
      <vt:lpstr>DEMO 10.3 — Auto Login + Logout Implementation</vt:lpstr>
      <vt:lpstr>Test Scenarios for Demo 10.3</vt:lpstr>
      <vt:lpstr>What is Firebase Authentication?</vt:lpstr>
      <vt:lpstr>Google Sign-In Authentication Flow</vt:lpstr>
      <vt:lpstr>Required Configurations</vt:lpstr>
      <vt:lpstr>Demo 10.4: Google Sign-In (Overview)</vt:lpstr>
      <vt:lpstr>Common Errors &amp; Fixes</vt:lpstr>
      <vt:lpstr>What is a Notification?</vt:lpstr>
      <vt:lpstr>Local vs Push Notification</vt:lpstr>
      <vt:lpstr>Why Notifications After Authentication?</vt:lpstr>
      <vt:lpstr>Demo 10.5: Local Notification Flow</vt:lpstr>
      <vt:lpstr>Best Practices &amp; Patterns for Authentication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Thanh Nguyen</dc:creator>
  <cp:keywords/>
  <dc:description>generated using python-pptx</dc:description>
  <cp:lastModifiedBy>Thanh Nguyen</cp:lastModifiedBy>
  <cp:revision>46</cp:revision>
  <dcterms:created xsi:type="dcterms:W3CDTF">2013-01-27T09:14:16Z</dcterms:created>
  <dcterms:modified xsi:type="dcterms:W3CDTF">2025-12-14T09:45:12Z</dcterms:modified>
  <cp:category/>
</cp:coreProperties>
</file>