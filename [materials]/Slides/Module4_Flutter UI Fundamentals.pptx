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8"/>
  </p:notesMasterIdLst>
  <p:sldIdLst>
    <p:sldId id="276" r:id="rId2"/>
    <p:sldId id="275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80" r:id="rId13"/>
    <p:sldId id="281" r:id="rId14"/>
    <p:sldId id="267" r:id="rId15"/>
    <p:sldId id="277" r:id="rId16"/>
    <p:sldId id="278" r:id="rId17"/>
    <p:sldId id="269" r:id="rId18"/>
    <p:sldId id="279" r:id="rId19"/>
    <p:sldId id="271" r:id="rId20"/>
    <p:sldId id="282" r:id="rId21"/>
    <p:sldId id="283" r:id="rId22"/>
    <p:sldId id="284" r:id="rId23"/>
    <p:sldId id="286" r:id="rId24"/>
    <p:sldId id="285" r:id="rId25"/>
    <p:sldId id="272" r:id="rId26"/>
    <p:sldId id="274" r:id="rId2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677" autoAdjust="0"/>
  </p:normalViewPr>
  <p:slideViewPr>
    <p:cSldViewPr snapToGrid="0" snapToObjects="1">
      <p:cViewPr>
        <p:scale>
          <a:sx n="70" d="100"/>
          <a:sy n="70" d="100"/>
        </p:scale>
        <p:origin x="1138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Understanding widgets helps you break UI into pieces like LEGO blocks and reuse them.</a:t>
            </a:r>
          </a:p>
          <a:p>
            <a:r>
              <a:rPr lang="en-US"/>
              <a:t>Emphasize widget = “building block”</a:t>
            </a:r>
          </a:p>
          <a:p>
            <a:r>
              <a:rPr lang="en-US"/>
              <a:t>Compare to: HTML tags / React components</a:t>
            </a:r>
          </a:p>
          <a:p>
            <a:r>
              <a:rPr lang="en-US"/>
              <a:t>Ask class: “What UI elements in this screen could be widgets?”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Demo changing size/color quickly → instant feedback</a:t>
            </a:r>
          </a:p>
          <a:p>
            <a:r>
              <a:rPr lang="en-US"/>
              <a:t>Encourage students: replace icons in sample 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33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import 'package:flutter/material.dart';</a:t>
            </a:r>
          </a:p>
          <a:p>
            <a:endParaRPr lang="en-US"/>
          </a:p>
          <a:p>
            <a:r>
              <a:rPr lang="en-US"/>
              <a:t>void main() =&gt; runApp(const DatePickerApp());</a:t>
            </a:r>
          </a:p>
          <a:p>
            <a:endParaRPr lang="en-US"/>
          </a:p>
          <a:p>
            <a:r>
              <a:rPr lang="en-US"/>
              <a:t>class DatePickerApp extends StatelessWidget {</a:t>
            </a:r>
          </a:p>
          <a:p>
            <a:r>
              <a:rPr lang="en-US"/>
              <a:t>  const DatePickerApp({super.key});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MaterialApp(</a:t>
            </a:r>
          </a:p>
          <a:p>
            <a:r>
              <a:rPr lang="en-US"/>
              <a:t>      home: Scaffold(</a:t>
            </a:r>
          </a:p>
          <a:p>
            <a:r>
              <a:rPr lang="en-US"/>
              <a:t>        appBar: AppBar(title: const Text("Date Picker Demo")),</a:t>
            </a:r>
          </a:p>
          <a:p>
            <a:r>
              <a:rPr lang="en-US"/>
              <a:t>        body: const DatePickerExample(),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DatePickerExample extends StatefulWidget {</a:t>
            </a:r>
          </a:p>
          <a:p>
            <a:r>
              <a:rPr lang="en-US"/>
              <a:t>  const DatePickerExample({super.key});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State&lt;DatePickerExample&gt; createState() =&gt; _DatePickerExampleState();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_DatePickerExampleState extends State&lt;DatePickerExample&gt; {</a:t>
            </a:r>
          </a:p>
          <a:p>
            <a:r>
              <a:rPr lang="en-US"/>
              <a:t>  DateTime? selectedDate;</a:t>
            </a:r>
          </a:p>
          <a:p>
            <a:endParaRPr lang="en-US"/>
          </a:p>
          <a:p>
            <a:r>
              <a:rPr lang="en-US"/>
              <a:t>  Future&lt;void&gt; pickDate() async {</a:t>
            </a:r>
          </a:p>
          <a:p>
            <a:r>
              <a:rPr lang="en-US"/>
              <a:t>    final date = await showDatePicker(</a:t>
            </a:r>
          </a:p>
          <a:p>
            <a:r>
              <a:rPr lang="en-US"/>
              <a:t>      context: context,</a:t>
            </a:r>
          </a:p>
          <a:p>
            <a:r>
              <a:rPr lang="en-US"/>
              <a:t>      initialDate: DateTime.now(),</a:t>
            </a:r>
          </a:p>
          <a:p>
            <a:r>
              <a:rPr lang="en-US"/>
              <a:t>      firstDate: DateTime(2000),</a:t>
            </a:r>
          </a:p>
          <a:p>
            <a:r>
              <a:rPr lang="en-US"/>
              <a:t>      lastDate: DateTime(2100),</a:t>
            </a:r>
          </a:p>
          <a:p>
            <a:r>
              <a:rPr lang="en-US"/>
              <a:t>    );</a:t>
            </a:r>
          </a:p>
          <a:p>
            <a:r>
              <a:rPr lang="en-US"/>
              <a:t>    if (date != null) setState(() =&gt; selectedDate = date);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Center(</a:t>
            </a:r>
          </a:p>
          <a:p>
            <a:r>
              <a:rPr lang="en-US"/>
              <a:t>      child: Column(</a:t>
            </a:r>
          </a:p>
          <a:p>
            <a:r>
              <a:rPr lang="en-US"/>
              <a:t>        mainAxisAlignment: MainAxisAlignment.center,</a:t>
            </a:r>
          </a:p>
          <a:p>
            <a:r>
              <a:rPr lang="en-US"/>
              <a:t>        children: [</a:t>
            </a:r>
          </a:p>
          <a:p>
            <a:r>
              <a:rPr lang="en-US"/>
              <a:t>          Text(selectedDate == null</a:t>
            </a:r>
          </a:p>
          <a:p>
            <a:r>
              <a:rPr lang="en-US"/>
              <a:t>              ? "No date selected"</a:t>
            </a:r>
          </a:p>
          <a:p>
            <a:r>
              <a:rPr lang="en-US"/>
              <a:t>              : "Selected: ${selectedDate!.toLocal()}".split(' ')[0]),</a:t>
            </a:r>
          </a:p>
          <a:p>
            <a:r>
              <a:rPr lang="en-US"/>
              <a:t>          const SizedBox(height: 16),</a:t>
            </a:r>
          </a:p>
          <a:p>
            <a:r>
              <a:rPr lang="en-US"/>
              <a:t>          ElevatedButton(</a:t>
            </a:r>
          </a:p>
          <a:p>
            <a:r>
              <a:rPr lang="en-US"/>
              <a:t>            onPressed: pickDate,</a:t>
            </a:r>
          </a:p>
          <a:p>
            <a:r>
              <a:rPr lang="en-US"/>
              <a:t>            child: const Text("Pick Date"),</a:t>
            </a:r>
          </a:p>
          <a:p>
            <a:r>
              <a:rPr lang="en-US"/>
              <a:t>          )</a:t>
            </a:r>
          </a:p>
          <a:p>
            <a:r>
              <a:rPr lang="en-US"/>
              <a:t>        ],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Use: Settings menus, video quality selection, filters.</a:t>
            </a:r>
          </a:p>
          <a:p>
            <a:endParaRPr lang="en-US"/>
          </a:p>
          <a:p>
            <a:r>
              <a:rPr lang="en-US" b="1"/>
              <a:t>Code demo</a:t>
            </a:r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RadioDemoApp());</a:t>
            </a:r>
          </a:p>
          <a:p>
            <a:endParaRPr lang="en-US"/>
          </a:p>
          <a:p>
            <a:r>
              <a:rPr lang="en-US"/>
              <a:t>class RadioDemoApp extends StatelessWidget {</a:t>
            </a:r>
          </a:p>
          <a:p>
            <a:r>
              <a:rPr lang="en-US"/>
              <a:t>  const RadioDemoApp({super.key});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=&gt; const MaterialApp(home: RadioScreen());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RadioScreen extends StatefulWidget {</a:t>
            </a:r>
          </a:p>
          <a:p>
            <a:r>
              <a:rPr lang="en-US"/>
              <a:t>  const RadioScreen({super.key});</a:t>
            </a:r>
          </a:p>
          <a:p>
            <a:r>
              <a:rPr lang="en-US"/>
              <a:t>  @override State&lt;RadioScreen&gt; createState() =&gt; _RadioScreenState();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_RadioScreenState extends State&lt;RadioScreen&gt; {</a:t>
            </a:r>
          </a:p>
          <a:p>
            <a:r>
              <a:rPr lang="en-US"/>
              <a:t>  String? quality = 'HD';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Text('RadioListTile')),</a:t>
            </a:r>
          </a:p>
          <a:p>
            <a:r>
              <a:rPr lang="en-US"/>
              <a:t>      body: Column(</a:t>
            </a:r>
          </a:p>
          <a:p>
            <a:r>
              <a:rPr lang="en-US"/>
              <a:t>        children: [</a:t>
            </a:r>
          </a:p>
          <a:p>
            <a:r>
              <a:rPr lang="en-US"/>
              <a:t>          RadioListTile&lt;String&gt;(</a:t>
            </a:r>
          </a:p>
          <a:p>
            <a:r>
              <a:rPr lang="en-US"/>
              <a:t>            title: const Text('SD'),</a:t>
            </a:r>
          </a:p>
          <a:p>
            <a:r>
              <a:rPr lang="en-US"/>
              <a:t>            value: 'SD',</a:t>
            </a:r>
          </a:p>
          <a:p>
            <a:r>
              <a:rPr lang="en-US"/>
              <a:t>            groupValue: quality,</a:t>
            </a:r>
          </a:p>
          <a:p>
            <a:r>
              <a:rPr lang="en-US"/>
              <a:t>            onChanged: (v) =&gt; setState(() =&gt; quality = v),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  RadioListTile&lt;String&gt;(</a:t>
            </a:r>
          </a:p>
          <a:p>
            <a:r>
              <a:rPr lang="en-US"/>
              <a:t>            title: const Text('HD'),</a:t>
            </a:r>
          </a:p>
          <a:p>
            <a:r>
              <a:rPr lang="en-US"/>
              <a:t>            value: 'HD',</a:t>
            </a:r>
          </a:p>
          <a:p>
            <a:r>
              <a:rPr lang="en-US"/>
              <a:t>            groupValue: quality,</a:t>
            </a:r>
          </a:p>
          <a:p>
            <a:r>
              <a:rPr lang="en-US"/>
              <a:t>            onChanged: (v) =&gt; setState(() =&gt; quality = v),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  RadioListTile&lt;String&gt;(</a:t>
            </a:r>
          </a:p>
          <a:p>
            <a:r>
              <a:rPr lang="en-US"/>
              <a:t>            title: const Text('4K'),</a:t>
            </a:r>
          </a:p>
          <a:p>
            <a:r>
              <a:rPr lang="en-US"/>
              <a:t>            value: '4K',</a:t>
            </a:r>
          </a:p>
          <a:p>
            <a:r>
              <a:rPr lang="en-US"/>
              <a:t>            groupValue: quality,</a:t>
            </a:r>
          </a:p>
          <a:p>
            <a:r>
              <a:rPr lang="en-US"/>
              <a:t>            onChanged: (v) =&gt; setState(() =&gt; quality = v),</a:t>
            </a:r>
          </a:p>
          <a:p>
            <a:r>
              <a:rPr lang="en-US"/>
              <a:t>          ),</a:t>
            </a:r>
          </a:p>
          <a:p>
            <a:r>
              <a:rPr lang="en-US"/>
              <a:t>        ],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883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0"/>
              <a:t>Common props</a:t>
            </a:r>
          </a:p>
          <a:p>
            <a:pPr lvl="1"/>
            <a:r>
              <a:rPr lang="en-US" sz="1800" b="0"/>
              <a:t>value, min, max</a:t>
            </a:r>
          </a:p>
          <a:p>
            <a:pPr lvl="1"/>
            <a:r>
              <a:rPr lang="en-US" sz="1800" b="0"/>
              <a:t>onChanged / onChangeStart / onChangeEnd</a:t>
            </a:r>
          </a:p>
          <a:p>
            <a:pPr lvl="1"/>
            <a:r>
              <a:rPr lang="en-US" sz="1800" b="0"/>
              <a:t>divisions, label</a:t>
            </a:r>
          </a:p>
          <a:p>
            <a:pPr lvl="1"/>
            <a:r>
              <a:rPr lang="en-US" sz="1800" b="0"/>
              <a:t>activeColor, inactiveColor</a:t>
            </a:r>
          </a:p>
          <a:p>
            <a:endParaRPr lang="en-US" b="1"/>
          </a:p>
          <a:p>
            <a:r>
              <a:rPr lang="en-US" b="1"/>
              <a:t>Code demo</a:t>
            </a:r>
          </a:p>
          <a:p>
            <a:r>
              <a:rPr lang="en-US" b="0"/>
              <a:t>import 'package:flutter/material.dart';</a:t>
            </a:r>
          </a:p>
          <a:p>
            <a:r>
              <a:rPr lang="en-US" b="0"/>
              <a:t>void main() =&gt; runApp(const SliderDemoApp());</a:t>
            </a:r>
          </a:p>
          <a:p>
            <a:endParaRPr lang="en-US" b="0"/>
          </a:p>
          <a:p>
            <a:r>
              <a:rPr lang="en-US" b="0"/>
              <a:t>class SliderDemoApp extends StatelessWidget {</a:t>
            </a:r>
          </a:p>
          <a:p>
            <a:r>
              <a:rPr lang="en-US" b="0"/>
              <a:t>  const SliderDemoApp({super.key});</a:t>
            </a:r>
          </a:p>
          <a:p>
            <a:r>
              <a:rPr lang="en-US" b="0"/>
              <a:t>  @override</a:t>
            </a:r>
          </a:p>
          <a:p>
            <a:r>
              <a:rPr lang="en-US" b="0"/>
              <a:t>  Widget build(BuildContext context) =&gt; const MaterialApp(home: SliderScreen());</a:t>
            </a:r>
          </a:p>
          <a:p>
            <a:r>
              <a:rPr lang="en-US" b="0"/>
              <a:t>}</a:t>
            </a:r>
          </a:p>
          <a:p>
            <a:endParaRPr lang="en-US" b="0"/>
          </a:p>
          <a:p>
            <a:r>
              <a:rPr lang="en-US" b="0"/>
              <a:t>class SliderScreen extends StatefulWidget {</a:t>
            </a:r>
          </a:p>
          <a:p>
            <a:r>
              <a:rPr lang="en-US" b="0"/>
              <a:t>  const SliderScreen({super.key});</a:t>
            </a:r>
          </a:p>
          <a:p>
            <a:r>
              <a:rPr lang="en-US" b="0"/>
              <a:t>  @override State&lt;SliderScreen&gt; createState() =&gt; _SliderScreenState();</a:t>
            </a:r>
          </a:p>
          <a:p>
            <a:r>
              <a:rPr lang="en-US" b="0"/>
              <a:t>}</a:t>
            </a:r>
          </a:p>
          <a:p>
            <a:endParaRPr lang="en-US" b="0"/>
          </a:p>
          <a:p>
            <a:r>
              <a:rPr lang="en-US" b="0"/>
              <a:t>class _SliderScreenState extends State&lt;SliderScreen&gt; {</a:t>
            </a:r>
          </a:p>
          <a:p>
            <a:r>
              <a:rPr lang="en-US" b="0"/>
              <a:t>  double value = 0.5; // Range: 0..1</a:t>
            </a:r>
          </a:p>
          <a:p>
            <a:r>
              <a:rPr lang="en-US" b="0"/>
              <a:t>  @override</a:t>
            </a:r>
          </a:p>
          <a:p>
            <a:r>
              <a:rPr lang="en-US" b="0"/>
              <a:t>  Widget build(BuildContext context) {</a:t>
            </a:r>
          </a:p>
          <a:p>
            <a:r>
              <a:rPr lang="en-US" b="0"/>
              <a:t>    return Scaffold(</a:t>
            </a:r>
          </a:p>
          <a:p>
            <a:r>
              <a:rPr lang="en-US" b="0"/>
              <a:t>      appBar: AppBar(title: const Text('Slider')),</a:t>
            </a:r>
          </a:p>
          <a:p>
            <a:r>
              <a:rPr lang="en-US" b="0"/>
              <a:t>      body: Column(</a:t>
            </a:r>
          </a:p>
          <a:p>
            <a:r>
              <a:rPr lang="en-US" b="0"/>
              <a:t>        mainAxisAlignment: MainAxisAlignment.center,</a:t>
            </a:r>
          </a:p>
          <a:p>
            <a:r>
              <a:rPr lang="en-US" b="0"/>
              <a:t>        children: [</a:t>
            </a:r>
          </a:p>
          <a:p>
            <a:r>
              <a:rPr lang="en-US" b="0"/>
              <a:t>          Slider(</a:t>
            </a:r>
          </a:p>
          <a:p>
            <a:r>
              <a:rPr lang="en-US" b="0"/>
              <a:t>            value: value,</a:t>
            </a:r>
          </a:p>
          <a:p>
            <a:r>
              <a:rPr lang="en-US" b="0"/>
              <a:t>            onChanged: (v) =&gt; setState(() =&gt; value = v),</a:t>
            </a:r>
          </a:p>
          <a:p>
            <a:r>
              <a:rPr lang="en-US" b="0"/>
              <a:t>          ),</a:t>
            </a:r>
          </a:p>
          <a:p>
            <a:r>
              <a:rPr lang="en-US" b="0"/>
              <a:t>          Text('Value: ${value.toStringAsFixed(2)}'),</a:t>
            </a:r>
          </a:p>
          <a:p>
            <a:r>
              <a:rPr lang="en-US" b="0"/>
              <a:t>        ],</a:t>
            </a:r>
          </a:p>
          <a:p>
            <a:r>
              <a:rPr lang="en-US" b="0"/>
              <a:t>      ),</a:t>
            </a:r>
          </a:p>
          <a:p>
            <a:r>
              <a:rPr lang="en-US" b="0"/>
              <a:t>    );</a:t>
            </a:r>
          </a:p>
          <a:p>
            <a:r>
              <a:rPr lang="en-US" b="0"/>
              <a:t>  }</a:t>
            </a:r>
          </a:p>
          <a:p>
            <a:r>
              <a:rPr lang="en-US" b="0"/>
              <a:t>}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61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Code demo</a:t>
            </a:r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SwitchDemoApp());</a:t>
            </a:r>
          </a:p>
          <a:p>
            <a:endParaRPr lang="en-US"/>
          </a:p>
          <a:p>
            <a:r>
              <a:rPr lang="en-US"/>
              <a:t>class SwitchDemoApp extends StatelessWidget {</a:t>
            </a:r>
          </a:p>
          <a:p>
            <a:r>
              <a:rPr lang="en-US"/>
              <a:t>  const SwitchDemoApp({super.key});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=&gt; const MaterialApp(home: SwitchScreen());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SwitchScreen extends StatefulWidget {</a:t>
            </a:r>
          </a:p>
          <a:p>
            <a:r>
              <a:rPr lang="en-US"/>
              <a:t>  const SwitchScreen({super.key});</a:t>
            </a:r>
          </a:p>
          <a:p>
            <a:r>
              <a:rPr lang="en-US"/>
              <a:t>  @override State&lt;SwitchScreen&gt; createState() =&gt; _SwitchScreenState();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_SwitchScreenState extends State&lt;SwitchScreen&gt; {</a:t>
            </a:r>
          </a:p>
          <a:p>
            <a:r>
              <a:rPr lang="en-US"/>
              <a:t>  bool isOn = false;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Text('Switch Example')),</a:t>
            </a:r>
          </a:p>
          <a:p>
            <a:r>
              <a:rPr lang="en-US"/>
              <a:t>      body: Center(</a:t>
            </a:r>
          </a:p>
          <a:p>
            <a:r>
              <a:rPr lang="en-US"/>
              <a:t>        child: Row(</a:t>
            </a:r>
          </a:p>
          <a:p>
            <a:r>
              <a:rPr lang="en-US"/>
              <a:t>          mainAxisSize: MainAxisSize.min,</a:t>
            </a:r>
          </a:p>
          <a:p>
            <a:r>
              <a:rPr lang="en-US"/>
              <a:t>          children: [</a:t>
            </a:r>
          </a:p>
          <a:p>
            <a:r>
              <a:rPr lang="en-US"/>
              <a:t>            const Text('Dark Mode'),</a:t>
            </a:r>
          </a:p>
          <a:p>
            <a:r>
              <a:rPr lang="en-US"/>
              <a:t>            Switch(value: isOn, onChanged: (v) =&gt; setState(() =&gt; isOn = v)),</a:t>
            </a:r>
          </a:p>
          <a:p>
            <a:r>
              <a:rPr lang="en-US"/>
              <a:t>          ],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8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Code demo</a:t>
            </a:r>
          </a:p>
          <a:p>
            <a:endParaRPr lang="en-US" b="0"/>
          </a:p>
          <a:p>
            <a:r>
              <a:rPr lang="en-US" b="0"/>
              <a:t>import 'package:flutter/material.dart';</a:t>
            </a:r>
          </a:p>
          <a:p>
            <a:r>
              <a:rPr lang="en-US" b="0"/>
              <a:t>void main() =&gt; runApp(const TimePickerDemoApp());</a:t>
            </a:r>
          </a:p>
          <a:p>
            <a:endParaRPr lang="en-US" b="0"/>
          </a:p>
          <a:p>
            <a:r>
              <a:rPr lang="en-US" b="0"/>
              <a:t>class TimePickerDemoApp extends StatelessWidget {</a:t>
            </a:r>
          </a:p>
          <a:p>
            <a:r>
              <a:rPr lang="en-US" b="0"/>
              <a:t>  const TimePickerDemoApp({super.key});</a:t>
            </a:r>
          </a:p>
          <a:p>
            <a:r>
              <a:rPr lang="en-US" b="0"/>
              <a:t>  @override</a:t>
            </a:r>
          </a:p>
          <a:p>
            <a:r>
              <a:rPr lang="en-US" b="0"/>
              <a:t>  Widget build(BuildContext context) =&gt; MaterialApp(</a:t>
            </a:r>
          </a:p>
          <a:p>
            <a:r>
              <a:rPr lang="en-US" b="0"/>
              <a:t>    home: Scaffold(</a:t>
            </a:r>
          </a:p>
          <a:p>
            <a:r>
              <a:rPr lang="en-US" b="0"/>
              <a:t>      appBar: AppBar(title: const Text('Time Picker')),</a:t>
            </a:r>
          </a:p>
          <a:p>
            <a:r>
              <a:rPr lang="en-US" b="0"/>
              <a:t>      body: const TimePickerDemo(),</a:t>
            </a:r>
          </a:p>
          <a:p>
            <a:r>
              <a:rPr lang="en-US" b="0"/>
              <a:t>    ),</a:t>
            </a:r>
          </a:p>
          <a:p>
            <a:r>
              <a:rPr lang="en-US" b="0"/>
              <a:t>  );</a:t>
            </a:r>
          </a:p>
          <a:p>
            <a:r>
              <a:rPr lang="en-US" b="0"/>
              <a:t>}</a:t>
            </a:r>
          </a:p>
          <a:p>
            <a:endParaRPr lang="en-US" b="0"/>
          </a:p>
          <a:p>
            <a:r>
              <a:rPr lang="en-US" b="0"/>
              <a:t>class TimePickerDemo extends StatefulWidget {</a:t>
            </a:r>
          </a:p>
          <a:p>
            <a:r>
              <a:rPr lang="en-US" b="0"/>
              <a:t>  const TimePickerDemo({super.key});</a:t>
            </a:r>
          </a:p>
          <a:p>
            <a:r>
              <a:rPr lang="en-US" b="0"/>
              <a:t>  @override State&lt;TimePickerDemo&gt; createState() =&gt; _TimePickerDemoState();</a:t>
            </a:r>
          </a:p>
          <a:p>
            <a:r>
              <a:rPr lang="en-US" b="0"/>
              <a:t>}</a:t>
            </a:r>
          </a:p>
          <a:p>
            <a:endParaRPr lang="en-US" b="0"/>
          </a:p>
          <a:p>
            <a:r>
              <a:rPr lang="en-US" b="0"/>
              <a:t>class _TimePickerDemoState extends State&lt;TimePickerDemo&gt; {</a:t>
            </a:r>
          </a:p>
          <a:p>
            <a:r>
              <a:rPr lang="en-US" b="0"/>
              <a:t>  TimeOfDay? selected;</a:t>
            </a:r>
          </a:p>
          <a:p>
            <a:r>
              <a:rPr lang="en-US" b="0"/>
              <a:t>  Future&lt;void&gt; pick() async {</a:t>
            </a:r>
          </a:p>
          <a:p>
            <a:r>
              <a:rPr lang="en-US" b="0"/>
              <a:t>    final t = await showTimePicker(context: context, initialTime: TimeOfDay.now());</a:t>
            </a:r>
          </a:p>
          <a:p>
            <a:r>
              <a:rPr lang="en-US" b="0"/>
              <a:t>    if (t != null) setState(() =&gt; selected = t);</a:t>
            </a:r>
          </a:p>
          <a:p>
            <a:r>
              <a:rPr lang="en-US" b="0"/>
              <a:t>  }</a:t>
            </a:r>
          </a:p>
          <a:p>
            <a:endParaRPr lang="en-US" b="0"/>
          </a:p>
          <a:p>
            <a:r>
              <a:rPr lang="en-US" b="0"/>
              <a:t>  @override</a:t>
            </a:r>
          </a:p>
          <a:p>
            <a:r>
              <a:rPr lang="en-US" b="0"/>
              <a:t>  Widget build(BuildContext context) {</a:t>
            </a:r>
          </a:p>
          <a:p>
            <a:r>
              <a:rPr lang="en-US" b="0"/>
              <a:t>    final text = selected == null ? 'No time' : 'Selected: ${selected!.format(context)}';</a:t>
            </a:r>
          </a:p>
          <a:p>
            <a:r>
              <a:rPr lang="en-US" b="0"/>
              <a:t>    return Center(</a:t>
            </a:r>
          </a:p>
          <a:p>
            <a:r>
              <a:rPr lang="en-US" b="0"/>
              <a:t>      child: Column(mainAxisAlignment: MainAxisAlignment.center, children: [</a:t>
            </a:r>
          </a:p>
          <a:p>
            <a:r>
              <a:rPr lang="en-US" b="0"/>
              <a:t>        Text(text, style: const TextStyle(fontSize: 18)),</a:t>
            </a:r>
          </a:p>
          <a:p>
            <a:r>
              <a:rPr lang="en-US" b="0"/>
              <a:t>        const SizedBox(height: 12),</a:t>
            </a:r>
          </a:p>
          <a:p>
            <a:r>
              <a:rPr lang="en-US" b="0"/>
              <a:t>        ElevatedButton(onPressed: pick, child: const Text('Pick Time')),</a:t>
            </a:r>
          </a:p>
          <a:p>
            <a:r>
              <a:rPr lang="en-US" b="0"/>
              <a:t>      ]),</a:t>
            </a:r>
          </a:p>
          <a:p>
            <a:r>
              <a:rPr lang="en-US" b="0"/>
              <a:t>    );</a:t>
            </a:r>
          </a:p>
          <a:p>
            <a:r>
              <a:rPr lang="en-US" b="0"/>
              <a:t>  }</a:t>
            </a:r>
          </a:p>
          <a:p>
            <a:r>
              <a:rPr lang="en-US" b="0"/>
              <a:t>}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76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Code demo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ScaffoldDemoApp());</a:t>
            </a:r>
          </a:p>
          <a:p>
            <a:endParaRPr lang="en-US"/>
          </a:p>
          <a:p>
            <a:r>
              <a:rPr lang="en-US"/>
              <a:t>class ScaffoldDemoApp extends StatelessWidget {</a:t>
            </a:r>
          </a:p>
          <a:p>
            <a:r>
              <a:rPr lang="en-US"/>
              <a:t>  const ScaffoldDemoApp({super.key});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=&gt; const MaterialApp(home: FirstScreen());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FirstScreen extends StatelessWidget {</a:t>
            </a:r>
          </a:p>
          <a:p>
            <a:r>
              <a:rPr lang="en-US"/>
              <a:t>  const FirstScreen({super.key});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Text('Now Playing')),</a:t>
            </a:r>
          </a:p>
          <a:p>
            <a:r>
              <a:rPr lang="en-US"/>
              <a:t>      body: const Center(child: Text('Hello Scaffold')),</a:t>
            </a:r>
          </a:p>
          <a:p>
            <a:r>
              <a:rPr lang="en-US"/>
              <a:t>      floatingActionButton: FloatingActionButton(</a:t>
            </a:r>
          </a:p>
          <a:p>
            <a:r>
              <a:rPr lang="en-US"/>
              <a:t>        onPressed: () {}, child: const Icon(Icons.add),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86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Code demo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ThemedApp());</a:t>
            </a:r>
          </a:p>
          <a:p>
            <a:r>
              <a:rPr lang="en-US"/>
              <a:t>class ThemedApp extends StatelessWidget { const ThemedApp({super.key});</a:t>
            </a:r>
          </a:p>
          <a:p>
            <a:r>
              <a:rPr lang="en-US"/>
              <a:t>  @override Widget build(BuildContext context) {</a:t>
            </a:r>
          </a:p>
          <a:p>
            <a:r>
              <a:rPr lang="en-US"/>
              <a:t>    return MaterialApp(</a:t>
            </a:r>
          </a:p>
          <a:p>
            <a:r>
              <a:rPr lang="en-US"/>
              <a:t>      theme: ThemeData.light(useMaterial3: true),</a:t>
            </a:r>
          </a:p>
          <a:p>
            <a:r>
              <a:rPr lang="en-US"/>
              <a:t>      darkTheme: ThemeData.dark(useMaterial3: true),</a:t>
            </a:r>
          </a:p>
          <a:p>
            <a:r>
              <a:rPr lang="en-US"/>
              <a:t>      themeMode: ThemeMode.system, // Try ThemeMode.dark to preview</a:t>
            </a:r>
          </a:p>
          <a:p>
            <a:r>
              <a:rPr lang="en-US"/>
              <a:t>      home: const DemoTheme(),</a:t>
            </a:r>
          </a:p>
          <a:p>
            <a:r>
              <a:rPr lang="en-US"/>
              <a:t>    );</a:t>
            </a:r>
          </a:p>
          <a:p>
            <a:r>
              <a:rPr lang="en-US"/>
              <a:t>}}</a:t>
            </a:r>
          </a:p>
          <a:p>
            <a:r>
              <a:rPr lang="en-US"/>
              <a:t>class DemoTheme extends StatelessWidget { const DemoTheme({super.key});</a:t>
            </a:r>
          </a:p>
          <a:p>
            <a:r>
              <a:rPr lang="en-US"/>
              <a:t>  @override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Text('Theme Demo')),</a:t>
            </a:r>
          </a:p>
          <a:p>
            <a:r>
              <a:rPr lang="en-US"/>
              <a:t>      body: Center(</a:t>
            </a:r>
          </a:p>
          <a:p>
            <a:r>
              <a:rPr lang="en-US"/>
              <a:t>        child: Text('Current theme',</a:t>
            </a:r>
          </a:p>
          <a:p>
            <a:r>
              <a:rPr lang="en-US"/>
              <a:t>            style: Theme.of(context).textTheme.titleLarge),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/>
              <a:t>Notes</a:t>
            </a:r>
            <a:r>
              <a:rPr lang="en-US" sz="1200" i="1"/>
              <a:t> </a:t>
            </a:r>
          </a:p>
          <a:p>
            <a:pPr marL="0" indent="0">
              <a:buNone/>
            </a:pPr>
            <a:r>
              <a:rPr lang="en-US" b="0" i="0"/>
              <a:t>macOS users need Xcode for iOS builds.</a:t>
            </a:r>
          </a:p>
          <a:p>
            <a:r>
              <a:rPr lang="en-US" b="0" i="0"/>
              <a:t>Windows users should enable virtualization for emulator support.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70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SectionsApp());</a:t>
            </a:r>
          </a:p>
          <a:p>
            <a:r>
              <a:rPr lang="en-US"/>
              <a:t>class SectionsApp extends StatelessWidget { const SectionsApp({super.key});</a:t>
            </a:r>
          </a:p>
          <a:p>
            <a:r>
              <a:rPr lang="en-US"/>
              <a:t>  @override Widget build(BuildContext context) =&gt;</a:t>
            </a:r>
          </a:p>
          <a:p>
            <a:r>
              <a:rPr lang="en-US"/>
              <a:t>      const MaterialApp(home: SectionsHome());</a:t>
            </a:r>
          </a:p>
          <a:p>
            <a:r>
              <a:rPr lang="en-US"/>
              <a:t>}</a:t>
            </a:r>
          </a:p>
          <a:p>
            <a:r>
              <a:rPr lang="en-US"/>
              <a:t>class SectionsHome extends StatelessWidget { const SectionsHome({super.key});</a:t>
            </a:r>
          </a:p>
          <a:p>
            <a:r>
              <a:rPr lang="en-US"/>
              <a:t>  Widget section(String title) =&gt; Padding(</a:t>
            </a:r>
          </a:p>
          <a:p>
            <a:r>
              <a:rPr lang="en-US"/>
              <a:t>    padding: const EdgeInsets.symmetric(vertical: 8),</a:t>
            </a:r>
          </a:p>
          <a:p>
            <a:r>
              <a:rPr lang="en-US"/>
              <a:t>    child: Row(</a:t>
            </a:r>
          </a:p>
          <a:p>
            <a:r>
              <a:rPr lang="en-US"/>
              <a:t>      mainAxisAlignment: MainAxisAlignment.spaceBetween,</a:t>
            </a:r>
          </a:p>
          <a:p>
            <a:r>
              <a:rPr lang="en-US"/>
              <a:t>      children: [</a:t>
            </a:r>
          </a:p>
          <a:p>
            <a:r>
              <a:rPr lang="en-US"/>
              <a:t>        Text(title, style: const TextStyle(fontSize: 20, fontWeight: FontWeight.bold)),</a:t>
            </a:r>
          </a:p>
          <a:p>
            <a:r>
              <a:rPr lang="en-US"/>
              <a:t>        TextButton(onPressed: (){}, child: const Text('See all')),</a:t>
            </a:r>
          </a:p>
          <a:p>
            <a:r>
              <a:rPr lang="en-US"/>
              <a:t>      ],</a:t>
            </a:r>
          </a:p>
          <a:p>
            <a:r>
              <a:rPr lang="en-US"/>
              <a:t>    ),</a:t>
            </a:r>
          </a:p>
          <a:p>
            <a:r>
              <a:rPr lang="en-US"/>
              <a:t>  );</a:t>
            </a:r>
          </a:p>
          <a:p>
            <a:r>
              <a:rPr lang="en-US"/>
              <a:t>  @override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Text('Movies')),</a:t>
            </a:r>
          </a:p>
          <a:p>
            <a:r>
              <a:rPr lang="en-US"/>
              <a:t>      body: ListView(</a:t>
            </a:r>
          </a:p>
          <a:p>
            <a:r>
              <a:rPr lang="en-US"/>
              <a:t>        padding: const EdgeInsets.all(12),</a:t>
            </a:r>
          </a:p>
          <a:p>
            <a:r>
              <a:rPr lang="en-US"/>
              <a:t>        children: [</a:t>
            </a:r>
          </a:p>
          <a:p>
            <a:r>
              <a:rPr lang="en-US"/>
              <a:t>          section('Now Playing'), const Placeholder(fallbackHeight: 120),</a:t>
            </a:r>
          </a:p>
          <a:p>
            <a:r>
              <a:rPr lang="en-US"/>
              <a:t>          section('Trending'), const Placeholder(fallbackHeight: 120),</a:t>
            </a:r>
          </a:p>
          <a:p>
            <a:r>
              <a:rPr lang="en-US"/>
              <a:t>          section('Popular'), const Placeholder(fallbackHeight: 120),</a:t>
            </a:r>
          </a:p>
          <a:p>
            <a:r>
              <a:rPr lang="en-US"/>
              <a:t>          section('Top Rated'), const Placeholder(fallbackHeight: 120),</a:t>
            </a:r>
          </a:p>
          <a:p>
            <a:r>
              <a:rPr lang="en-US"/>
              <a:t>        ],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881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NavApp());</a:t>
            </a:r>
          </a:p>
          <a:p>
            <a:r>
              <a:rPr lang="en-US"/>
              <a:t>class NavApp extends StatelessWidget { const NavApp({super.key});</a:t>
            </a:r>
          </a:p>
          <a:p>
            <a:r>
              <a:rPr lang="en-US"/>
              <a:t>  @override Widget build(BuildContext context) =&gt;</a:t>
            </a:r>
          </a:p>
          <a:p>
            <a:r>
              <a:rPr lang="en-US"/>
              <a:t>      const MaterialApp(home: HomeTabs());</a:t>
            </a:r>
          </a:p>
          <a:p>
            <a:r>
              <a:rPr lang="en-US"/>
              <a:t>}</a:t>
            </a:r>
          </a:p>
          <a:p>
            <a:r>
              <a:rPr lang="en-US"/>
              <a:t>class HomeTabs extends StatefulWidget { const HomeTabs({super.key});</a:t>
            </a:r>
          </a:p>
          <a:p>
            <a:r>
              <a:rPr lang="en-US"/>
              <a:t>  @override State&lt;HomeTabs&gt; createState() =&gt; _HomeTabsState();</a:t>
            </a:r>
          </a:p>
          <a:p>
            <a:r>
              <a:rPr lang="en-US"/>
              <a:t>}</a:t>
            </a:r>
          </a:p>
          <a:p>
            <a:r>
              <a:rPr lang="en-US"/>
              <a:t>class _HomeTabsState extends State&lt;HomeTabs&gt; {</a:t>
            </a:r>
          </a:p>
          <a:p>
            <a:r>
              <a:rPr lang="en-US"/>
              <a:t>  int index = 0;</a:t>
            </a:r>
          </a:p>
          <a:p>
            <a:r>
              <a:rPr lang="en-US"/>
              <a:t>  final screens = const [</a:t>
            </a:r>
          </a:p>
          <a:p>
            <a:r>
              <a:rPr lang="en-US"/>
              <a:t>    Center(child: Text('Home')),</a:t>
            </a:r>
          </a:p>
          <a:p>
            <a:r>
              <a:rPr lang="en-US"/>
              <a:t>    Center(child: Text('Search')),</a:t>
            </a:r>
          </a:p>
          <a:p>
            <a:r>
              <a:rPr lang="en-US"/>
              <a:t>    Center(child: Text('Profile')),</a:t>
            </a:r>
          </a:p>
          <a:p>
            <a:r>
              <a:rPr lang="en-US"/>
              <a:t>  ];</a:t>
            </a:r>
          </a:p>
          <a:p>
            <a:r>
              <a:rPr lang="en-US"/>
              <a:t>  @override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Text('Movie App')),</a:t>
            </a:r>
          </a:p>
          <a:p>
            <a:r>
              <a:rPr lang="en-US"/>
              <a:t>      body: screens[index],</a:t>
            </a:r>
          </a:p>
          <a:p>
            <a:r>
              <a:rPr lang="en-US"/>
              <a:t>      bottomNavigationBar: BottomNavigationBar(</a:t>
            </a:r>
          </a:p>
          <a:p>
            <a:r>
              <a:rPr lang="en-US"/>
              <a:t>        currentIndex: index,</a:t>
            </a:r>
          </a:p>
          <a:p>
            <a:r>
              <a:rPr lang="en-US"/>
              <a:t>        onTap: (i) =&gt; setState(()=&gt; index = i),</a:t>
            </a:r>
          </a:p>
          <a:p>
            <a:r>
              <a:rPr lang="en-US"/>
              <a:t>        items: const [</a:t>
            </a:r>
          </a:p>
          <a:p>
            <a:r>
              <a:rPr lang="en-US"/>
              <a:t>          BottomNavigationBarItem(icon: Icon(Icons.home), label: 'Home'),</a:t>
            </a:r>
          </a:p>
          <a:p>
            <a:r>
              <a:rPr lang="en-US"/>
              <a:t>          BottomNavigationBarItem(icon: Icon(Icons.search), label: 'Search'),</a:t>
            </a:r>
          </a:p>
          <a:p>
            <a:r>
              <a:rPr lang="en-US"/>
              <a:t>          BottomNavigationBarItem(icon: Icon(Icons.person), label: 'Profile'),</a:t>
            </a:r>
          </a:p>
          <a:p>
            <a:r>
              <a:rPr lang="en-US"/>
              <a:t>        ],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412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ListApp());</a:t>
            </a:r>
          </a:p>
          <a:p>
            <a:endParaRPr lang="en-US"/>
          </a:p>
          <a:p>
            <a:r>
              <a:rPr lang="en-US"/>
              <a:t>class ListApp extends StatelessWidget {</a:t>
            </a:r>
          </a:p>
          <a:p>
            <a:r>
              <a:rPr lang="en-US"/>
              <a:t>  const ListApp({super.key});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=&gt;</a:t>
            </a:r>
          </a:p>
          <a:p>
            <a:r>
              <a:rPr lang="en-US"/>
              <a:t>      const MaterialApp(home: Titles());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Titles extends StatelessWidget {</a:t>
            </a:r>
          </a:p>
          <a:p>
            <a:r>
              <a:rPr lang="en-US"/>
              <a:t>  const Titles({super.key});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final items = const ['Godzilla x Kong','Dune: Part Two','The Batman','Oppenheimer'];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Text('ListView')),</a:t>
            </a:r>
          </a:p>
          <a:p>
            <a:r>
              <a:rPr lang="en-US"/>
              <a:t>      body: ListView.separated(</a:t>
            </a:r>
          </a:p>
          <a:p>
            <a:r>
              <a:rPr lang="en-US"/>
              <a:t>        itemCount: items.length,</a:t>
            </a:r>
          </a:p>
          <a:p>
            <a:r>
              <a:rPr lang="en-US"/>
              <a:t>        separatorBuilder: (_, __) =&gt; const Divider(height: 1),</a:t>
            </a:r>
          </a:p>
          <a:p>
            <a:r>
              <a:rPr lang="en-US"/>
              <a:t>        itemBuilder: (_, i) =&gt; ListTile(title: Text(items[i])),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10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TileApp());</a:t>
            </a:r>
          </a:p>
          <a:p>
            <a:endParaRPr lang="en-US"/>
          </a:p>
          <a:p>
            <a:r>
              <a:rPr lang="en-US"/>
              <a:t>class TileApp extends StatelessWidget {</a:t>
            </a:r>
          </a:p>
          <a:p>
            <a:r>
              <a:rPr lang="en-US"/>
              <a:t>  const TileApp({super.key});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=&gt;</a:t>
            </a:r>
          </a:p>
          <a:p>
            <a:r>
              <a:rPr lang="en-US"/>
              <a:t>      const MaterialApp(home: TileList());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TileList extends StatelessWidget {</a:t>
            </a:r>
          </a:p>
          <a:p>
            <a:r>
              <a:rPr lang="en-US"/>
              <a:t>  const TileList({super.key});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final movies = const [</a:t>
            </a:r>
          </a:p>
          <a:p>
            <a:r>
              <a:rPr lang="en-US"/>
              <a:t>      {'title':'Godzilla x Kong','year':'2024'},</a:t>
            </a:r>
          </a:p>
          <a:p>
            <a:r>
              <a:rPr lang="en-US"/>
              <a:t>      {'title':'Dune: Part Two','year':'2024'},</a:t>
            </a:r>
          </a:p>
          <a:p>
            <a:r>
              <a:rPr lang="en-US"/>
              <a:t>    ];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Text('ListTile + Avatar')),</a:t>
            </a:r>
          </a:p>
          <a:p>
            <a:r>
              <a:rPr lang="en-US"/>
              <a:t>      body: ListView.builder(</a:t>
            </a:r>
          </a:p>
          <a:p>
            <a:r>
              <a:rPr lang="en-US"/>
              <a:t>        itemCount: movies.length,</a:t>
            </a:r>
          </a:p>
          <a:p>
            <a:r>
              <a:rPr lang="en-US"/>
              <a:t>        itemBuilder: (_, i) {</a:t>
            </a:r>
          </a:p>
          <a:p>
            <a:r>
              <a:rPr lang="en-US"/>
              <a:t>          final m = movies[i];</a:t>
            </a:r>
          </a:p>
          <a:p>
            <a:r>
              <a:rPr lang="en-US"/>
              <a:t>          return ListTile(</a:t>
            </a:r>
          </a:p>
          <a:p>
            <a:r>
              <a:rPr lang="en-US"/>
              <a:t>            leading: CircleAvatar(child: Text(m['title']![0])),</a:t>
            </a:r>
          </a:p>
          <a:p>
            <a:r>
              <a:rPr lang="en-US"/>
              <a:t>            title: Text(m['title']!), subtitle: Text(m['year']!),</a:t>
            </a:r>
          </a:p>
          <a:p>
            <a:r>
              <a:rPr lang="en-US"/>
              <a:t>            trailing: const Icon(Icons.chevron_right),</a:t>
            </a:r>
          </a:p>
          <a:p>
            <a:r>
              <a:rPr lang="en-US"/>
              <a:t>            onTap: () =&gt; debugPrint('Selected ${m['title']}'),</a:t>
            </a:r>
          </a:p>
          <a:p>
            <a:r>
              <a:rPr lang="en-US"/>
              <a:t>          );</a:t>
            </a:r>
          </a:p>
          <a:p>
            <a:r>
              <a:rPr lang="en-US"/>
              <a:t>        },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47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E4A1-FA84-8FA5-CA31-2A722BF5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ABEA4C-69D6-132C-C523-BB26DA7332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46F9AC-E1BA-E204-B45C-563ED8565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Advantages</a:t>
            </a:r>
          </a:p>
          <a:p>
            <a:pPr lvl="1"/>
            <a:r>
              <a:rPr lang="en-US"/>
              <a:t>Fast startup &amp; low memory usage</a:t>
            </a:r>
          </a:p>
          <a:p>
            <a:pPr lvl="1"/>
            <a:r>
              <a:rPr lang="en-US"/>
              <a:t>Easy extensions management</a:t>
            </a:r>
          </a:p>
          <a:p>
            <a:pPr lvl="1"/>
            <a:r>
              <a:rPr lang="en-US"/>
              <a:t>Integrated terminal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9BB3-B150-F8E1-F8F1-9C24FCBC79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293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C492E-0BE6-B9A3-632F-96FD41DC9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48AF4-746C-911C-D1E2-D3BF167095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1E0C3-A19A-8EE0-6E90-2AF2259FC6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Code demo</a:t>
            </a:r>
          </a:p>
          <a:p>
            <a:endParaRPr lang="en-US"/>
          </a:p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PolishApp());</a:t>
            </a:r>
          </a:p>
          <a:p>
            <a:endParaRPr lang="en-US"/>
          </a:p>
          <a:p>
            <a:r>
              <a:rPr lang="en-US"/>
              <a:t>class PolishApp extends StatelessWidget {</a:t>
            </a:r>
          </a:p>
          <a:p>
            <a:r>
              <a:rPr lang="en-US"/>
              <a:t>  const PolishApp({super.key});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=&gt;</a:t>
            </a:r>
          </a:p>
          <a:p>
            <a:r>
              <a:rPr lang="en-US"/>
              <a:t>      const MaterialApp(home: Polish());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Polish extends StatelessWidget {</a:t>
            </a:r>
          </a:p>
          <a:p>
            <a:r>
              <a:rPr lang="en-US"/>
              <a:t>  const Polish({super.key});</a:t>
            </a:r>
          </a:p>
          <a:p>
            <a:endParaRPr lang="en-US"/>
          </a:p>
          <a:p>
            <a:r>
              <a:rPr lang="en-US"/>
              <a:t>  Widget tile(String t, String s) =&gt; Card(</a:t>
            </a:r>
          </a:p>
          <a:p>
            <a:r>
              <a:rPr lang="en-US"/>
              <a:t>    margin: const EdgeInsets.symmetric(vertical: 6),</a:t>
            </a:r>
          </a:p>
          <a:p>
            <a:r>
              <a:rPr lang="en-US"/>
              <a:t>    child: ListTile(title: Text(t), subtitle: Text(s)),</a:t>
            </a:r>
          </a:p>
          <a:p>
            <a:r>
              <a:rPr lang="en-US"/>
              <a:t>  );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Text('Layout Polish')),</a:t>
            </a:r>
          </a:p>
          <a:p>
            <a:r>
              <a:rPr lang="en-US"/>
              <a:t>      body: Padding(</a:t>
            </a:r>
          </a:p>
          <a:p>
            <a:r>
              <a:rPr lang="en-US"/>
              <a:t>        padding: const EdgeInsets.all(12),</a:t>
            </a:r>
          </a:p>
          <a:p>
            <a:r>
              <a:rPr lang="en-US"/>
              <a:t>        child: Column(</a:t>
            </a:r>
          </a:p>
          <a:p>
            <a:r>
              <a:rPr lang="en-US"/>
              <a:t>          children: [</a:t>
            </a:r>
          </a:p>
          <a:p>
            <a:r>
              <a:rPr lang="en-US"/>
              <a:t>            tile('Spacing matters', 'Use padding/margin'),</a:t>
            </a:r>
          </a:p>
          <a:p>
            <a:r>
              <a:rPr lang="en-US"/>
              <a:t>            const SizedBox(height: 8),</a:t>
            </a:r>
          </a:p>
          <a:p>
            <a:r>
              <a:rPr lang="en-US"/>
              <a:t>            tile('Consistency', 'Use the same spacing scale'),</a:t>
            </a:r>
          </a:p>
          <a:p>
            <a:r>
              <a:rPr lang="en-US"/>
              <a:t>          ],</a:t>
            </a:r>
          </a:p>
          <a:p>
            <a:r>
              <a:rPr lang="en-US"/>
              <a:t>        ),</a:t>
            </a:r>
          </a:p>
          <a:p>
            <a:r>
              <a:rPr lang="en-US"/>
              <a:t>      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64B35-F3E7-BDD5-492F-BE7DDD9643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534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BB88-4239-0D2C-615F-23FE76E2B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EAD2C-5FA3-D446-B3EB-3AF6078DE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EC3602-9FD5-1497-62C6-8F43D9562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import 'package:flutter/material.dart';</a:t>
            </a:r>
          </a:p>
          <a:p>
            <a:r>
              <a:rPr lang="en-US"/>
              <a:t>void main() =&gt; runApp(const BookingApp());</a:t>
            </a:r>
          </a:p>
          <a:p>
            <a:endParaRPr lang="en-US"/>
          </a:p>
          <a:p>
            <a:r>
              <a:rPr lang="en-US"/>
              <a:t>class BookingApp extends StatelessWidget {</a:t>
            </a:r>
          </a:p>
          <a:p>
            <a:r>
              <a:rPr lang="en-US"/>
              <a:t>  const BookingApp({super.key});</a:t>
            </a:r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=&gt;</a:t>
            </a:r>
          </a:p>
          <a:p>
            <a:r>
              <a:rPr lang="en-US"/>
              <a:t>      const MaterialApp(home: Booking());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Booking extends StatefulWidget {</a:t>
            </a:r>
          </a:p>
          <a:p>
            <a:r>
              <a:rPr lang="en-US"/>
              <a:t>  const Booking({super.key});</a:t>
            </a:r>
          </a:p>
          <a:p>
            <a:r>
              <a:rPr lang="en-US"/>
              <a:t>  @override State&lt;Booking&gt; createState() =&gt; _BookingState();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class _BookingState extends State&lt;Booking&gt; {</a:t>
            </a:r>
          </a:p>
          <a:p>
            <a:r>
              <a:rPr lang="en-US"/>
              <a:t>  DateTime? d; TimeOfDay? t;</a:t>
            </a:r>
          </a:p>
          <a:p>
            <a:endParaRPr lang="en-US"/>
          </a:p>
          <a:p>
            <a:r>
              <a:rPr lang="en-US"/>
              <a:t>  Future&lt;void&gt; pickDate() async {</a:t>
            </a:r>
          </a:p>
          <a:p>
            <a:r>
              <a:rPr lang="en-US"/>
              <a:t>    final x = await showDatePicker(</a:t>
            </a:r>
          </a:p>
          <a:p>
            <a:r>
              <a:rPr lang="en-US"/>
              <a:t>      context: context, initialDate: DateTime.now(),</a:t>
            </a:r>
          </a:p>
          <a:p>
            <a:r>
              <a:rPr lang="en-US"/>
              <a:t>      firstDate: DateTime(2020), lastDate: DateTime(2100));</a:t>
            </a:r>
          </a:p>
          <a:p>
            <a:r>
              <a:rPr lang="en-US"/>
              <a:t>    if (x != null) setState(()=&gt; d = x);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Future&lt;void&gt; pickTime() async {</a:t>
            </a:r>
          </a:p>
          <a:p>
            <a:r>
              <a:rPr lang="en-US"/>
              <a:t>    final x = await showTimePicker(</a:t>
            </a:r>
          </a:p>
          <a:p>
            <a:r>
              <a:rPr lang="en-US"/>
              <a:t>      context: context, initialTime: TimeOfDay.now());</a:t>
            </a:r>
          </a:p>
          <a:p>
            <a:r>
              <a:rPr lang="en-US"/>
              <a:t>    if (x != null) setState(()=&gt; t = x);</a:t>
            </a:r>
          </a:p>
          <a:p>
            <a:r>
              <a:rPr lang="en-US"/>
              <a:t>  }</a:t>
            </a:r>
          </a:p>
          <a:p>
            <a:endParaRPr lang="en-US"/>
          </a:p>
          <a:p>
            <a:r>
              <a:rPr lang="en-US"/>
              <a:t>  @override</a:t>
            </a:r>
          </a:p>
          <a:p>
            <a:r>
              <a:rPr lang="en-US"/>
              <a:t>  Widget build(BuildContext context) {</a:t>
            </a:r>
          </a:p>
          <a:p>
            <a:r>
              <a:rPr lang="en-US"/>
              <a:t>    final dateText = d == null ? 'No date' : '${d!.year}-${d!.month}-${d!.day}';</a:t>
            </a:r>
          </a:p>
          <a:p>
            <a:r>
              <a:rPr lang="en-US"/>
              <a:t>    final timeText = t == null ? 'No time' : t!.format(context);</a:t>
            </a:r>
          </a:p>
          <a:p>
            <a:r>
              <a:rPr lang="en-US"/>
              <a:t>    return Scaffold(</a:t>
            </a:r>
          </a:p>
          <a:p>
            <a:r>
              <a:rPr lang="en-US"/>
              <a:t>      appBar: AppBar(title: const Text('Booking')),</a:t>
            </a:r>
          </a:p>
          <a:p>
            <a:r>
              <a:rPr lang="en-US"/>
              <a:t>      body: Center(child: Column(</a:t>
            </a:r>
          </a:p>
          <a:p>
            <a:r>
              <a:rPr lang="en-US"/>
              <a:t>        mainAxisAlignment: MainAxisAlignment.center,</a:t>
            </a:r>
          </a:p>
          <a:p>
            <a:r>
              <a:rPr lang="en-US"/>
              <a:t>        children: [</a:t>
            </a:r>
          </a:p>
          <a:p>
            <a:r>
              <a:rPr lang="en-US"/>
              <a:t>          Text('Date: $dateText'), const SizedBox(height: 8),</a:t>
            </a:r>
          </a:p>
          <a:p>
            <a:r>
              <a:rPr lang="en-US"/>
              <a:t>          Text('Time: $timeText'), const SizedBox(height: 16),</a:t>
            </a:r>
          </a:p>
          <a:p>
            <a:r>
              <a:rPr lang="en-US"/>
              <a:t>          ElevatedButton(onPressed: pickDate, child: const Text('Pick Date')),</a:t>
            </a:r>
          </a:p>
          <a:p>
            <a:r>
              <a:rPr lang="en-US"/>
              <a:t>          const SizedBox(height: 8),</a:t>
            </a:r>
          </a:p>
          <a:p>
            <a:r>
              <a:rPr lang="en-US"/>
              <a:t>          ElevatedButton(onPressed: pickTime, child: const Text('Pick Time')),</a:t>
            </a:r>
          </a:p>
          <a:p>
            <a:r>
              <a:rPr lang="en-US"/>
              <a:t>        ],</a:t>
            </a:r>
          </a:p>
          <a:p>
            <a:r>
              <a:rPr lang="en-US"/>
              <a:t>      )),</a:t>
            </a:r>
          </a:p>
          <a:p>
            <a:r>
              <a:rPr lang="en-US"/>
              <a:t>    );</a:t>
            </a:r>
          </a:p>
          <a:p>
            <a:r>
              <a:rPr lang="en-US"/>
              <a:t>  }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A211D-43F6-2B19-5A9F-99D923A36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401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7545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0463399A-8418-E16A-6EAF-0947C3A13AD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80901"/>
            <a:ext cx="2893566" cy="897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3869580A-ABE6-DD60-18A9-94D14D78ED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0" y="23347"/>
            <a:ext cx="1683444" cy="52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ev/?id=icon-widget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dartpad.dev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36622" y="3797574"/>
            <a:ext cx="8195734" cy="1827699"/>
          </a:xfrm>
        </p:spPr>
        <p:txBody>
          <a:bodyPr>
            <a:normAutofit/>
          </a:bodyPr>
          <a:lstStyle/>
          <a:p>
            <a:pPr algn="ctr"/>
            <a:r>
              <a:rPr lang="en-US" sz="4000"/>
              <a:t>Module 4 - Widgets &amp; Basic Screens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Contents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0800" y="1157171"/>
            <a:ext cx="8991405" cy="4735630"/>
          </a:xfrm>
        </p:spPr>
        <p:txBody>
          <a:bodyPr/>
          <a:lstStyle/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Introduction: Everything is a Widget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Core Widgets (Text, Image, Icon, Card, ListTile)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Input Widgets (Slider, Switch, Radio, Pickers)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Layout Basics (Column, Row, ListView, Padding)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App Structure (Scaffold, Theme, Navigation)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Design Polish (Spacing, Consistency)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Common Errors &amp; Fixes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Practice Task &amp; Summary</a:t>
            </a:r>
            <a:r>
              <a:rPr lang="en-US" altLang="en-US" sz="2000" b="0"/>
              <a:t>	</a:t>
            </a:r>
            <a:endParaRPr lang="en-US" sz="2000" b="0"/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83990"/>
            <a:ext cx="10972800" cy="818503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Everything is a Widget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556" y="1608208"/>
            <a:ext cx="4007555" cy="4370920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000" b="0"/>
              <a:t>In Flutter, the UI is built by composing widgets.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Widgets describe structure (layout), appearance (style), and behavior (interaction).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Every screen, every button, every text = widget</a:t>
            </a:r>
          </a:p>
        </p:txBody>
      </p:sp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F0F3B7F2-9876-EEAD-3E9B-C954E5FB4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623983" y="1986252"/>
            <a:ext cx="4583289" cy="2987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113EAA-4065-723A-9715-DF90F319A503}"/>
              </a:ext>
            </a:extLst>
          </p:cNvPr>
          <p:cNvSpPr txBox="1"/>
          <p:nvPr/>
        </p:nvSpPr>
        <p:spPr>
          <a:xfrm>
            <a:off x="5492043" y="1382505"/>
            <a:ext cx="457200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lang="en-US"/>
              <a:t>Example run with Dartpab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68AE87-EC28-6077-1504-FBF306C41688}"/>
              </a:ext>
            </a:extLst>
          </p:cNvPr>
          <p:cNvSpPr txBox="1"/>
          <p:nvPr/>
        </p:nvSpPr>
        <p:spPr>
          <a:xfrm>
            <a:off x="5616221" y="5298374"/>
            <a:ext cx="4572000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/>
            </a:pPr>
            <a:r>
              <a:rPr lang="en-US"/>
              <a:t>Output Preview: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60AEFCE-C809-414E-3F8D-15DED743E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8715" y="5166715"/>
            <a:ext cx="2957690" cy="8124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Material Icons</a:t>
            </a:r>
            <a:endParaRPr sz="32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E7EFC6A-81A6-BA13-EE84-991020FC6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378" y="1600731"/>
            <a:ext cx="4425244" cy="4525699"/>
          </a:xfrm>
        </p:spPr>
        <p:txBody>
          <a:bodyPr/>
          <a:lstStyle/>
          <a:p>
            <a:r>
              <a:rPr lang="en-US" b="0"/>
              <a:t>Icons in Flutter come from Material Design Icons library.</a:t>
            </a:r>
            <a:br>
              <a:rPr lang="en-US" b="0"/>
            </a:br>
            <a:r>
              <a:rPr lang="en-US" b="0"/>
              <a:t>They give consistent UI across devices.</a:t>
            </a:r>
          </a:p>
          <a:p>
            <a:r>
              <a:rPr lang="en-US" b="0"/>
              <a:t>When to use</a:t>
            </a:r>
          </a:p>
          <a:p>
            <a:pPr lvl="1"/>
            <a:r>
              <a:rPr lang="en-US" sz="2400"/>
              <a:t>Navigation buttons</a:t>
            </a:r>
          </a:p>
          <a:p>
            <a:pPr lvl="1"/>
            <a:r>
              <a:rPr lang="en-US" sz="2400"/>
              <a:t>Action buttons (add, delete)</a:t>
            </a:r>
          </a:p>
          <a:p>
            <a:pPr lvl="1"/>
            <a:r>
              <a:rPr lang="en-US" sz="2400"/>
              <a:t>Status indicators</a:t>
            </a:r>
          </a:p>
          <a:p>
            <a:endParaRPr lang="en-US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E5C2B61-7EC9-2FB3-3E82-621023C6E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689" y="1600731"/>
            <a:ext cx="5260621" cy="43594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Example Material Icons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667" y="2743201"/>
            <a:ext cx="4684889" cy="1783643"/>
          </a:xfrm>
        </p:spPr>
        <p:txBody>
          <a:bodyPr/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400"/>
              <a:t>Example: Test in DartPad: </a:t>
            </a:r>
            <a:r>
              <a:rPr lang="en-US" sz="2400">
                <a:hlinkClick r:id="rId3"/>
              </a:rPr>
              <a:t>https://dartpad.dev/?id=icon-widget</a:t>
            </a:r>
            <a:r>
              <a:rPr lang="en-US" sz="240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/>
              <a:t>Output </a:t>
            </a:r>
            <a:r>
              <a:rPr lang="en-US" sz="2400">
                <a:sym typeface="Wingdings" panose="05000000000000000000" pitchFamily="2" charset="2"/>
              </a:rPr>
              <a:t> </a:t>
            </a:r>
            <a:endParaRPr lang="en-US" sz="2400"/>
          </a:p>
          <a:p>
            <a:pPr lvl="1">
              <a:buFont typeface="Arial" panose="020B0604020202020204" pitchFamily="34" charset="0"/>
              <a:buChar char="•"/>
            </a:pPr>
            <a:endParaRPr lang="en-US"/>
          </a:p>
          <a:p>
            <a:pPr lvl="1">
              <a:buFont typeface="Arial" panose="020B0604020202020204" pitchFamily="34" charset="0"/>
              <a:buChar char="•"/>
            </a:pPr>
            <a:endParaRPr lang="en-US"/>
          </a:p>
          <a:p>
            <a:pPr marL="456712" lvl="1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2C5B6-3C7C-EB9C-E15D-F21F5DD9E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0902" y="1600731"/>
            <a:ext cx="4330698" cy="4664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F1472D-AD87-36D8-9584-C41DC46473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963" y="3764844"/>
            <a:ext cx="904875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DatePicker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778" y="1600731"/>
            <a:ext cx="4513755" cy="4525699"/>
          </a:xfrm>
        </p:spPr>
        <p:txBody>
          <a:bodyPr/>
          <a:lstStyle/>
          <a:p>
            <a:pPr>
              <a:defRPr sz="1800"/>
            </a:pPr>
            <a:r>
              <a:rPr lang="en-US" sz="2400" b="0"/>
              <a:t>Material date picker allows users to select a date from a calendar UI</a:t>
            </a:r>
          </a:p>
          <a:p>
            <a:r>
              <a:rPr lang="en-US" sz="2400" b="0"/>
              <a:t>Real uses</a:t>
            </a:r>
          </a:p>
          <a:p>
            <a:pPr lvl="1"/>
            <a:r>
              <a:rPr lang="en-US"/>
              <a:t>Booking apps</a:t>
            </a:r>
          </a:p>
          <a:p>
            <a:pPr lvl="1"/>
            <a:r>
              <a:rPr lang="en-US"/>
              <a:t>Calendar tasks</a:t>
            </a:r>
          </a:p>
          <a:p>
            <a:pPr lvl="1"/>
            <a:r>
              <a:rPr lang="en-US"/>
              <a:t>Form inputs (date of birth, appointment)</a:t>
            </a:r>
          </a:p>
        </p:txBody>
      </p:sp>
      <p:pic>
        <p:nvPicPr>
          <p:cNvPr id="6" name="Picture 5" descr="A screenshot of a calendar&#10;&#10;AI-generated content may be incorrect.">
            <a:extLst>
              <a:ext uri="{FF2B5EF4-FFF2-40B4-BE49-F238E27FC236}">
                <a16:creationId xmlns:a16="http://schemas.microsoft.com/office/drawing/2014/main" id="{6070F7BD-73F6-3AF3-D605-5AE85688A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49" y="1793699"/>
            <a:ext cx="4458421" cy="38507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7F0638-2876-D5F2-EE27-BC1BA13EF523}"/>
              </a:ext>
            </a:extLst>
          </p:cNvPr>
          <p:cNvSpPr txBox="1"/>
          <p:nvPr/>
        </p:nvSpPr>
        <p:spPr>
          <a:xfrm>
            <a:off x="6846711" y="5208331"/>
            <a:ext cx="2387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>
                <a:solidFill>
                  <a:srgbClr val="000000"/>
                </a:solidFill>
                <a:latin typeface="DejaVuSerif-BoldItalic"/>
              </a:rPr>
              <a:t>Figure 4.2</a:t>
            </a:r>
            <a:r>
              <a:rPr lang="en-US" i="1">
                <a:solidFill>
                  <a:srgbClr val="000000"/>
                </a:solidFill>
                <a:latin typeface="DejaVuSerif-Italic"/>
              </a:rPr>
              <a:t>: DatePicker</a:t>
            </a:r>
            <a:r>
              <a:rPr lang="en-US"/>
              <a:t> </a:t>
            </a:r>
            <a:br>
              <a:rPr lang="en-US"/>
            </a:b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322850"/>
            <a:ext cx="10972800" cy="818503"/>
          </a:xfrm>
        </p:spPr>
        <p:txBody>
          <a:bodyPr/>
          <a:lstStyle/>
          <a:p>
            <a:pPr algn="ctr">
              <a:defRPr sz="1800"/>
            </a:pPr>
            <a:r>
              <a:rPr lang="en-US" sz="3200"/>
              <a:t>Code Example DatePicker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AE36B99-F519-3E13-C509-A2A6A993A9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6670747" y="1417378"/>
            <a:ext cx="4076276" cy="4708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C03B8C-6B02-4815-378A-756EA9E65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220" y="1417379"/>
            <a:ext cx="4401608" cy="47085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RadioListTile (Single Choice)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822" y="1456268"/>
            <a:ext cx="8810783" cy="5159022"/>
          </a:xfrm>
        </p:spPr>
        <p:txBody>
          <a:bodyPr/>
          <a:lstStyle/>
          <a:p>
            <a:r>
              <a:rPr lang="en-US" b="0"/>
              <a:t>RadioListTile</a:t>
            </a:r>
            <a:r>
              <a:rPr lang="en-US" sz="2000" b="0"/>
              <a:t> lets users pick one option from a group.</a:t>
            </a:r>
          </a:p>
          <a:p>
            <a:endParaRPr lang="en-US" sz="2000" b="0"/>
          </a:p>
          <a:p>
            <a:endParaRPr lang="en-US" sz="2000" b="0"/>
          </a:p>
          <a:p>
            <a:r>
              <a:rPr lang="en-US" sz="2000"/>
              <a:t>Structure (template)</a:t>
            </a:r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  <a:p>
            <a:endParaRPr lang="en-US" sz="2000" b="0"/>
          </a:p>
        </p:txBody>
      </p:sp>
      <p:pic>
        <p:nvPicPr>
          <p:cNvPr id="8" name="Picture 7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2E932B05-7FE2-4A4F-3BA5-45E163101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450" y="2011398"/>
            <a:ext cx="3208513" cy="1008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A35123E-506B-0AB0-6B40-9D851DB8A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3463" y="3429000"/>
            <a:ext cx="5143500" cy="305752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Slider (Continuous Value)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578" y="1609727"/>
            <a:ext cx="4299233" cy="4881384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400" b="0"/>
              <a:t>Slider allows users to adjust a value continuously between a range.</a:t>
            </a:r>
          </a:p>
          <a:p>
            <a:pPr>
              <a:lnSpc>
                <a:spcPct val="150000"/>
              </a:lnSpc>
              <a:defRPr sz="1800"/>
            </a:pPr>
            <a:endParaRPr lang="en-US" sz="2400" b="0"/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Structure (template) </a:t>
            </a:r>
            <a:r>
              <a:rPr lang="en-US" sz="2400" b="0">
                <a:sym typeface="Wingdings" panose="05000000000000000000" pitchFamily="2" charset="2"/>
              </a:rPr>
              <a:t></a:t>
            </a:r>
            <a:endParaRPr lang="en-US" sz="2400" b="0"/>
          </a:p>
          <a:p>
            <a:endParaRPr lang="en-US" sz="18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sz="2000" b="0"/>
          </a:p>
        </p:txBody>
      </p:sp>
      <p:pic>
        <p:nvPicPr>
          <p:cNvPr id="9" name="Picture 8" descr="A white background with a black line&#10;&#10;AI-generated content may be incorrect.">
            <a:extLst>
              <a:ext uri="{FF2B5EF4-FFF2-40B4-BE49-F238E27FC236}">
                <a16:creationId xmlns:a16="http://schemas.microsoft.com/office/drawing/2014/main" id="{0422B2FF-D53F-B8F0-B158-F9A193B61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334" y="1803669"/>
            <a:ext cx="5190137" cy="8927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990AB5-D28D-7585-79ED-CB27D82F4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334" y="3132314"/>
            <a:ext cx="5190137" cy="3217686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  <a:tint val="66000"/>
                  <a:satMod val="160000"/>
                </a:schemeClr>
              </a:gs>
              <a:gs pos="50000">
                <a:schemeClr val="tx1">
                  <a:lumMod val="50000"/>
                  <a:lumOff val="50000"/>
                  <a:tint val="44500"/>
                  <a:satMod val="160000"/>
                </a:schemeClr>
              </a:gs>
              <a:gs pos="100000">
                <a:schemeClr val="tx1">
                  <a:lumMod val="50000"/>
                  <a:lumOff val="5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Switch (Boolean Toggle)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3422" y="1600731"/>
            <a:ext cx="9922934" cy="5125019"/>
          </a:xfrm>
        </p:spPr>
        <p:txBody>
          <a:bodyPr/>
          <a:lstStyle/>
          <a:p>
            <a:r>
              <a:rPr lang="en-US" sz="2400" b="0"/>
              <a:t>Switch toggles a boolean value (ON/OFF).</a:t>
            </a:r>
          </a:p>
          <a:p>
            <a:endParaRPr lang="en-US" sz="2000" b="0"/>
          </a:p>
          <a:p>
            <a:endParaRPr lang="en-US" sz="2000" b="0"/>
          </a:p>
          <a:p>
            <a:endParaRPr lang="en-US" sz="2400" b="0"/>
          </a:p>
          <a:p>
            <a:r>
              <a:rPr lang="en-US" sz="2400" b="0"/>
              <a:t>Use: Enable notifications, dark mode, or toggling options.</a:t>
            </a:r>
          </a:p>
          <a:p>
            <a:endParaRPr lang="en-US" sz="2000" b="0"/>
          </a:p>
          <a:p>
            <a:endParaRPr lang="en-US" sz="2000" b="0"/>
          </a:p>
          <a:p>
            <a:r>
              <a:rPr lang="en-US" sz="2400" b="0"/>
              <a:t>Structure (template) </a:t>
            </a:r>
          </a:p>
          <a:p>
            <a:pPr marL="0" indent="0">
              <a:buNone/>
              <a:defRPr sz="1800"/>
            </a:pPr>
            <a:endParaRPr/>
          </a:p>
        </p:txBody>
      </p:sp>
      <p:pic>
        <p:nvPicPr>
          <p:cNvPr id="5" name="Picture 4" descr="A close-up of a switch&#10;&#10;AI-generated content may be incorrect.">
            <a:extLst>
              <a:ext uri="{FF2B5EF4-FFF2-40B4-BE49-F238E27FC236}">
                <a16:creationId xmlns:a16="http://schemas.microsoft.com/office/drawing/2014/main" id="{A5853170-2037-A208-0C73-80F8485D3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522" y="2180434"/>
            <a:ext cx="3257550" cy="11144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44AF4E1-BD89-D50D-764A-93EE57AF6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522" y="4018843"/>
            <a:ext cx="4800600" cy="25909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TimePicker (dialog)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379" y="1600730"/>
            <a:ext cx="9539110" cy="4980692"/>
          </a:xfrm>
        </p:spPr>
        <p:txBody>
          <a:bodyPr/>
          <a:lstStyle/>
          <a:p>
            <a:r>
              <a:rPr lang="en-US" sz="2400" b="0"/>
              <a:t>Concept: show TimePicker opens a Material-style time selection dialog.</a:t>
            </a:r>
          </a:p>
          <a:p>
            <a:r>
              <a:rPr lang="en-US" sz="2400" b="0"/>
              <a:t>Use: Appointment scheduling, alarms, or showtime selection.</a:t>
            </a:r>
          </a:p>
          <a:p>
            <a:endParaRPr lang="en-US" sz="2000" b="0"/>
          </a:p>
          <a:p>
            <a:pPr marL="0" indent="0">
              <a:buNone/>
            </a:pPr>
            <a:r>
              <a:rPr lang="en-US" sz="2000" b="0"/>
              <a:t> </a:t>
            </a:r>
          </a:p>
          <a:p>
            <a:endParaRPr lang="en-US" sz="2000" b="0"/>
          </a:p>
          <a:p>
            <a:endParaRPr lang="en-US" sz="2000" b="0"/>
          </a:p>
          <a:p>
            <a:pPr>
              <a:lnSpc>
                <a:spcPct val="200000"/>
              </a:lnSpc>
              <a:defRPr sz="1800"/>
            </a:pPr>
            <a:endParaRPr sz="2000" b="0"/>
          </a:p>
        </p:txBody>
      </p:sp>
      <p:pic>
        <p:nvPicPr>
          <p:cNvPr id="11" name="Picture 10" descr="A screenshot of a clock&#10;&#10;AI-generated content may be incorrect.">
            <a:extLst>
              <a:ext uri="{FF2B5EF4-FFF2-40B4-BE49-F238E27FC236}">
                <a16:creationId xmlns:a16="http://schemas.microsoft.com/office/drawing/2014/main" id="{2BA55B00-C15B-94D5-3A57-DF1ABA382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800" y="2898953"/>
            <a:ext cx="6815490" cy="35310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Scaffold (First Screen)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395B-4010-0F0F-99FC-5F0217B0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778" y="1600730"/>
            <a:ext cx="5091289" cy="4749270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400" b="0"/>
              <a:t>Concept: Scaffold is the backbone of a Material screen.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It provides AppBar, Body, FloatingActionButton, and other structural elements.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Use: Every major screen in your app.</a:t>
            </a:r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3099D-5C46-2152-6DC2-3CB0BE9BD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999" y="1575330"/>
            <a:ext cx="2822223" cy="474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66A7-0F27-D5E2-F9B1-3AA9C118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35C8-F41C-6841-3EFE-DADEBFD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Theme &amp; Dark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253BB-EFE2-D15F-5FCB-9DECDC5B6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534" y="1600731"/>
            <a:ext cx="5621868" cy="45256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800" b="0"/>
              <a:t>Concept: ThemeData defines global color, typography, and shapes across your app.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800" b="0"/>
              <a:t>Use: darkTheme and themeMode to switch between modes.</a:t>
            </a:r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1168C9-BDB9-B8A7-3776-6C6424169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807" y="1688834"/>
            <a:ext cx="2745148" cy="452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177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Image (Poster Detail)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25633"/>
            <a:ext cx="6524979" cy="5121083"/>
          </a:xfrm>
        </p:spPr>
        <p:txBody>
          <a:bodyPr/>
          <a:lstStyle/>
          <a:p>
            <a:r>
              <a:rPr lang="en-US" sz="2000" b="0"/>
              <a:t>Concept: Image.network or Image.asset displays pictures with scaling via BoxFit.</a:t>
            </a:r>
          </a:p>
          <a:p>
            <a:r>
              <a:rPr lang="en-US" sz="2000" b="0"/>
              <a:t>Use Case: Used for posters, banners, or product images.</a:t>
            </a:r>
          </a:p>
          <a:p>
            <a:endParaRPr lang="en-US" b="0"/>
          </a:p>
          <a:p>
            <a:endParaRPr lang="en-US" b="0"/>
          </a:p>
          <a:p>
            <a:endParaRPr lang="en-US" b="0"/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/>
              <a:t>	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A836AC-FD32-A3B2-D8EA-49ED1D80C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855" y="2987675"/>
            <a:ext cx="4501268" cy="33623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1FF2A3-91B1-C5FD-9C5C-B7CE159BA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074" y="1632949"/>
            <a:ext cx="2720071" cy="49137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8C6C-474F-DD13-BF4F-D55CEA51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Sectioned Home Screen (Layout)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DA42F-F0BA-6E61-767E-D2768C8D6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5357" y="1600731"/>
            <a:ext cx="4024288" cy="4525699"/>
          </a:xfrm>
        </p:spPr>
        <p:txBody>
          <a:bodyPr/>
          <a:lstStyle/>
          <a:p>
            <a:r>
              <a:rPr lang="en-US" sz="2400" b="0"/>
              <a:t>Concept: Column, Padding, and ListView build vertical UI sections. </a:t>
            </a:r>
          </a:p>
          <a:p>
            <a:r>
              <a:rPr lang="en-US" sz="2400" b="0"/>
              <a:t>Common in movie, product, or news apps.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9B9A28-B59A-49B8-7821-A1B6ECECF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837" y="1600731"/>
            <a:ext cx="2388806" cy="452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875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7C65E-5F0E-FDEF-C2BF-AF9997AB7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3C381-0936-08B2-7563-CFC9231F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Bottom Navigation Bar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E4E7B-4FDC-52B7-C36D-F0FB4BE1A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402" y="1600731"/>
            <a:ext cx="4520999" cy="4525699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800" b="0"/>
              <a:t>Concept: Displays 2–5 navigation tabs at the bottom.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800" b="0"/>
              <a:t>Used for quick switching between app views.</a:t>
            </a:r>
            <a:endParaRPr lang="en-US" sz="2400" b="0"/>
          </a:p>
          <a:p>
            <a:pPr>
              <a:lnSpc>
                <a:spcPct val="150000"/>
              </a:lnSpc>
              <a:defRPr sz="1800"/>
            </a:pPr>
            <a:endParaRPr lang="en-US" sz="20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B44FCE-F814-4440-1E9A-4746E127D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020" y="1600730"/>
            <a:ext cx="2606230" cy="452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83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Card + ListTile</a:t>
            </a:r>
            <a:endParaRPr sz="32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1D5ED51-0DC9-F28B-2AFB-53E5D72F1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6783" y="1369369"/>
            <a:ext cx="5920821" cy="1650468"/>
          </a:xfrm>
        </p:spPr>
        <p:txBody>
          <a:bodyPr/>
          <a:lstStyle/>
          <a:p>
            <a:r>
              <a:rPr lang="en-US" sz="2400" b="0"/>
              <a:t>Card + ListTile = material pattern for displaying concise information.</a:t>
            </a:r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098E09-F169-5C41-3254-D79BA2549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75" y="1817512"/>
            <a:ext cx="2606409" cy="4775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21628A-B5F5-A185-058A-5DDCB5D8A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783" y="2364318"/>
            <a:ext cx="523875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F7AED-1424-E0F9-0CF7-83F9F6D44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49C35-46F5-E5F8-2734-BDB43C3A6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ListView Basics (Movie Titles)</a:t>
            </a:r>
            <a:endParaRPr sz="32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1EF7D6-FEEA-AE6F-85E9-AB560F6D8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1778" y="1600730"/>
            <a:ext cx="4933245" cy="4416248"/>
          </a:xfrm>
        </p:spPr>
        <p:txBody>
          <a:bodyPr/>
          <a:lstStyle/>
          <a:p>
            <a:r>
              <a:rPr lang="en-US" sz="2400" b="0"/>
              <a:t>ListView creates a scrollable column; use separated or builder for long lists.</a:t>
            </a:r>
          </a:p>
          <a:p>
            <a:r>
              <a:rPr lang="en-US" sz="2400" b="0"/>
              <a:t>Use Case: Movie titles, product names, chat items.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6908C-8698-C8C4-7D21-637985EF1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585" y="1600730"/>
            <a:ext cx="2645637" cy="441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58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ListTile + CircleAvatar Widgets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5644" y="1600731"/>
            <a:ext cx="5384800" cy="4525699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sz="2400" b="0"/>
              <a:t>Concept: ListTile provides a standard row layout; CircleAvatar gives a modern leading visual.</a:t>
            </a:r>
          </a:p>
          <a:p>
            <a:pPr>
              <a:lnSpc>
                <a:spcPct val="200000"/>
              </a:lnSpc>
            </a:pPr>
            <a:r>
              <a:rPr lang="en-US" sz="2400" b="0"/>
              <a:t>Use Case: Contact list, movie list, product list.</a:t>
            </a:r>
            <a:endParaRPr sz="24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4255E8-795F-12B7-D8BF-8237EB31E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092" y="1792817"/>
            <a:ext cx="3105150" cy="4333613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AB690-F470-5B61-D3B8-80CCFCB9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B15D-F70C-FDB1-7CF0-EB52265B6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VS Code “Wrap with Widget”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BA029-3A72-19F9-6290-C3C8F2F17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845" y="1714677"/>
            <a:ext cx="3635024" cy="4771789"/>
          </a:xfrm>
        </p:spPr>
        <p:txBody>
          <a:bodyPr/>
          <a:lstStyle/>
          <a:p>
            <a:r>
              <a:rPr lang="en-US" b="0"/>
              <a:t>Editor-assisted refactor: wrap any widget with Padding, Center, Expanded, etc.</a:t>
            </a:r>
          </a:p>
          <a:p>
            <a:r>
              <a:rPr lang="en-US" b="0"/>
              <a:t>Use Case: Speed up layout composition; enforce consistent spacing.</a:t>
            </a:r>
          </a:p>
          <a:p>
            <a:pPr>
              <a:lnSpc>
                <a:spcPct val="150000"/>
              </a:lnSpc>
              <a:defRPr sz="1800"/>
            </a:pPr>
            <a:endParaRPr sz="2000" b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C680904-7445-F040-B429-7CF5B5410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1714677"/>
            <a:ext cx="6015836" cy="373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014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EE0EF-8A7C-F5DA-C84E-6602D4147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6ED6-2884-9937-D29C-730014D6B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3666" y="98748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Layout Polish (Padding &amp; SizedBox)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CEDC7-F4FF-5362-CC89-8AA66BAF6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823" y="1358078"/>
            <a:ext cx="3816880" cy="4771789"/>
          </a:xfrm>
        </p:spPr>
        <p:txBody>
          <a:bodyPr/>
          <a:lstStyle/>
          <a:p>
            <a:r>
              <a:rPr lang="en-US" sz="2400" b="0"/>
              <a:t>Concept: Good spacing improves readability and perceived quality.</a:t>
            </a:r>
          </a:p>
          <a:p>
            <a:r>
              <a:rPr lang="en-US" sz="2400" b="0"/>
              <a:t>Use Case: Apply consistent spacing scale across the app.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D99F25-5C52-0AA2-0FD8-04FF1EE67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8766" y="1358078"/>
            <a:ext cx="2925056" cy="4694524"/>
          </a:xfrm>
          <a:prstGeom prst="rect">
            <a:avLst/>
          </a:prstGeom>
          <a:solidFill>
            <a:schemeClr val="tx1"/>
          </a:solidFill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9257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79EF-F8A9-5C99-BA57-C7EC3C345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338F2-1C93-8951-EB52-84C95B411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378" y="98748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Date &amp; Time Pickers (Combined)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DD392-0029-2435-96CE-D84D20977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268" y="1591733"/>
            <a:ext cx="4639734" cy="4538134"/>
          </a:xfrm>
        </p:spPr>
        <p:txBody>
          <a:bodyPr/>
          <a:lstStyle/>
          <a:p>
            <a:r>
              <a:rPr lang="en-US" sz="2400" b="0"/>
              <a:t>Concept</a:t>
            </a:r>
            <a:br>
              <a:rPr lang="en-US" sz="2400" b="0"/>
            </a:br>
            <a:r>
              <a:rPr lang="en-US" sz="2400" b="0"/>
              <a:t>Use both pickers to build booking workflows.</a:t>
            </a:r>
          </a:p>
          <a:p>
            <a:r>
              <a:rPr lang="en-US" sz="2400" b="0"/>
              <a:t>Use Case</a:t>
            </a:r>
            <a:br>
              <a:rPr lang="en-US" sz="2400" b="0"/>
            </a:br>
            <a:r>
              <a:rPr lang="en-US" sz="2400" b="0"/>
              <a:t>Movie ticket booking: select both date and time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A5769D-792D-6692-D28F-C329D6D43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732" y="1166166"/>
            <a:ext cx="2921000" cy="514432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89376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1853C-45FA-F808-6350-8BD420694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A5BD0-DAC2-9E42-4A0C-BF1C1D8D5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Common Errors &amp; Fixes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5B2B4-512B-04D4-0522-F0666ECF6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5956" y="1600731"/>
            <a:ext cx="10216184" cy="4525699"/>
          </a:xfrm>
        </p:spPr>
        <p:txBody>
          <a:bodyPr/>
          <a:lstStyle/>
          <a:p>
            <a:pPr marL="0" indent="0">
              <a:buNone/>
            </a:pPr>
            <a:r>
              <a:rPr lang="en-US" sz="2400" b="0"/>
              <a:t>Typical issues when building basic UI.</a:t>
            </a:r>
          </a:p>
          <a:p>
            <a:pPr marL="0" indent="0">
              <a:buNone/>
            </a:pPr>
            <a:r>
              <a:rPr lang="en-US" sz="2400" b="0"/>
              <a:t>Checklist</a:t>
            </a:r>
          </a:p>
          <a:p>
            <a:r>
              <a:rPr lang="en-US" sz="2400" b="0"/>
              <a:t>ListView inside Column → wrap with Expanded</a:t>
            </a:r>
          </a:p>
          <a:p>
            <a:r>
              <a:rPr lang="en-US" sz="2400" b="0"/>
              <a:t>Overflow on small screens → use Flexible / SingleChildScrollView</a:t>
            </a:r>
          </a:p>
          <a:p>
            <a:r>
              <a:rPr lang="en-US" sz="2400" b="0"/>
              <a:t>UI not updating → forgot setState()</a:t>
            </a:r>
          </a:p>
          <a:p>
            <a:r>
              <a:rPr lang="en-US" sz="2400" b="0"/>
              <a:t>Picker call fails → make sure you call with a valid BuildContext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332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CEED-ED8C-3577-E49D-D4A123AF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Practice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71952-79C9-04A8-F1DA-BAFA0FBB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8890" y="1312923"/>
            <a:ext cx="9228472" cy="4525699"/>
          </a:xfrm>
        </p:spPr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/>
              <a:t>Task</a:t>
            </a:r>
          </a:p>
          <a:p>
            <a:pPr>
              <a:lnSpc>
                <a:spcPct val="150000"/>
              </a:lnSpc>
            </a:pPr>
            <a:r>
              <a:rPr lang="en-US" sz="2400" b="0"/>
              <a:t>Build a movie list: title, year</a:t>
            </a:r>
          </a:p>
          <a:p>
            <a:pPr>
              <a:lnSpc>
                <a:spcPct val="150000"/>
              </a:lnSpc>
            </a:pPr>
            <a:r>
              <a:rPr lang="en-US" sz="2400" b="0"/>
              <a:t>Use ListView.builder + ListTile</a:t>
            </a:r>
          </a:p>
          <a:p>
            <a:pPr>
              <a:lnSpc>
                <a:spcPct val="150000"/>
              </a:lnSpc>
            </a:pPr>
            <a:r>
              <a:rPr lang="en-US" sz="2400" b="0"/>
              <a:t>onTap → show SnackBar(title)</a:t>
            </a:r>
          </a:p>
          <a:p>
            <a:pPr>
              <a:lnSpc>
                <a:spcPct val="150000"/>
              </a:lnSpc>
            </a:pPr>
            <a:r>
              <a:rPr lang="en-US" sz="2400" b="0"/>
              <a:t>Bonus: replace avatar with an emoji or poster image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4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1778" y="1600731"/>
            <a:ext cx="10340362" cy="4525699"/>
          </a:xfrm>
        </p:spPr>
        <p:txBody>
          <a:bodyPr/>
          <a:lstStyle/>
          <a:p>
            <a:pPr marL="0" indent="0">
              <a:buNone/>
              <a:defRPr sz="1800"/>
            </a:pPr>
            <a:r>
              <a:rPr lang="en-US" sz="2400" b="0"/>
              <a:t>You Learned:</a:t>
            </a:r>
          </a:p>
          <a:p>
            <a:pPr>
              <a:defRPr sz="1800"/>
            </a:pPr>
            <a:r>
              <a:rPr lang="en-US" sz="2400" b="0"/>
              <a:t>The “Everything is a Widget” concept in Flutter</a:t>
            </a:r>
          </a:p>
          <a:p>
            <a:pPr>
              <a:defRPr sz="1800"/>
            </a:pPr>
            <a:r>
              <a:rPr lang="en-US" sz="2400" b="0"/>
              <a:t>Building screens using Scaffold, AppBar, and Body</a:t>
            </a:r>
          </a:p>
          <a:p>
            <a:pPr>
              <a:defRPr sz="1800"/>
            </a:pPr>
            <a:r>
              <a:rPr lang="en-US" sz="2400" b="0"/>
              <a:t>Using core widgets: Image, Card, ListTile, ListView</a:t>
            </a:r>
          </a:p>
          <a:p>
            <a:pPr>
              <a:defRPr sz="1800"/>
            </a:pPr>
            <a:r>
              <a:rPr lang="en-US" sz="2400" b="0"/>
              <a:t>Managing interactivity with Switch, Slider, RadioListTile, and Pickers</a:t>
            </a:r>
          </a:p>
          <a:p>
            <a:pPr>
              <a:defRPr sz="1800"/>
            </a:pPr>
            <a:r>
              <a:rPr lang="en-US" sz="2400" b="0"/>
              <a:t>Applying ThemeData and handling Dark Mode</a:t>
            </a:r>
          </a:p>
          <a:p>
            <a:pPr>
              <a:defRPr sz="1800"/>
            </a:pPr>
            <a:r>
              <a:rPr lang="en-US" sz="2400" b="0"/>
              <a:t>Improving design with Padding, SizedBox, and consistent spacing</a:t>
            </a:r>
          </a:p>
          <a:p>
            <a:pPr>
              <a:defRPr sz="1800"/>
            </a:pPr>
            <a:r>
              <a:rPr lang="en-US" sz="2400" b="0"/>
              <a:t>Identifying and fixing common layout errors</a:t>
            </a:r>
            <a:endParaRPr sz="2400" b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600732"/>
            <a:ext cx="10362940" cy="3787698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sz="2000" b="0"/>
              <a:t>Mastering Flutter 2025 – Ch.</a:t>
            </a:r>
            <a:r>
              <a:rPr lang="en-US" sz="2000" b="0"/>
              <a:t>4</a:t>
            </a:r>
            <a:endParaRPr sz="2000" b="0"/>
          </a:p>
          <a:p>
            <a:pPr>
              <a:lnSpc>
                <a:spcPct val="150000"/>
              </a:lnSpc>
              <a:defRPr sz="1800"/>
            </a:pPr>
            <a:r>
              <a:rPr sz="2000" b="0"/>
              <a:t>docs.flutter.dev</a:t>
            </a:r>
            <a:endParaRPr lang="en-US" sz="2000" b="0"/>
          </a:p>
          <a:p>
            <a:pPr>
              <a:lnSpc>
                <a:spcPct val="150000"/>
              </a:lnSpc>
              <a:defRPr sz="1800"/>
            </a:pPr>
            <a:r>
              <a:rPr lang="en-US" sz="2000">
                <a:hlinkClick r:id="rId3"/>
              </a:rPr>
              <a:t>https://dartpad.dev</a:t>
            </a:r>
            <a:endParaRPr lang="en-US" sz="200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</TotalTime>
  <Words>3831</Words>
  <Application>Microsoft Office PowerPoint</Application>
  <PresentationFormat>Widescreen</PresentationFormat>
  <Paragraphs>649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DejaVuSerif-BoldItalic</vt:lpstr>
      <vt:lpstr>DejaVuSerif-Italic</vt:lpstr>
      <vt:lpstr>Myriad Pro</vt:lpstr>
      <vt:lpstr>Tahoma</vt:lpstr>
      <vt:lpstr>Times New Roman</vt:lpstr>
      <vt:lpstr>Wingdings</vt:lpstr>
      <vt:lpstr>Theme1</vt:lpstr>
      <vt:lpstr>Module 4 - Widgets &amp; Basic Screens</vt:lpstr>
      <vt:lpstr>Contents</vt:lpstr>
      <vt:lpstr>Everything is a Widget</vt:lpstr>
      <vt:lpstr>Material Icons</vt:lpstr>
      <vt:lpstr>Example Material Icons</vt:lpstr>
      <vt:lpstr>DatePicker</vt:lpstr>
      <vt:lpstr>Code Example DatePicker</vt:lpstr>
      <vt:lpstr>RadioListTile (Single Choice)</vt:lpstr>
      <vt:lpstr>Slider (Continuous Value)</vt:lpstr>
      <vt:lpstr>Switch (Boolean Toggle)</vt:lpstr>
      <vt:lpstr>TimePicker (dialog)</vt:lpstr>
      <vt:lpstr>Scaffold (First Screen)</vt:lpstr>
      <vt:lpstr>Theme &amp; Dark Mode</vt:lpstr>
      <vt:lpstr>Image (Poster Detail)</vt:lpstr>
      <vt:lpstr>Sectioned Home Screen (Layout)</vt:lpstr>
      <vt:lpstr>Bottom Navigation Bar</vt:lpstr>
      <vt:lpstr>Card + ListTile</vt:lpstr>
      <vt:lpstr>ListView Basics (Movie Titles)</vt:lpstr>
      <vt:lpstr>ListTile + CircleAvatar Widgets</vt:lpstr>
      <vt:lpstr>VS Code “Wrap with Widget”</vt:lpstr>
      <vt:lpstr>Layout Polish (Padding &amp; SizedBox)</vt:lpstr>
      <vt:lpstr>Date &amp; Time Pickers (Combined)</vt:lpstr>
      <vt:lpstr>Common Errors &amp; Fixes </vt:lpstr>
      <vt:lpstr>Practice Task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11</cp:revision>
  <dcterms:created xsi:type="dcterms:W3CDTF">2013-01-27T09:14:16Z</dcterms:created>
  <dcterms:modified xsi:type="dcterms:W3CDTF">2025-12-11T05:38:03Z</dcterms:modified>
  <cp:category/>
</cp:coreProperties>
</file>