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6"/>
  </p:notesMasterIdLst>
  <p:sldIdLst>
    <p:sldId id="276" r:id="rId2"/>
    <p:sldId id="275" r:id="rId3"/>
    <p:sldId id="257" r:id="rId4"/>
    <p:sldId id="258" r:id="rId5"/>
    <p:sldId id="259" r:id="rId6"/>
    <p:sldId id="260" r:id="rId7"/>
    <p:sldId id="287" r:id="rId8"/>
    <p:sldId id="304" r:id="rId9"/>
    <p:sldId id="295" r:id="rId10"/>
    <p:sldId id="280" r:id="rId11"/>
    <p:sldId id="299" r:id="rId12"/>
    <p:sldId id="261" r:id="rId13"/>
    <p:sldId id="263" r:id="rId14"/>
    <p:sldId id="300" r:id="rId15"/>
    <p:sldId id="264" r:id="rId16"/>
    <p:sldId id="281" r:id="rId17"/>
    <p:sldId id="265" r:id="rId18"/>
    <p:sldId id="266" r:id="rId19"/>
    <p:sldId id="267" r:id="rId20"/>
    <p:sldId id="277" r:id="rId21"/>
    <p:sldId id="301" r:id="rId22"/>
    <p:sldId id="303" r:id="rId23"/>
    <p:sldId id="290" r:id="rId24"/>
    <p:sldId id="274" r:id="rId25"/>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1677" autoAdjust="0"/>
  </p:normalViewPr>
  <p:slideViewPr>
    <p:cSldViewPr snapToGrid="0" snapToObjects="1">
      <p:cViewPr varScale="1">
        <p:scale>
          <a:sx n="68" d="100"/>
          <a:sy n="68" d="100"/>
        </p:scale>
        <p:origin x="1262" y="6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112553-EA1B-4B29-ADCC-3A47A68A6AD6}" type="datetimeFigureOut">
              <a:rPr lang="en-US" smtClean="0"/>
              <a:t>11-Dec-25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B56F68-4D1E-40C7-852D-6D05FEA8C46B}" type="slidenum">
              <a:rPr lang="en-US" smtClean="0"/>
              <a:t>‹#›</a:t>
            </a:fld>
            <a:endParaRPr lang="en-US"/>
          </a:p>
        </p:txBody>
      </p:sp>
    </p:spTree>
    <p:extLst>
      <p:ext uri="{BB962C8B-B14F-4D97-AF65-F5344CB8AC3E}">
        <p14:creationId xmlns:p14="http://schemas.microsoft.com/office/powerpoint/2010/main" val="2419323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Calling web services, parsing JSON, and integrating data into your UI</a:t>
            </a:r>
          </a:p>
          <a:p>
            <a:r>
              <a:rPr lang="en-US"/>
              <a:t>Introduce that this module connects the app to real-world data over the network. It builds on async concepts (Futures/async-await) and prepares for storage in later modules.</a:t>
            </a:r>
          </a:p>
        </p:txBody>
      </p:sp>
      <p:sp>
        <p:nvSpPr>
          <p:cNvPr id="4" name="Slide Number Placeholder 3"/>
          <p:cNvSpPr>
            <a:spLocks noGrp="1"/>
          </p:cNvSpPr>
          <p:nvPr>
            <p:ph type="sldNum" sz="quarter" idx="5"/>
          </p:nvPr>
        </p:nvSpPr>
        <p:spPr/>
        <p:txBody>
          <a:bodyPr/>
          <a:lstStyle/>
          <a:p>
            <a:fld id="{ACB56F68-4D1E-40C7-852D-6D05FEA8C46B}" type="slidenum">
              <a:rPr lang="en-US" smtClean="0"/>
              <a:t>1</a:t>
            </a:fld>
            <a:endParaRPr lang="en-US"/>
          </a:p>
        </p:txBody>
      </p:sp>
    </p:spTree>
    <p:extLst>
      <p:ext uri="{BB962C8B-B14F-4D97-AF65-F5344CB8AC3E}">
        <p14:creationId xmlns:p14="http://schemas.microsoft.com/office/powerpoint/2010/main" val="26831805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References</a:t>
            </a:r>
          </a:p>
          <a:p>
            <a:r>
              <a:rPr lang="en-US"/>
              <a:t>Mastering Flutter 2025</a:t>
            </a:r>
          </a:p>
          <a:p>
            <a:r>
              <a:rPr lang="en-US"/>
              <a:t>Chapter: Networking &amp; JSON</a:t>
            </a:r>
          </a:p>
          <a:p>
            <a:r>
              <a:rPr lang="en-US"/>
              <a:t>Chapter: Asynchronous Programming (Futures &amp; async/await)</a:t>
            </a:r>
          </a:p>
          <a:p>
            <a:endParaRPr lang="en-US"/>
          </a:p>
          <a:p>
            <a:r>
              <a:rPr lang="en-US"/>
              <a:t>Notes:</a:t>
            </a:r>
          </a:p>
          <a:p>
            <a:r>
              <a:rPr lang="en-US"/>
              <a:t>Connect clearly with previous modules: we now move from static/local data to remote data.</a:t>
            </a:r>
          </a:p>
        </p:txBody>
      </p:sp>
      <p:sp>
        <p:nvSpPr>
          <p:cNvPr id="4" name="Slide Number Placeholder 3"/>
          <p:cNvSpPr>
            <a:spLocks noGrp="1"/>
          </p:cNvSpPr>
          <p:nvPr>
            <p:ph type="sldNum" sz="quarter" idx="5"/>
          </p:nvPr>
        </p:nvSpPr>
        <p:spPr/>
        <p:txBody>
          <a:bodyPr/>
          <a:lstStyle/>
          <a:p>
            <a:fld id="{ACB56F68-4D1E-40C7-852D-6D05FEA8C46B}" type="slidenum">
              <a:rPr lang="en-US" smtClean="0"/>
              <a:t>2</a:t>
            </a:fld>
            <a:endParaRPr lang="en-US"/>
          </a:p>
        </p:txBody>
      </p:sp>
    </p:spTree>
    <p:extLst>
      <p:ext uri="{BB962C8B-B14F-4D97-AF65-F5344CB8AC3E}">
        <p14:creationId xmlns:p14="http://schemas.microsoft.com/office/powerpoint/2010/main" val="1041737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Look at these three images: APIs are not just theoretical. The detailed data you see every day is also an API. The movie viewing application that everyone loves uses APIs to download movie posters and descriptions.During the course, we will start with JSONPlaceholder – the simplest but extremely effective API to understand the working mechanism.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These three APIs represent three important data groups: realtime, media and mock APIs.When doing the lab or final project, students can choose any group to develop their own application.</a:t>
            </a:r>
          </a:p>
        </p:txBody>
      </p:sp>
      <p:sp>
        <p:nvSpPr>
          <p:cNvPr id="4" name="Slide Number Placeholder 3"/>
          <p:cNvSpPr>
            <a:spLocks noGrp="1"/>
          </p:cNvSpPr>
          <p:nvPr>
            <p:ph type="sldNum" sz="quarter" idx="5"/>
          </p:nvPr>
        </p:nvSpPr>
        <p:spPr/>
        <p:txBody>
          <a:bodyPr/>
          <a:lstStyle/>
          <a:p>
            <a:fld id="{ACB56F68-4D1E-40C7-852D-6D05FEA8C46B}" type="slidenum">
              <a:rPr lang="en-US" smtClean="0"/>
              <a:t>3</a:t>
            </a:fld>
            <a:endParaRPr lang="en-US"/>
          </a:p>
        </p:txBody>
      </p:sp>
    </p:spTree>
    <p:extLst>
      <p:ext uri="{BB962C8B-B14F-4D97-AF65-F5344CB8AC3E}">
        <p14:creationId xmlns:p14="http://schemas.microsoft.com/office/powerpoint/2010/main" val="3581794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JSON is used in most APIs because it is lightweight, easy to parse and compatible with all languages.</a:t>
            </a:r>
          </a:p>
          <a:p>
            <a:r>
              <a:rPr lang="en-US"/>
              <a:t>Important point: JSON is not an object of Dart → need to be converted by json.decode() and then map to Model class (Post, Movie, User...).</a:t>
            </a:r>
          </a:p>
          <a:p>
            <a:r>
              <a:rPr lang="en-US"/>
              <a:t>JSON object is compatible with Map&lt;String, Dynamic&gt; in Dart.JSON array is compatible with List&lt;dynamic&gt; or List&lt;Model&gt; after parsing.</a:t>
            </a:r>
          </a:p>
          <a:p>
            <a:r>
              <a:rPr lang="en-US"/>
              <a:t>Reminder for students: data from the network is always String, Flutter must decode and process it.</a:t>
            </a:r>
          </a:p>
          <a:p>
            <a:r>
              <a:rPr lang="en-US"/>
              <a:t>Example to illustrate when learning:"When we call the API from JSONPlaceholder, the server returns an array of 100 posts. Each post is a JSON object. Flutter will read this array → create List&lt;Post&gt; → display ListView."</a:t>
            </a:r>
          </a:p>
        </p:txBody>
      </p:sp>
      <p:sp>
        <p:nvSpPr>
          <p:cNvPr id="4" name="Slide Number Placeholder 3"/>
          <p:cNvSpPr>
            <a:spLocks noGrp="1"/>
          </p:cNvSpPr>
          <p:nvPr>
            <p:ph type="sldNum" sz="quarter" idx="5"/>
          </p:nvPr>
        </p:nvSpPr>
        <p:spPr/>
        <p:txBody>
          <a:bodyPr/>
          <a:lstStyle/>
          <a:p>
            <a:fld id="{ACB56F68-4D1E-40C7-852D-6D05FEA8C46B}" type="slidenum">
              <a:rPr lang="en-US" smtClean="0"/>
              <a:t>4</a:t>
            </a:fld>
            <a:endParaRPr lang="en-US"/>
          </a:p>
        </p:txBody>
      </p:sp>
    </p:spTree>
    <p:extLst>
      <p:ext uri="{BB962C8B-B14F-4D97-AF65-F5344CB8AC3E}">
        <p14:creationId xmlns:p14="http://schemas.microsoft.com/office/powerpoint/2010/main" val="4195857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Emphasize that API calls are asynchronous. Students must understand </a:t>
            </a:r>
            <a:r>
              <a:rPr lang="en-US" sz="1200" kern="1200">
                <a:solidFill>
                  <a:schemeClr val="tx1"/>
                </a:solidFill>
                <a:latin typeface="+mn-lt"/>
                <a:ea typeface="+mn-ea"/>
                <a:cs typeface="+mn-cs"/>
              </a:rPr>
              <a:t>Future</a:t>
            </a:r>
            <a:r>
              <a:rPr lang="en-US"/>
              <a:t>, </a:t>
            </a:r>
            <a:r>
              <a:rPr lang="en-US" sz="1200" kern="1200">
                <a:solidFill>
                  <a:schemeClr val="tx1"/>
                </a:solidFill>
                <a:latin typeface="+mn-lt"/>
                <a:ea typeface="+mn-ea"/>
                <a:cs typeface="+mn-cs"/>
              </a:rPr>
              <a:t>async/await</a:t>
            </a:r>
            <a:r>
              <a:rPr lang="en-US"/>
              <a:t>, and state management before implementing real HTTP flows.</a:t>
            </a:r>
          </a:p>
        </p:txBody>
      </p:sp>
      <p:sp>
        <p:nvSpPr>
          <p:cNvPr id="4" name="Slide Number Placeholder 3"/>
          <p:cNvSpPr>
            <a:spLocks noGrp="1"/>
          </p:cNvSpPr>
          <p:nvPr>
            <p:ph type="sldNum" sz="quarter" idx="5"/>
          </p:nvPr>
        </p:nvSpPr>
        <p:spPr/>
        <p:txBody>
          <a:bodyPr/>
          <a:lstStyle/>
          <a:p>
            <a:fld id="{ACB56F68-4D1E-40C7-852D-6D05FEA8C46B}" type="slidenum">
              <a:rPr lang="en-US" smtClean="0"/>
              <a:t>5</a:t>
            </a:fld>
            <a:endParaRPr lang="en-US"/>
          </a:p>
        </p:txBody>
      </p:sp>
    </p:spTree>
    <p:extLst>
      <p:ext uri="{BB962C8B-B14F-4D97-AF65-F5344CB8AC3E}">
        <p14:creationId xmlns:p14="http://schemas.microsoft.com/office/powerpoint/2010/main" val="33756337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Mention that in DartPad / online environments, students may need to add the http package in the dependencies panel.</a:t>
            </a:r>
          </a:p>
        </p:txBody>
      </p:sp>
      <p:sp>
        <p:nvSpPr>
          <p:cNvPr id="4" name="Slide Number Placeholder 3"/>
          <p:cNvSpPr>
            <a:spLocks noGrp="1"/>
          </p:cNvSpPr>
          <p:nvPr>
            <p:ph type="sldNum" sz="quarter" idx="5"/>
          </p:nvPr>
        </p:nvSpPr>
        <p:spPr/>
        <p:txBody>
          <a:bodyPr/>
          <a:lstStyle/>
          <a:p>
            <a:fld id="{ACB56F68-4D1E-40C7-852D-6D05FEA8C46B}" type="slidenum">
              <a:rPr lang="en-US" smtClean="0"/>
              <a:t>6</a:t>
            </a:fld>
            <a:endParaRPr lang="en-US"/>
          </a:p>
        </p:txBody>
      </p:sp>
    </p:spTree>
    <p:extLst>
      <p:ext uri="{BB962C8B-B14F-4D97-AF65-F5344CB8AC3E}">
        <p14:creationId xmlns:p14="http://schemas.microsoft.com/office/powerpoint/2010/main" val="41130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b="1"/>
              <a:t>Core code snippet:</a:t>
            </a:r>
          </a:p>
          <a:p>
            <a:r>
              <a:rPr lang="en-US"/>
              <a:t>Future&lt;void&gt; fetchPosts() async {</a:t>
            </a:r>
          </a:p>
          <a:p>
            <a:r>
              <a:rPr lang="en-US"/>
              <a:t>  final url = Uri.parse('https://jsonplaceholder.typicode.com/posts');</a:t>
            </a:r>
          </a:p>
          <a:p>
            <a:r>
              <a:rPr lang="en-US"/>
              <a:t>  final response = await http.get(url);</a:t>
            </a:r>
          </a:p>
          <a:p>
            <a:endParaRPr lang="en-US"/>
          </a:p>
          <a:p>
            <a:r>
              <a:rPr lang="en-US"/>
              <a:t>  if (response.statusCode == 200) {</a:t>
            </a:r>
          </a:p>
          <a:p>
            <a:r>
              <a:rPr lang="en-US"/>
              <a:t>    print('Response body: ${response.body}');</a:t>
            </a:r>
          </a:p>
          <a:p>
            <a:r>
              <a:rPr lang="en-US"/>
              <a:t>  } else {</a:t>
            </a:r>
          </a:p>
          <a:p>
            <a:r>
              <a:rPr lang="en-US"/>
              <a:t>    print('Request failed: ${response.statusCode}');</a:t>
            </a:r>
          </a:p>
          <a:p>
            <a:r>
              <a:rPr lang="en-US"/>
              <a:t>  }</a:t>
            </a:r>
          </a:p>
          <a:p>
            <a:r>
              <a:rPr lang="en-US"/>
              <a:t>}</a:t>
            </a:r>
          </a:p>
        </p:txBody>
      </p:sp>
      <p:sp>
        <p:nvSpPr>
          <p:cNvPr id="4" name="Slide Number Placeholder 3"/>
          <p:cNvSpPr>
            <a:spLocks noGrp="1"/>
          </p:cNvSpPr>
          <p:nvPr>
            <p:ph type="sldNum" sz="quarter" idx="5"/>
          </p:nvPr>
        </p:nvSpPr>
        <p:spPr/>
        <p:txBody>
          <a:bodyPr/>
          <a:lstStyle/>
          <a:p>
            <a:fld id="{ACB56F68-4D1E-40C7-852D-6D05FEA8C46B}" type="slidenum">
              <a:rPr lang="en-US" smtClean="0"/>
              <a:t>7</a:t>
            </a:fld>
            <a:endParaRPr lang="en-US"/>
          </a:p>
        </p:txBody>
      </p:sp>
    </p:spTree>
    <p:extLst>
      <p:ext uri="{BB962C8B-B14F-4D97-AF65-F5344CB8AC3E}">
        <p14:creationId xmlns:p14="http://schemas.microsoft.com/office/powerpoint/2010/main" val="36012765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61A93-6704-3F5F-86CC-6F8D97523F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E9A452-9361-B1BE-0304-01F8AA94C2B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C5D05AF-2DAB-806D-A870-9464309375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76E2D4B-AC35-8FA2-792D-EC0A613C62AC}"/>
              </a:ext>
            </a:extLst>
          </p:cNvPr>
          <p:cNvSpPr>
            <a:spLocks noGrp="1"/>
          </p:cNvSpPr>
          <p:nvPr>
            <p:ph type="sldNum" sz="quarter" idx="5"/>
          </p:nvPr>
        </p:nvSpPr>
        <p:spPr/>
        <p:txBody>
          <a:bodyPr/>
          <a:lstStyle/>
          <a:p>
            <a:fld id="{ACB56F68-4D1E-40C7-852D-6D05FEA8C46B}" type="slidenum">
              <a:rPr lang="en-US" smtClean="0"/>
              <a:t>8</a:t>
            </a:fld>
            <a:endParaRPr lang="en-US"/>
          </a:p>
        </p:txBody>
      </p:sp>
    </p:spTree>
    <p:extLst>
      <p:ext uri="{BB962C8B-B14F-4D97-AF65-F5344CB8AC3E}">
        <p14:creationId xmlns:p14="http://schemas.microsoft.com/office/powerpoint/2010/main" val="28267762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a:p>
            <a:pPr marL="342900" indent="-342900">
              <a:buFont typeface="Courier New" panose="02070309020205020404" pitchFamily="49" charset="0"/>
              <a:buChar char="o"/>
            </a:pPr>
            <a:r>
              <a:rPr lang="en-US" sz="1200" b="0" i="1"/>
              <a:t>Future = a value that will be available later</a:t>
            </a:r>
          </a:p>
          <a:p>
            <a:pPr marL="342900" indent="-342900">
              <a:buFont typeface="Courier New" panose="02070309020205020404" pitchFamily="49" charset="0"/>
              <a:buChar char="o"/>
            </a:pPr>
            <a:r>
              <a:rPr lang="en-US" sz="1200" b="0" i="1"/>
              <a:t>async = marks a function as asynchronous</a:t>
            </a:r>
          </a:p>
          <a:p>
            <a:pPr marL="342900" indent="-342900">
              <a:buFont typeface="Courier New" panose="02070309020205020404" pitchFamily="49" charset="0"/>
              <a:buChar char="o"/>
            </a:pPr>
            <a:r>
              <a:rPr lang="en-US" sz="1200" b="0" i="1"/>
              <a:t>await = pause until a Future completes</a:t>
            </a:r>
          </a:p>
          <a:p>
            <a:endParaRPr lang="en-US"/>
          </a:p>
          <a:p>
            <a:r>
              <a:rPr lang="en-US"/>
              <a:t>Connect this directly to </a:t>
            </a:r>
            <a:r>
              <a:rPr lang="en-US" sz="1200" kern="1200">
                <a:solidFill>
                  <a:schemeClr val="tx1"/>
                </a:solidFill>
                <a:latin typeface="+mn-lt"/>
                <a:ea typeface="+mn-ea"/>
                <a:cs typeface="+mn-cs"/>
              </a:rPr>
              <a:t>await http.get(url)</a:t>
            </a:r>
            <a:r>
              <a:rPr lang="en-US"/>
              <a:t> in Demo 8.1.</a:t>
            </a:r>
          </a:p>
        </p:txBody>
      </p:sp>
      <p:sp>
        <p:nvSpPr>
          <p:cNvPr id="4" name="Slide Number Placeholder 3"/>
          <p:cNvSpPr>
            <a:spLocks noGrp="1"/>
          </p:cNvSpPr>
          <p:nvPr>
            <p:ph type="sldNum" sz="quarter" idx="5"/>
          </p:nvPr>
        </p:nvSpPr>
        <p:spPr/>
        <p:txBody>
          <a:bodyPr/>
          <a:lstStyle/>
          <a:p>
            <a:fld id="{ACB56F68-4D1E-40C7-852D-6D05FEA8C46B}" type="slidenum">
              <a:rPr lang="en-US" smtClean="0"/>
              <a:t>9</a:t>
            </a:fld>
            <a:endParaRPr lang="en-US"/>
          </a:p>
        </p:txBody>
      </p:sp>
    </p:spTree>
    <p:extLst>
      <p:ext uri="{BB962C8B-B14F-4D97-AF65-F5344CB8AC3E}">
        <p14:creationId xmlns:p14="http://schemas.microsoft.com/office/powerpoint/2010/main" val="4563865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Explain each branch clearly (loading / error / empty / success).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The widget automatically updates when the Future completes, making it ideal for one-time API calls.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Demo 8.1 – SimpleGet</a:t>
            </a:r>
          </a:p>
          <a:p>
            <a:endParaRPr lang="en-US"/>
          </a:p>
        </p:txBody>
      </p:sp>
      <p:sp>
        <p:nvSpPr>
          <p:cNvPr id="4" name="Slide Number Placeholder 3"/>
          <p:cNvSpPr>
            <a:spLocks noGrp="1"/>
          </p:cNvSpPr>
          <p:nvPr>
            <p:ph type="sldNum" sz="quarter" idx="5"/>
          </p:nvPr>
        </p:nvSpPr>
        <p:spPr/>
        <p:txBody>
          <a:bodyPr/>
          <a:lstStyle/>
          <a:p>
            <a:fld id="{ACB56F68-4D1E-40C7-852D-6D05FEA8C46B}" type="slidenum">
              <a:rPr lang="en-US" smtClean="0"/>
              <a:t>10</a:t>
            </a:fld>
            <a:endParaRPr lang="en-US"/>
          </a:p>
        </p:txBody>
      </p:sp>
    </p:spTree>
    <p:extLst>
      <p:ext uri="{BB962C8B-B14F-4D97-AF65-F5344CB8AC3E}">
        <p14:creationId xmlns:p14="http://schemas.microsoft.com/office/powerpoint/2010/main" val="59751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3FF74-C224-F4B2-2EA6-1AE653EA83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226A65-8182-2794-392A-255DA5F0818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4DE4B41-2557-E72F-00D0-137E248D9B37}"/>
              </a:ext>
            </a:extLst>
          </p:cNvPr>
          <p:cNvSpPr>
            <a:spLocks noGrp="1"/>
          </p:cNvSpPr>
          <p:nvPr>
            <p:ph type="body" idx="1"/>
          </p:nvPr>
        </p:nvSpPr>
        <p:spPr/>
        <p:txBody>
          <a:bodyPr/>
          <a:lstStyle/>
          <a:p>
            <a:r>
              <a:rPr lang="en-US"/>
              <a:t>Highlight that model classes will appear in many modules (storage, state management, etc.).</a:t>
            </a:r>
          </a:p>
        </p:txBody>
      </p:sp>
      <p:sp>
        <p:nvSpPr>
          <p:cNvPr id="4" name="Slide Number Placeholder 3">
            <a:extLst>
              <a:ext uri="{FF2B5EF4-FFF2-40B4-BE49-F238E27FC236}">
                <a16:creationId xmlns:a16="http://schemas.microsoft.com/office/drawing/2014/main" id="{FDDB6CE6-2868-382C-44C2-5219BE6418BB}"/>
              </a:ext>
            </a:extLst>
          </p:cNvPr>
          <p:cNvSpPr>
            <a:spLocks noGrp="1"/>
          </p:cNvSpPr>
          <p:nvPr>
            <p:ph type="sldNum" sz="quarter" idx="5"/>
          </p:nvPr>
        </p:nvSpPr>
        <p:spPr/>
        <p:txBody>
          <a:bodyPr/>
          <a:lstStyle/>
          <a:p>
            <a:fld id="{ACB56F68-4D1E-40C7-852D-6D05FEA8C46B}" type="slidenum">
              <a:rPr lang="en-US" smtClean="0"/>
              <a:t>11</a:t>
            </a:fld>
            <a:endParaRPr lang="en-US"/>
          </a:p>
        </p:txBody>
      </p:sp>
    </p:spTree>
    <p:extLst>
      <p:ext uri="{BB962C8B-B14F-4D97-AF65-F5344CB8AC3E}">
        <p14:creationId xmlns:p14="http://schemas.microsoft.com/office/powerpoint/2010/main" val="14452267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b="1"/>
              <a:t>Cdoe demo 8.2</a:t>
            </a:r>
          </a:p>
          <a:p>
            <a:endParaRPr lang="en-US" b="0"/>
          </a:p>
          <a:p>
            <a:r>
              <a:rPr lang="en-US" b="0"/>
              <a:t>import 'package:flutter/material.dart';</a:t>
            </a:r>
          </a:p>
          <a:p>
            <a:r>
              <a:rPr lang="en-US" b="0"/>
              <a:t>import 'package:http/http.dart' as http;</a:t>
            </a:r>
          </a:p>
          <a:p>
            <a:r>
              <a:rPr lang="en-US" b="0"/>
              <a:t>import 'dart:convert';</a:t>
            </a:r>
          </a:p>
          <a:p>
            <a:endParaRPr lang="en-US" b="0"/>
          </a:p>
          <a:p>
            <a:r>
              <a:rPr lang="en-US" b="0"/>
              <a:t>void main() =&gt; runApp(const Demo82App());</a:t>
            </a:r>
          </a:p>
          <a:p>
            <a:endParaRPr lang="en-US" b="0"/>
          </a:p>
          <a:p>
            <a:r>
              <a:rPr lang="en-US" b="0"/>
              <a:t>class Demo82App extends StatelessWidget {</a:t>
            </a:r>
          </a:p>
          <a:p>
            <a:r>
              <a:rPr lang="en-US" b="0"/>
              <a:t>  const Demo82App({super.key});</a:t>
            </a:r>
          </a:p>
          <a:p>
            <a:endParaRPr lang="en-US" b="0"/>
          </a:p>
          <a:p>
            <a:r>
              <a:rPr lang="en-US" b="0"/>
              <a:t>  @override</a:t>
            </a:r>
          </a:p>
          <a:p>
            <a:r>
              <a:rPr lang="en-US" b="0"/>
              <a:t>  Widget build(BuildContext context) {</a:t>
            </a:r>
          </a:p>
          <a:p>
            <a:r>
              <a:rPr lang="en-US" b="0"/>
              <a:t>    return MaterialApp(</a:t>
            </a:r>
          </a:p>
          <a:p>
            <a:r>
              <a:rPr lang="en-US" b="0"/>
              <a:t>      title: 'Demo 8.2 – JSON Model &amp; Detail Screen',</a:t>
            </a:r>
          </a:p>
          <a:p>
            <a:r>
              <a:rPr lang="en-US" b="0"/>
              <a:t>      theme: ThemeData.dark(useMaterial3: true),</a:t>
            </a:r>
          </a:p>
          <a:p>
            <a:r>
              <a:rPr lang="en-US" b="0"/>
              <a:t>      home: const PostListScreen(),</a:t>
            </a:r>
          </a:p>
          <a:p>
            <a:r>
              <a:rPr lang="en-US" b="0"/>
              <a:t>      debugShowCheckedModeBanner: false,</a:t>
            </a:r>
          </a:p>
          <a:p>
            <a:r>
              <a:rPr lang="en-US" b="0"/>
              <a:t>    );</a:t>
            </a:r>
          </a:p>
          <a:p>
            <a:r>
              <a:rPr lang="en-US" b="0"/>
              <a:t>  }</a:t>
            </a:r>
          </a:p>
          <a:p>
            <a:r>
              <a:rPr lang="en-US" b="0"/>
              <a:t>}</a:t>
            </a:r>
          </a:p>
          <a:p>
            <a:endParaRPr lang="en-US" b="0"/>
          </a:p>
          <a:p>
            <a:r>
              <a:rPr lang="en-US" b="0"/>
              <a:t>//</a:t>
            </a:r>
          </a:p>
          <a:p>
            <a:r>
              <a:rPr lang="en-US" b="0"/>
              <a:t>// STEP 1 — Create a Dart model &amp; implement fromJson()</a:t>
            </a:r>
          </a:p>
          <a:p>
            <a:r>
              <a:rPr lang="en-US" b="0"/>
              <a:t>// (Objective: Convert JSON map → Dart object)</a:t>
            </a:r>
          </a:p>
          <a:p>
            <a:r>
              <a:rPr lang="en-US" b="0"/>
              <a:t>//</a:t>
            </a:r>
          </a:p>
          <a:p>
            <a:r>
              <a:rPr lang="en-US" b="0"/>
              <a:t>class Post {</a:t>
            </a:r>
          </a:p>
          <a:p>
            <a:r>
              <a:rPr lang="en-US" b="0"/>
              <a:t>  final int id;</a:t>
            </a:r>
          </a:p>
          <a:p>
            <a:r>
              <a:rPr lang="en-US" b="0"/>
              <a:t>  final String title;</a:t>
            </a:r>
          </a:p>
          <a:p>
            <a:r>
              <a:rPr lang="en-US" b="0"/>
              <a:t>  final String body;</a:t>
            </a:r>
          </a:p>
          <a:p>
            <a:endParaRPr lang="en-US" b="0"/>
          </a:p>
          <a:p>
            <a:r>
              <a:rPr lang="en-US" b="0"/>
              <a:t>  Post({</a:t>
            </a:r>
          </a:p>
          <a:p>
            <a:r>
              <a:rPr lang="en-US" b="0"/>
              <a:t>    required this.id,</a:t>
            </a:r>
          </a:p>
          <a:p>
            <a:r>
              <a:rPr lang="en-US" b="0"/>
              <a:t>    required this.title,</a:t>
            </a:r>
          </a:p>
          <a:p>
            <a:r>
              <a:rPr lang="en-US" b="0"/>
              <a:t>    required this.body,</a:t>
            </a:r>
          </a:p>
          <a:p>
            <a:r>
              <a:rPr lang="en-US" b="0"/>
              <a:t>  });</a:t>
            </a:r>
          </a:p>
          <a:p>
            <a:endParaRPr lang="en-US" b="0"/>
          </a:p>
          <a:p>
            <a:r>
              <a:rPr lang="en-US" b="0"/>
              <a:t>  factory Post.fromJson(Map&lt;String, dynamic&gt; json) {</a:t>
            </a:r>
          </a:p>
          <a:p>
            <a:r>
              <a:rPr lang="en-US" b="0"/>
              <a:t>    return Post(</a:t>
            </a:r>
          </a:p>
          <a:p>
            <a:r>
              <a:rPr lang="en-US" b="0"/>
              <a:t>      id: json['id'] as int,</a:t>
            </a:r>
          </a:p>
          <a:p>
            <a:r>
              <a:rPr lang="en-US" b="0"/>
              <a:t>      title: json['title'] as String,</a:t>
            </a:r>
          </a:p>
          <a:p>
            <a:r>
              <a:rPr lang="en-US" b="0"/>
              <a:t>      body: json['body'] as String,</a:t>
            </a:r>
          </a:p>
          <a:p>
            <a:r>
              <a:rPr lang="en-US" b="0"/>
              <a:t>    );</a:t>
            </a:r>
          </a:p>
          <a:p>
            <a:r>
              <a:rPr lang="en-US" b="0"/>
              <a:t>  }</a:t>
            </a:r>
          </a:p>
          <a:p>
            <a:r>
              <a:rPr lang="en-US" b="0"/>
              <a:t>}</a:t>
            </a:r>
          </a:p>
          <a:p>
            <a:endParaRPr lang="en-US" b="0"/>
          </a:p>
          <a:p>
            <a:r>
              <a:rPr lang="en-US" b="0"/>
              <a:t>class PostListScreen extends StatefulWidget {</a:t>
            </a:r>
          </a:p>
          <a:p>
            <a:r>
              <a:rPr lang="en-US" b="0"/>
              <a:t>  const PostListScreen({super.key});</a:t>
            </a:r>
          </a:p>
          <a:p>
            <a:endParaRPr lang="en-US" b="0"/>
          </a:p>
          <a:p>
            <a:r>
              <a:rPr lang="en-US" b="0"/>
              <a:t>  @override</a:t>
            </a:r>
          </a:p>
          <a:p>
            <a:r>
              <a:rPr lang="en-US" b="0"/>
              <a:t>  State&lt;PostListScreen&gt; createState() =&gt; _PostListScreenState();</a:t>
            </a:r>
          </a:p>
          <a:p>
            <a:r>
              <a:rPr lang="en-US" b="0"/>
              <a:t>}</a:t>
            </a:r>
          </a:p>
          <a:p>
            <a:endParaRPr lang="en-US" b="0"/>
          </a:p>
          <a:p>
            <a:r>
              <a:rPr lang="en-US" b="0"/>
              <a:t>class _PostListScreenState extends State&lt;PostListScreen&gt; {</a:t>
            </a:r>
          </a:p>
          <a:p>
            <a:r>
              <a:rPr lang="en-US" b="0"/>
              <a:t>  late Future&lt;List&lt;Post&gt;&gt; _futurePosts;</a:t>
            </a:r>
          </a:p>
          <a:p>
            <a:endParaRPr lang="en-US" b="0"/>
          </a:p>
          <a:p>
            <a:r>
              <a:rPr lang="en-US" b="0"/>
              <a:t>  @override</a:t>
            </a:r>
          </a:p>
          <a:p>
            <a:r>
              <a:rPr lang="en-US" b="0"/>
              <a:t>  void initState() {</a:t>
            </a:r>
          </a:p>
          <a:p>
            <a:r>
              <a:rPr lang="en-US" b="0"/>
              <a:t>    super.initState();</a:t>
            </a:r>
          </a:p>
          <a:p>
            <a:r>
              <a:rPr lang="en-US" b="0"/>
              <a:t>    //</a:t>
            </a:r>
          </a:p>
          <a:p>
            <a:r>
              <a:rPr lang="en-US" b="0"/>
              <a:t>    // STEP 2 — Fetch &amp; decode JSON</a:t>
            </a:r>
          </a:p>
          <a:p>
            <a:r>
              <a:rPr lang="en-US" b="0"/>
              <a:t>    // Use http.get → decode → convert each map into a Post model</a:t>
            </a:r>
          </a:p>
          <a:p>
            <a:r>
              <a:rPr lang="en-US" b="0"/>
              <a:t>    //</a:t>
            </a:r>
          </a:p>
          <a:p>
            <a:r>
              <a:rPr lang="en-US" b="0"/>
              <a:t>    _futurePosts = fetchPosts();</a:t>
            </a:r>
          </a:p>
          <a:p>
            <a:r>
              <a:rPr lang="en-US" b="0"/>
              <a:t>  }</a:t>
            </a:r>
          </a:p>
          <a:p>
            <a:endParaRPr lang="en-US" b="0"/>
          </a:p>
          <a:p>
            <a:r>
              <a:rPr lang="en-US" b="0"/>
              <a:t>  Future&lt;List&lt;Post&gt;&gt; fetchPosts() async {</a:t>
            </a:r>
          </a:p>
          <a:p>
            <a:r>
              <a:rPr lang="en-US" b="0"/>
              <a:t>    final url = Uri.parse('https://jsonplaceholder.typicode.com/posts');</a:t>
            </a:r>
          </a:p>
          <a:p>
            <a:r>
              <a:rPr lang="en-US" b="0"/>
              <a:t>    final response = await http.get(url);</a:t>
            </a:r>
          </a:p>
          <a:p>
            <a:endParaRPr lang="en-US" b="0"/>
          </a:p>
          <a:p>
            <a:r>
              <a:rPr lang="en-US" b="0"/>
              <a:t>    if (response.statusCode != 200) {</a:t>
            </a:r>
          </a:p>
          <a:p>
            <a:r>
              <a:rPr lang="en-US" b="0"/>
              <a:t>      throw Exception('Failed to load posts');</a:t>
            </a:r>
          </a:p>
          <a:p>
            <a:r>
              <a:rPr lang="en-US" b="0"/>
              <a:t>    }</a:t>
            </a:r>
          </a:p>
          <a:p>
            <a:endParaRPr lang="en-US" b="0"/>
          </a:p>
          <a:p>
            <a:r>
              <a:rPr lang="en-US" b="0"/>
              <a:t>    final List&lt;dynamic&gt; jsonList = json.decode(response.body);</a:t>
            </a:r>
          </a:p>
          <a:p>
            <a:r>
              <a:rPr lang="en-US" b="0"/>
              <a:t>    return jsonList.map((e) =&gt; Post.fromJson(e)).toList();</a:t>
            </a:r>
          </a:p>
          <a:p>
            <a:r>
              <a:rPr lang="en-US" b="0"/>
              <a:t>  }</a:t>
            </a:r>
          </a:p>
          <a:p>
            <a:endParaRPr lang="en-US" b="0"/>
          </a:p>
          <a:p>
            <a:r>
              <a:rPr lang="en-US" b="0"/>
              <a:t>  //</a:t>
            </a:r>
          </a:p>
          <a:p>
            <a:r>
              <a:rPr lang="en-US" b="0"/>
              <a:t>  // STEP 3 — Build a ListView of items</a:t>
            </a:r>
          </a:p>
          <a:p>
            <a:r>
              <a:rPr lang="en-US" b="0"/>
              <a:t>  // Titles appear in list; tapping an item opens the detail screen.</a:t>
            </a:r>
          </a:p>
          <a:p>
            <a:r>
              <a:rPr lang="en-US" b="0"/>
              <a:t>  //</a:t>
            </a:r>
          </a:p>
          <a:p>
            <a:r>
              <a:rPr lang="en-US" b="0"/>
              <a:t>  void _openDetails(Post post) {</a:t>
            </a:r>
          </a:p>
          <a:p>
            <a:r>
              <a:rPr lang="en-US" b="0"/>
              <a:t>    Navigator.of(context).push(</a:t>
            </a:r>
          </a:p>
          <a:p>
            <a:r>
              <a:rPr lang="en-US" b="0"/>
              <a:t>      MaterialPageRoute(</a:t>
            </a:r>
          </a:p>
          <a:p>
            <a:r>
              <a:rPr lang="en-US" b="0"/>
              <a:t>        builder: (_) =&gt; PostDetailScreen(post: post),</a:t>
            </a:r>
          </a:p>
          <a:p>
            <a:r>
              <a:rPr lang="en-US" b="0"/>
              <a:t>      ),</a:t>
            </a:r>
          </a:p>
          <a:p>
            <a:r>
              <a:rPr lang="en-US" b="0"/>
              <a:t>    );</a:t>
            </a:r>
          </a:p>
          <a:p>
            <a:r>
              <a:rPr lang="en-US" b="0"/>
              <a:t>  }</a:t>
            </a:r>
          </a:p>
          <a:p>
            <a:endParaRPr lang="en-US" b="0"/>
          </a:p>
          <a:p>
            <a:r>
              <a:rPr lang="en-US" b="0"/>
              <a:t>  @override</a:t>
            </a:r>
          </a:p>
          <a:p>
            <a:r>
              <a:rPr lang="en-US" b="0"/>
              <a:t>  Widget build(BuildContext context) {</a:t>
            </a:r>
          </a:p>
          <a:p>
            <a:r>
              <a:rPr lang="en-US" b="0"/>
              <a:t>    return Scaffold(</a:t>
            </a:r>
          </a:p>
          <a:p>
            <a:r>
              <a:rPr lang="en-US" b="0"/>
              <a:t>      appBar: AppBar(title: const Text('Demo 8.2 – Posts')),</a:t>
            </a:r>
          </a:p>
          <a:p>
            <a:r>
              <a:rPr lang="en-US" b="0"/>
              <a:t>      body: FutureBuilder&lt;List&lt;Post&gt;&gt;(</a:t>
            </a:r>
          </a:p>
          <a:p>
            <a:r>
              <a:rPr lang="en-US" b="0"/>
              <a:t>        future: _futurePosts,</a:t>
            </a:r>
          </a:p>
          <a:p>
            <a:r>
              <a:rPr lang="en-US" b="0"/>
              <a:t>        builder: (context, snapshot) {</a:t>
            </a:r>
          </a:p>
          <a:p>
            <a:r>
              <a:rPr lang="en-US" b="0"/>
              <a:t>          if (snapshot.connectionState == ConnectionState.waiting) {</a:t>
            </a:r>
          </a:p>
          <a:p>
            <a:r>
              <a:rPr lang="en-US" b="0"/>
              <a:t>            return const Center(child: CircularProgressIndicator());</a:t>
            </a:r>
          </a:p>
          <a:p>
            <a:r>
              <a:rPr lang="en-US" b="0"/>
              <a:t>          } else if (snapshot.hasError) {</a:t>
            </a:r>
          </a:p>
          <a:p>
            <a:r>
              <a:rPr lang="en-US" b="0"/>
              <a:t>            return Center(child: Text('Error: ${snapshot.error}'));</a:t>
            </a:r>
          </a:p>
          <a:p>
            <a:r>
              <a:rPr lang="en-US" b="0"/>
              <a:t>          } else if (!snapshot.hasData || snapshot.data!.isEmpty) {</a:t>
            </a:r>
          </a:p>
          <a:p>
            <a:r>
              <a:rPr lang="en-US" b="0"/>
              <a:t>            return const Center(child: Text('No posts'));</a:t>
            </a:r>
          </a:p>
          <a:p>
            <a:r>
              <a:rPr lang="en-US" b="0"/>
              <a:t>          }</a:t>
            </a:r>
          </a:p>
          <a:p>
            <a:endParaRPr lang="en-US" b="0"/>
          </a:p>
          <a:p>
            <a:r>
              <a:rPr lang="en-US" b="0"/>
              <a:t>          final posts = snapshot.data!;</a:t>
            </a:r>
          </a:p>
          <a:p>
            <a:r>
              <a:rPr lang="en-US" b="0"/>
              <a:t>          return ListView.separated(</a:t>
            </a:r>
          </a:p>
          <a:p>
            <a:r>
              <a:rPr lang="en-US" b="0"/>
              <a:t>            itemCount: posts.length,</a:t>
            </a:r>
          </a:p>
          <a:p>
            <a:r>
              <a:rPr lang="en-US" b="0"/>
              <a:t>            separatorBuilder: (_, __) =&gt; const Divider(height: 0),</a:t>
            </a:r>
          </a:p>
          <a:p>
            <a:r>
              <a:rPr lang="en-US" b="0"/>
              <a:t>            itemBuilder: (context, index) {</a:t>
            </a:r>
          </a:p>
          <a:p>
            <a:r>
              <a:rPr lang="en-US" b="0"/>
              <a:t>              final post = posts[index];</a:t>
            </a:r>
          </a:p>
          <a:p>
            <a:r>
              <a:rPr lang="en-US" b="0"/>
              <a:t>              return ListTile(</a:t>
            </a:r>
          </a:p>
          <a:p>
            <a:r>
              <a:rPr lang="en-US" b="0"/>
              <a:t>                title: Text(post.title),</a:t>
            </a:r>
          </a:p>
          <a:p>
            <a:r>
              <a:rPr lang="en-US" b="0"/>
              <a:t>                onTap: () =&gt; _openDetails(post),   // STEP 4 — Navigate to DetailScreen</a:t>
            </a:r>
          </a:p>
          <a:p>
            <a:r>
              <a:rPr lang="en-US" b="0"/>
              <a:t>              );</a:t>
            </a:r>
          </a:p>
          <a:p>
            <a:r>
              <a:rPr lang="en-US" b="0"/>
              <a:t>            },</a:t>
            </a:r>
          </a:p>
          <a:p>
            <a:r>
              <a:rPr lang="en-US" b="0"/>
              <a:t>          );</a:t>
            </a:r>
          </a:p>
          <a:p>
            <a:r>
              <a:rPr lang="en-US" b="0"/>
              <a:t>        },</a:t>
            </a:r>
          </a:p>
          <a:p>
            <a:r>
              <a:rPr lang="en-US" b="0"/>
              <a:t>      ),</a:t>
            </a:r>
          </a:p>
          <a:p>
            <a:r>
              <a:rPr lang="en-US" b="0"/>
              <a:t>    );</a:t>
            </a:r>
          </a:p>
          <a:p>
            <a:r>
              <a:rPr lang="en-US" b="0"/>
              <a:t>  }</a:t>
            </a:r>
          </a:p>
          <a:p>
            <a:r>
              <a:rPr lang="en-US" b="0"/>
              <a:t>}</a:t>
            </a:r>
          </a:p>
          <a:p>
            <a:endParaRPr lang="en-US" b="0"/>
          </a:p>
          <a:p>
            <a:r>
              <a:rPr lang="en-US" b="0"/>
              <a:t>//</a:t>
            </a:r>
          </a:p>
          <a:p>
            <a:r>
              <a:rPr lang="en-US" b="0"/>
              <a:t>// STEP 5 — Build the DetailScreen</a:t>
            </a:r>
          </a:p>
          <a:p>
            <a:r>
              <a:rPr lang="en-US" b="0"/>
              <a:t>// The selected Post model is passed into this screen and displayed.</a:t>
            </a:r>
          </a:p>
          <a:p>
            <a:r>
              <a:rPr lang="en-US" b="0"/>
              <a:t>//</a:t>
            </a:r>
          </a:p>
          <a:p>
            <a:r>
              <a:rPr lang="en-US" b="0"/>
              <a:t>class PostDetailScreen extends StatelessWidget {</a:t>
            </a:r>
          </a:p>
          <a:p>
            <a:r>
              <a:rPr lang="en-US" b="0"/>
              <a:t>  final Post post;</a:t>
            </a:r>
          </a:p>
          <a:p>
            <a:endParaRPr lang="en-US" b="0"/>
          </a:p>
          <a:p>
            <a:r>
              <a:rPr lang="en-US" b="0"/>
              <a:t>  const PostDetailScreen({super.key, required this.post});</a:t>
            </a:r>
          </a:p>
          <a:p>
            <a:endParaRPr lang="en-US" b="0"/>
          </a:p>
          <a:p>
            <a:r>
              <a:rPr lang="en-US" b="0"/>
              <a:t>  @override</a:t>
            </a:r>
          </a:p>
          <a:p>
            <a:r>
              <a:rPr lang="en-US" b="0"/>
              <a:t>  Widget build(BuildContext context) {</a:t>
            </a:r>
          </a:p>
          <a:p>
            <a:r>
              <a:rPr lang="en-US" b="0"/>
              <a:t>    return Scaffold(</a:t>
            </a:r>
          </a:p>
          <a:p>
            <a:r>
              <a:rPr lang="en-US" b="0"/>
              <a:t>      appBar: AppBar(title: Text('Post #${post.id}')),</a:t>
            </a:r>
          </a:p>
          <a:p>
            <a:r>
              <a:rPr lang="en-US" b="0"/>
              <a:t>      body: Padding(</a:t>
            </a:r>
          </a:p>
          <a:p>
            <a:r>
              <a:rPr lang="en-US" b="0"/>
              <a:t>        padding: const EdgeInsets.all(16),</a:t>
            </a:r>
          </a:p>
          <a:p>
            <a:r>
              <a:rPr lang="en-US" b="0"/>
              <a:t>        child: Text(post.body),</a:t>
            </a:r>
          </a:p>
          <a:p>
            <a:r>
              <a:rPr lang="en-US" b="0"/>
              <a:t>      ),</a:t>
            </a:r>
          </a:p>
          <a:p>
            <a:r>
              <a:rPr lang="en-US" b="0"/>
              <a:t>    );</a:t>
            </a:r>
          </a:p>
          <a:p>
            <a:r>
              <a:rPr lang="en-US" b="0"/>
              <a:t>  }</a:t>
            </a:r>
          </a:p>
          <a:p>
            <a:r>
              <a:rPr lang="en-US" b="0"/>
              <a:t>}</a:t>
            </a:r>
          </a:p>
          <a:p>
            <a:endParaRPr lang="en-US" b="0"/>
          </a:p>
        </p:txBody>
      </p:sp>
      <p:sp>
        <p:nvSpPr>
          <p:cNvPr id="4" name="Slide Number Placeholder 3"/>
          <p:cNvSpPr>
            <a:spLocks noGrp="1"/>
          </p:cNvSpPr>
          <p:nvPr>
            <p:ph type="sldNum" sz="quarter" idx="5"/>
          </p:nvPr>
        </p:nvSpPr>
        <p:spPr/>
        <p:txBody>
          <a:bodyPr/>
          <a:lstStyle/>
          <a:p>
            <a:fld id="{ACB56F68-4D1E-40C7-852D-6D05FEA8C46B}" type="slidenum">
              <a:rPr lang="en-US" smtClean="0"/>
              <a:t>12</a:t>
            </a:fld>
            <a:endParaRPr lang="en-US"/>
          </a:p>
        </p:txBody>
      </p:sp>
    </p:spTree>
    <p:extLst>
      <p:ext uri="{BB962C8B-B14F-4D97-AF65-F5344CB8AC3E}">
        <p14:creationId xmlns:p14="http://schemas.microsoft.com/office/powerpoint/2010/main" val="124992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DEMO 8.2 — JSON Model &amp; Detail Screen step 3: Convert JSON List → List&lt;Model&gt;</a:t>
            </a:r>
          </a:p>
        </p:txBody>
      </p:sp>
      <p:sp>
        <p:nvSpPr>
          <p:cNvPr id="4" name="Slide Number Placeholder 3"/>
          <p:cNvSpPr>
            <a:spLocks noGrp="1"/>
          </p:cNvSpPr>
          <p:nvPr>
            <p:ph type="sldNum" sz="quarter" idx="5"/>
          </p:nvPr>
        </p:nvSpPr>
        <p:spPr/>
        <p:txBody>
          <a:bodyPr/>
          <a:lstStyle/>
          <a:p>
            <a:fld id="{ACB56F68-4D1E-40C7-852D-6D05FEA8C46B}" type="slidenum">
              <a:rPr lang="en-US" smtClean="0"/>
              <a:t>13</a:t>
            </a:fld>
            <a:endParaRPr lang="en-US"/>
          </a:p>
        </p:txBody>
      </p:sp>
    </p:spTree>
    <p:extLst>
      <p:ext uri="{BB962C8B-B14F-4D97-AF65-F5344CB8AC3E}">
        <p14:creationId xmlns:p14="http://schemas.microsoft.com/office/powerpoint/2010/main" val="3317988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Code demo 8.3 – POST Request</a:t>
            </a:r>
          </a:p>
          <a:p>
            <a:endParaRPr lang="en-US"/>
          </a:p>
          <a:p>
            <a:r>
              <a:rPr lang="en-US"/>
              <a:t>import 'dart:convert';</a:t>
            </a:r>
          </a:p>
          <a:p>
            <a:r>
              <a:rPr lang="en-US"/>
              <a:t>import 'package:flutter/material.dart';</a:t>
            </a:r>
          </a:p>
          <a:p>
            <a:r>
              <a:rPr lang="en-US"/>
              <a:t>import 'package:http/http.dart' as http;</a:t>
            </a:r>
          </a:p>
          <a:p>
            <a:endParaRPr lang="en-US"/>
          </a:p>
          <a:p>
            <a:r>
              <a:rPr lang="en-US"/>
              <a:t>void main() {</a:t>
            </a:r>
          </a:p>
          <a:p>
            <a:r>
              <a:rPr lang="en-US"/>
              <a:t>  runApp(const Demo83App());</a:t>
            </a:r>
          </a:p>
          <a:p>
            <a:r>
              <a:rPr lang="en-US"/>
              <a:t>}</a:t>
            </a:r>
          </a:p>
          <a:p>
            <a:endParaRPr lang="en-US"/>
          </a:p>
          <a:p>
            <a:r>
              <a:rPr lang="en-US"/>
              <a:t>class Demo83App extends StatelessWidget {</a:t>
            </a:r>
          </a:p>
          <a:p>
            <a:r>
              <a:rPr lang="en-US"/>
              <a:t>  const Demo83App({super.key});</a:t>
            </a:r>
          </a:p>
          <a:p>
            <a:endParaRPr lang="en-US"/>
          </a:p>
          <a:p>
            <a:r>
              <a:rPr lang="en-US"/>
              <a:t>  @override</a:t>
            </a:r>
          </a:p>
          <a:p>
            <a:r>
              <a:rPr lang="en-US"/>
              <a:t>  Widget build(BuildContext context) {</a:t>
            </a:r>
          </a:p>
          <a:p>
            <a:r>
              <a:rPr lang="en-US"/>
              <a:t>    return MaterialApp(</a:t>
            </a:r>
          </a:p>
          <a:p>
            <a:r>
              <a:rPr lang="en-US"/>
              <a:t>      title: 'Demo 8.3 – POST Request',</a:t>
            </a:r>
          </a:p>
          <a:p>
            <a:r>
              <a:rPr lang="en-US"/>
              <a:t>      theme: ThemeData.dark(useMaterial3: true),</a:t>
            </a:r>
          </a:p>
          <a:p>
            <a:r>
              <a:rPr lang="en-US"/>
              <a:t>      home: const CreatePostDemo(),</a:t>
            </a:r>
          </a:p>
          <a:p>
            <a:r>
              <a:rPr lang="en-US"/>
              <a:t>      debugShowCheckedModeBanner: false,</a:t>
            </a:r>
          </a:p>
          <a:p>
            <a:r>
              <a:rPr lang="en-US"/>
              <a:t>    );</a:t>
            </a:r>
          </a:p>
          <a:p>
            <a:r>
              <a:rPr lang="en-US"/>
              <a:t>  }</a:t>
            </a:r>
          </a:p>
          <a:p>
            <a:r>
              <a:rPr lang="en-US"/>
              <a:t>}</a:t>
            </a:r>
          </a:p>
          <a:p>
            <a:endParaRPr lang="en-US"/>
          </a:p>
          <a:p>
            <a:r>
              <a:rPr lang="en-US"/>
              <a:t>class CreatePostDemo extends StatefulWidget {</a:t>
            </a:r>
          </a:p>
          <a:p>
            <a:r>
              <a:rPr lang="en-US"/>
              <a:t>  const CreatePostDemo({super.key});</a:t>
            </a:r>
          </a:p>
          <a:p>
            <a:endParaRPr lang="en-US"/>
          </a:p>
          <a:p>
            <a:r>
              <a:rPr lang="en-US"/>
              <a:t>  @override</a:t>
            </a:r>
          </a:p>
          <a:p>
            <a:r>
              <a:rPr lang="en-US"/>
              <a:t>  State&lt;CreatePostDemo&gt; createState() =&gt; _CreatePostDemoState();</a:t>
            </a:r>
          </a:p>
          <a:p>
            <a:r>
              <a:rPr lang="en-US"/>
              <a:t>}</a:t>
            </a:r>
          </a:p>
          <a:p>
            <a:endParaRPr lang="en-US"/>
          </a:p>
          <a:p>
            <a:r>
              <a:rPr lang="en-US"/>
              <a:t>class _CreatePostDemoState extends State&lt;CreatePostDemo&gt; {</a:t>
            </a:r>
          </a:p>
          <a:p>
            <a:r>
              <a:rPr lang="en-US"/>
              <a:t>  final titleController = TextEditingController();</a:t>
            </a:r>
          </a:p>
          <a:p>
            <a:r>
              <a:rPr lang="en-US"/>
              <a:t>  final bodyController = TextEditingController();</a:t>
            </a:r>
          </a:p>
          <a:p>
            <a:endParaRPr lang="en-US"/>
          </a:p>
          <a:p>
            <a:r>
              <a:rPr lang="en-US"/>
              <a:t>  bool isLoading = false;</a:t>
            </a:r>
          </a:p>
          <a:p>
            <a:r>
              <a:rPr lang="en-US"/>
              <a:t>  String? result;</a:t>
            </a:r>
          </a:p>
          <a:p>
            <a:r>
              <a:rPr lang="en-US"/>
              <a:t>  String? errorMessage;</a:t>
            </a:r>
          </a:p>
          <a:p>
            <a:endParaRPr lang="en-US"/>
          </a:p>
          <a:p>
            <a:r>
              <a:rPr lang="en-US"/>
              <a:t>  // --------------------------------------------------------</a:t>
            </a:r>
          </a:p>
          <a:p>
            <a:r>
              <a:rPr lang="en-US"/>
              <a:t>  // STEP 2 — Send POST request (http.post)</a:t>
            </a:r>
          </a:p>
          <a:p>
            <a:r>
              <a:rPr lang="en-US"/>
              <a:t>  // STEP 3 — Encode JSON body before sending</a:t>
            </a:r>
          </a:p>
          <a:p>
            <a:r>
              <a:rPr lang="en-US"/>
              <a:t>  // --------------------------------------------------------</a:t>
            </a:r>
          </a:p>
          <a:p>
            <a:r>
              <a:rPr lang="en-US"/>
              <a:t>  Future&lt;void&gt; createPost() async {</a:t>
            </a:r>
          </a:p>
          <a:p>
            <a:r>
              <a:rPr lang="en-US"/>
              <a:t>    setState(() {</a:t>
            </a:r>
          </a:p>
          <a:p>
            <a:r>
              <a:rPr lang="en-US"/>
              <a:t>      isLoading = true;  // STEP 4 — Show loading indicator</a:t>
            </a:r>
          </a:p>
          <a:p>
            <a:r>
              <a:rPr lang="en-US"/>
              <a:t>      errorMessage = null;</a:t>
            </a:r>
          </a:p>
          <a:p>
            <a:r>
              <a:rPr lang="en-US"/>
              <a:t>      result = null;</a:t>
            </a:r>
          </a:p>
          <a:p>
            <a:r>
              <a:rPr lang="en-US"/>
              <a:t>    });</a:t>
            </a:r>
          </a:p>
          <a:p>
            <a:endParaRPr lang="en-US"/>
          </a:p>
          <a:p>
            <a:r>
              <a:rPr lang="en-US"/>
              <a:t>    final url = Uri.parse('https://jsonplaceholder.typicode.com/posts');</a:t>
            </a:r>
          </a:p>
          <a:p>
            <a:endParaRPr lang="en-US"/>
          </a:p>
          <a:p>
            <a:r>
              <a:rPr lang="en-US"/>
              <a:t>    try {</a:t>
            </a:r>
          </a:p>
          <a:p>
            <a:r>
              <a:rPr lang="en-US"/>
              <a:t>      final response = await http.post(</a:t>
            </a:r>
          </a:p>
          <a:p>
            <a:r>
              <a:rPr lang="en-US"/>
              <a:t>        url,</a:t>
            </a:r>
          </a:p>
          <a:p>
            <a:r>
              <a:rPr lang="en-US"/>
              <a:t>        headers: {'Content-Type': 'application/json; charset=UTF-8'},</a:t>
            </a:r>
          </a:p>
          <a:p>
            <a:r>
              <a:rPr lang="en-US"/>
              <a:t>        body: json.encode({</a:t>
            </a:r>
          </a:p>
          <a:p>
            <a:r>
              <a:rPr lang="en-US"/>
              <a:t>          'title': titleController.text,</a:t>
            </a:r>
          </a:p>
          <a:p>
            <a:r>
              <a:rPr lang="en-US"/>
              <a:t>          'body': bodyController.text,</a:t>
            </a:r>
          </a:p>
          <a:p>
            <a:r>
              <a:rPr lang="en-US"/>
              <a:t>          'userId': 1,</a:t>
            </a:r>
          </a:p>
          <a:p>
            <a:r>
              <a:rPr lang="en-US"/>
              <a:t>        }),</a:t>
            </a:r>
          </a:p>
          <a:p>
            <a:r>
              <a:rPr lang="en-US"/>
              <a:t>      );</a:t>
            </a:r>
          </a:p>
          <a:p>
            <a:endParaRPr lang="en-US"/>
          </a:p>
          <a:p>
            <a:r>
              <a:rPr lang="en-US"/>
              <a:t>      if (response.statusCode == 201) {</a:t>
            </a:r>
          </a:p>
          <a:p>
            <a:r>
              <a:rPr lang="en-US"/>
              <a:t>        setState(() {</a:t>
            </a:r>
          </a:p>
          <a:p>
            <a:r>
              <a:rPr lang="en-US"/>
              <a:t>          result = response.body;   // STEP 6 — Display success response</a:t>
            </a:r>
          </a:p>
          <a:p>
            <a:r>
              <a:rPr lang="en-US"/>
              <a:t>        });</a:t>
            </a:r>
          </a:p>
          <a:p>
            <a:r>
              <a:rPr lang="en-US"/>
              <a:t>      } else {</a:t>
            </a:r>
          </a:p>
          <a:p>
            <a:r>
              <a:rPr lang="en-US"/>
              <a:t>        throw Exception('Failed with status: ${response.statusCode}');</a:t>
            </a:r>
          </a:p>
          <a:p>
            <a:r>
              <a:rPr lang="en-US"/>
              <a:t>      }</a:t>
            </a:r>
          </a:p>
          <a:p>
            <a:r>
              <a:rPr lang="en-US"/>
              <a:t>    } catch (e) {</a:t>
            </a:r>
          </a:p>
          <a:p>
            <a:r>
              <a:rPr lang="en-US"/>
              <a:t>      setState(() {</a:t>
            </a:r>
          </a:p>
          <a:p>
            <a:r>
              <a:rPr lang="en-US"/>
              <a:t>        errorMessage = e.toString(); // STEP 5 — Handle error</a:t>
            </a:r>
          </a:p>
          <a:p>
            <a:r>
              <a:rPr lang="en-US"/>
              <a:t>      });</a:t>
            </a:r>
          </a:p>
          <a:p>
            <a:r>
              <a:rPr lang="en-US"/>
              <a:t>    } finally {</a:t>
            </a:r>
          </a:p>
          <a:p>
            <a:r>
              <a:rPr lang="en-US"/>
              <a:t>      setState(() {</a:t>
            </a:r>
          </a:p>
          <a:p>
            <a:r>
              <a:rPr lang="en-US"/>
              <a:t>        isLoading = false;</a:t>
            </a:r>
          </a:p>
          <a:p>
            <a:r>
              <a:rPr lang="en-US"/>
              <a:t>      });</a:t>
            </a:r>
          </a:p>
          <a:p>
            <a:r>
              <a:rPr lang="en-US"/>
              <a:t>    }</a:t>
            </a:r>
          </a:p>
          <a:p>
            <a:r>
              <a:rPr lang="en-US"/>
              <a:t>  }</a:t>
            </a:r>
          </a:p>
          <a:p>
            <a:endParaRPr lang="en-US"/>
          </a:p>
          <a:p>
            <a:r>
              <a:rPr lang="en-US"/>
              <a:t>  // --------------------------------------------------------</a:t>
            </a:r>
          </a:p>
          <a:p>
            <a:r>
              <a:rPr lang="en-US"/>
              <a:t>  // STEP 1 — Build a simple input form (title + body)</a:t>
            </a:r>
          </a:p>
          <a:p>
            <a:r>
              <a:rPr lang="en-US"/>
              <a:t>  // --------------------------------------------------------</a:t>
            </a:r>
          </a:p>
          <a:p>
            <a:r>
              <a:rPr lang="en-US"/>
              <a:t>  @override</a:t>
            </a:r>
          </a:p>
          <a:p>
            <a:r>
              <a:rPr lang="en-US"/>
              <a:t>  Widget build(BuildContext context) {</a:t>
            </a:r>
          </a:p>
          <a:p>
            <a:r>
              <a:rPr lang="en-US"/>
              <a:t>    return Scaffold(</a:t>
            </a:r>
          </a:p>
          <a:p>
            <a:r>
              <a:rPr lang="en-US"/>
              <a:t>      appBar: AppBar(title: const Text('Demo 8.3 – POST Request')),</a:t>
            </a:r>
          </a:p>
          <a:p>
            <a:r>
              <a:rPr lang="en-US"/>
              <a:t>      body: Padding(</a:t>
            </a:r>
          </a:p>
          <a:p>
            <a:r>
              <a:rPr lang="en-US"/>
              <a:t>        padding: const EdgeInsets.all(16),</a:t>
            </a:r>
          </a:p>
          <a:p>
            <a:r>
              <a:rPr lang="en-US"/>
              <a:t>        child: Column(</a:t>
            </a:r>
          </a:p>
          <a:p>
            <a:r>
              <a:rPr lang="en-US"/>
              <a:t>          children: [</a:t>
            </a:r>
          </a:p>
          <a:p>
            <a:r>
              <a:rPr lang="en-US"/>
              <a:t>            TextField(</a:t>
            </a:r>
          </a:p>
          <a:p>
            <a:r>
              <a:rPr lang="en-US"/>
              <a:t>              controller: titleController,</a:t>
            </a:r>
          </a:p>
          <a:p>
            <a:r>
              <a:rPr lang="en-US"/>
              <a:t>              decoration: const InputDecoration(</a:t>
            </a:r>
          </a:p>
          <a:p>
            <a:r>
              <a:rPr lang="en-US"/>
              <a:t>                labelText: 'Title',</a:t>
            </a:r>
          </a:p>
          <a:p>
            <a:r>
              <a:rPr lang="en-US"/>
              <a:t>                border: OutlineInputBorder(),</a:t>
            </a:r>
          </a:p>
          <a:p>
            <a:r>
              <a:rPr lang="en-US"/>
              <a:t>              ),</a:t>
            </a:r>
          </a:p>
          <a:p>
            <a:r>
              <a:rPr lang="en-US"/>
              <a:t>            ),</a:t>
            </a:r>
          </a:p>
          <a:p>
            <a:r>
              <a:rPr lang="en-US"/>
              <a:t>            const SizedBox(height: 12),</a:t>
            </a:r>
          </a:p>
          <a:p>
            <a:r>
              <a:rPr lang="en-US"/>
              <a:t>            TextField(</a:t>
            </a:r>
          </a:p>
          <a:p>
            <a:r>
              <a:rPr lang="en-US"/>
              <a:t>              controller: bodyController,</a:t>
            </a:r>
          </a:p>
          <a:p>
            <a:r>
              <a:rPr lang="en-US"/>
              <a:t>              maxLines: 3,</a:t>
            </a:r>
          </a:p>
          <a:p>
            <a:r>
              <a:rPr lang="en-US"/>
              <a:t>              decoration: const InputDecoration(</a:t>
            </a:r>
          </a:p>
          <a:p>
            <a:r>
              <a:rPr lang="en-US"/>
              <a:t>                labelText: 'Body',</a:t>
            </a:r>
          </a:p>
          <a:p>
            <a:r>
              <a:rPr lang="en-US"/>
              <a:t>                border: OutlineInputBorder(),</a:t>
            </a:r>
          </a:p>
          <a:p>
            <a:r>
              <a:rPr lang="en-US"/>
              <a:t>              ),</a:t>
            </a:r>
          </a:p>
          <a:p>
            <a:r>
              <a:rPr lang="en-US"/>
              <a:t>            ),</a:t>
            </a:r>
          </a:p>
          <a:p>
            <a:r>
              <a:rPr lang="en-US"/>
              <a:t>            const SizedBox(height: 16),</a:t>
            </a:r>
          </a:p>
          <a:p>
            <a:endParaRPr lang="en-US"/>
          </a:p>
          <a:p>
            <a:r>
              <a:rPr lang="en-US"/>
              <a:t>            ElevatedButton(</a:t>
            </a:r>
          </a:p>
          <a:p>
            <a:r>
              <a:rPr lang="en-US"/>
              <a:t>              onPressed: isLoading ? null : createPost,</a:t>
            </a:r>
          </a:p>
          <a:p>
            <a:r>
              <a:rPr lang="en-US"/>
              <a:t>              child: isLoading</a:t>
            </a:r>
          </a:p>
          <a:p>
            <a:r>
              <a:rPr lang="en-US"/>
              <a:t>                  ? const SizedBox(</a:t>
            </a:r>
          </a:p>
          <a:p>
            <a:r>
              <a:rPr lang="en-US"/>
              <a:t>                      width: 18,</a:t>
            </a:r>
          </a:p>
          <a:p>
            <a:r>
              <a:rPr lang="en-US"/>
              <a:t>                      height: 18,</a:t>
            </a:r>
          </a:p>
          <a:p>
            <a:r>
              <a:rPr lang="en-US"/>
              <a:t>                      child: CircularProgressIndicator(strokeWidth: 2),</a:t>
            </a:r>
          </a:p>
          <a:p>
            <a:r>
              <a:rPr lang="en-US"/>
              <a:t>                    ) // STEP 4 — loading indicator</a:t>
            </a:r>
          </a:p>
          <a:p>
            <a:r>
              <a:rPr lang="en-US"/>
              <a:t>                  : const Text('Send POST'),</a:t>
            </a:r>
          </a:p>
          <a:p>
            <a:r>
              <a:rPr lang="en-US"/>
              <a:t>            ),</a:t>
            </a:r>
          </a:p>
          <a:p>
            <a:endParaRPr lang="en-US"/>
          </a:p>
          <a:p>
            <a:r>
              <a:rPr lang="en-US"/>
              <a:t>            const SizedBox(height: 20),</a:t>
            </a:r>
          </a:p>
          <a:p>
            <a:endParaRPr lang="en-US"/>
          </a:p>
          <a:p>
            <a:r>
              <a:rPr lang="en-US"/>
              <a:t>            // STEP 5 — Error handling UI + Retry</a:t>
            </a:r>
          </a:p>
          <a:p>
            <a:r>
              <a:rPr lang="en-US"/>
              <a:t>            if (errorMessage != null) ...[</a:t>
            </a:r>
          </a:p>
          <a:p>
            <a:r>
              <a:rPr lang="en-US"/>
              <a:t>              Text('Error: $errorMessage',</a:t>
            </a:r>
          </a:p>
          <a:p>
            <a:r>
              <a:rPr lang="en-US"/>
              <a:t>                  style: const TextStyle(color: Colors.red)),</a:t>
            </a:r>
          </a:p>
          <a:p>
            <a:r>
              <a:rPr lang="en-US"/>
              <a:t>              TextButton(</a:t>
            </a:r>
          </a:p>
          <a:p>
            <a:r>
              <a:rPr lang="en-US"/>
              <a:t>                onPressed: () =&gt; setState(() {}),</a:t>
            </a:r>
          </a:p>
          <a:p>
            <a:r>
              <a:rPr lang="en-US"/>
              <a:t>                child: const Text('Retry'),</a:t>
            </a:r>
          </a:p>
          <a:p>
            <a:r>
              <a:rPr lang="en-US"/>
              <a:t>              ),</a:t>
            </a:r>
          </a:p>
          <a:p>
            <a:r>
              <a:rPr lang="en-US"/>
              <a:t>            ],</a:t>
            </a:r>
          </a:p>
          <a:p>
            <a:endParaRPr lang="en-US"/>
          </a:p>
          <a:p>
            <a:r>
              <a:rPr lang="en-US"/>
              <a:t>            // STEP 6 — Display success result</a:t>
            </a:r>
          </a:p>
          <a:p>
            <a:r>
              <a:rPr lang="en-US"/>
              <a:t>            if (result != null) ...[</a:t>
            </a:r>
          </a:p>
          <a:p>
            <a:r>
              <a:rPr lang="en-US"/>
              <a:t>              const Text(</a:t>
            </a:r>
          </a:p>
          <a:p>
            <a:r>
              <a:rPr lang="en-US"/>
              <a:t>                'Success!',</a:t>
            </a:r>
          </a:p>
          <a:p>
            <a:r>
              <a:rPr lang="en-US"/>
              <a:t>                style: TextStyle(color: Colors.green, fontWeight: FontWeight.bold),</a:t>
            </a:r>
          </a:p>
          <a:p>
            <a:r>
              <a:rPr lang="en-US"/>
              <a:t>              ),</a:t>
            </a:r>
          </a:p>
          <a:p>
            <a:r>
              <a:rPr lang="en-US"/>
              <a:t>              const SizedBox(height: 8),</a:t>
            </a:r>
          </a:p>
          <a:p>
            <a:r>
              <a:rPr lang="en-US"/>
              <a:t>              Expanded(</a:t>
            </a:r>
          </a:p>
          <a:p>
            <a:r>
              <a:rPr lang="en-US"/>
              <a:t>                child: SingleChildScrollView(</a:t>
            </a:r>
          </a:p>
          <a:p>
            <a:r>
              <a:rPr lang="en-US"/>
              <a:t>                  child: Text(</a:t>
            </a:r>
          </a:p>
          <a:p>
            <a:r>
              <a:rPr lang="en-US"/>
              <a:t>                    result!,</a:t>
            </a:r>
          </a:p>
          <a:p>
            <a:r>
              <a:rPr lang="en-US"/>
              <a:t>                    style: const TextStyle(fontSize: 13),</a:t>
            </a:r>
          </a:p>
          <a:p>
            <a:r>
              <a:rPr lang="en-US"/>
              <a:t>                  ),</a:t>
            </a:r>
          </a:p>
          <a:p>
            <a:r>
              <a:rPr lang="en-US"/>
              <a:t>                ),</a:t>
            </a:r>
          </a:p>
          <a:p>
            <a:r>
              <a:rPr lang="en-US"/>
              <a:t>              ),</a:t>
            </a:r>
          </a:p>
          <a:p>
            <a:r>
              <a:rPr lang="en-US"/>
              <a:t>            ],</a:t>
            </a:r>
          </a:p>
          <a:p>
            <a:r>
              <a:rPr lang="en-US"/>
              <a:t>          ],</a:t>
            </a:r>
          </a:p>
          <a:p>
            <a:r>
              <a:rPr lang="en-US"/>
              <a:t>        ),</a:t>
            </a:r>
          </a:p>
          <a:p>
            <a:r>
              <a:rPr lang="en-US"/>
              <a:t>      ),</a:t>
            </a:r>
          </a:p>
          <a:p>
            <a:r>
              <a:rPr lang="en-US"/>
              <a:t>    );</a:t>
            </a:r>
          </a:p>
          <a:p>
            <a:r>
              <a:rPr lang="en-US"/>
              <a:t>  }</a:t>
            </a:r>
          </a:p>
          <a:p>
            <a:endParaRPr lang="en-US"/>
          </a:p>
          <a:p>
            <a:r>
              <a:rPr lang="en-US"/>
              <a:t>  @override</a:t>
            </a:r>
          </a:p>
          <a:p>
            <a:r>
              <a:rPr lang="en-US"/>
              <a:t>  void dispose() {</a:t>
            </a:r>
          </a:p>
          <a:p>
            <a:r>
              <a:rPr lang="en-US"/>
              <a:t>    titleController.dispose();</a:t>
            </a:r>
          </a:p>
          <a:p>
            <a:r>
              <a:rPr lang="en-US"/>
              <a:t>    bodyController.dispose();</a:t>
            </a:r>
          </a:p>
          <a:p>
            <a:r>
              <a:rPr lang="en-US"/>
              <a:t>    super.dispose();</a:t>
            </a:r>
          </a:p>
          <a:p>
            <a:r>
              <a:rPr lang="en-US"/>
              <a:t>  }</a:t>
            </a:r>
          </a:p>
          <a:p>
            <a:r>
              <a:rPr lang="en-US"/>
              <a:t>}</a:t>
            </a:r>
          </a:p>
          <a:p>
            <a:endParaRPr lang="en-US"/>
          </a:p>
        </p:txBody>
      </p:sp>
      <p:sp>
        <p:nvSpPr>
          <p:cNvPr id="4" name="Slide Number Placeholder 3"/>
          <p:cNvSpPr>
            <a:spLocks noGrp="1"/>
          </p:cNvSpPr>
          <p:nvPr>
            <p:ph type="sldNum" sz="quarter" idx="5"/>
          </p:nvPr>
        </p:nvSpPr>
        <p:spPr/>
        <p:txBody>
          <a:bodyPr/>
          <a:lstStyle/>
          <a:p>
            <a:fld id="{ACB56F68-4D1E-40C7-852D-6D05FEA8C46B}" type="slidenum">
              <a:rPr lang="en-US" smtClean="0"/>
              <a:t>14</a:t>
            </a:fld>
            <a:endParaRPr lang="en-US"/>
          </a:p>
        </p:txBody>
      </p:sp>
    </p:spTree>
    <p:extLst>
      <p:ext uri="{BB962C8B-B14F-4D97-AF65-F5344CB8AC3E}">
        <p14:creationId xmlns:p14="http://schemas.microsoft.com/office/powerpoint/2010/main" val="40174688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Encourage students not to ignore errors; robust apps handle them gracefully.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Demo 8.3 step 5</a:t>
            </a:r>
          </a:p>
        </p:txBody>
      </p:sp>
      <p:sp>
        <p:nvSpPr>
          <p:cNvPr id="4" name="Slide Number Placeholder 3"/>
          <p:cNvSpPr>
            <a:spLocks noGrp="1"/>
          </p:cNvSpPr>
          <p:nvPr>
            <p:ph type="sldNum" sz="quarter" idx="5"/>
          </p:nvPr>
        </p:nvSpPr>
        <p:spPr/>
        <p:txBody>
          <a:bodyPr/>
          <a:lstStyle/>
          <a:p>
            <a:fld id="{ACB56F68-4D1E-40C7-852D-6D05FEA8C46B}" type="slidenum">
              <a:rPr lang="en-US" smtClean="0"/>
              <a:t>15</a:t>
            </a:fld>
            <a:endParaRPr lang="en-US"/>
          </a:p>
        </p:txBody>
      </p:sp>
    </p:spTree>
    <p:extLst>
      <p:ext uri="{BB962C8B-B14F-4D97-AF65-F5344CB8AC3E}">
        <p14:creationId xmlns:p14="http://schemas.microsoft.com/office/powerpoint/2010/main" val="28744616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Note: etState() forces the widget to rebuild, causing the POST request future to be executed again. This is a common pattern for retrying failed network calls.</a:t>
            </a:r>
          </a:p>
          <a:p>
            <a:endParaRPr lang="en-US"/>
          </a:p>
          <a:p>
            <a:r>
              <a:rPr lang="en-US"/>
              <a:t>Demo 8.3 step 2,3,5</a:t>
            </a:r>
          </a:p>
        </p:txBody>
      </p:sp>
      <p:sp>
        <p:nvSpPr>
          <p:cNvPr id="4" name="Slide Number Placeholder 3"/>
          <p:cNvSpPr>
            <a:spLocks noGrp="1"/>
          </p:cNvSpPr>
          <p:nvPr>
            <p:ph type="sldNum" sz="quarter" idx="5"/>
          </p:nvPr>
        </p:nvSpPr>
        <p:spPr/>
        <p:txBody>
          <a:bodyPr/>
          <a:lstStyle/>
          <a:p>
            <a:fld id="{ACB56F68-4D1E-40C7-852D-6D05FEA8C46B}" type="slidenum">
              <a:rPr lang="en-US" smtClean="0"/>
              <a:t>16</a:t>
            </a:fld>
            <a:endParaRPr lang="en-US"/>
          </a:p>
        </p:txBody>
      </p:sp>
    </p:spTree>
    <p:extLst>
      <p:ext uri="{BB962C8B-B14F-4D97-AF65-F5344CB8AC3E}">
        <p14:creationId xmlns:p14="http://schemas.microsoft.com/office/powerpoint/2010/main" val="4249468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Relate this to async checks in module 7 and Lab 7.4. </a:t>
            </a:r>
          </a:p>
          <a:p>
            <a:endParaRPr lang="en-US"/>
          </a:p>
          <a:p>
            <a:r>
              <a:rPr lang="en-US"/>
              <a:t>“In Module 7, we learned how to disable the button when the form is invalid or processing the form.</a:t>
            </a:r>
          </a:p>
          <a:p>
            <a:r>
              <a:rPr lang="en-US" b="1"/>
              <a:t>In Demo 8.3, we apply this logic again but for real async tasks (sending data to the API).</a:t>
            </a:r>
          </a:p>
          <a:p>
            <a:r>
              <a:rPr lang="en-US"/>
              <a:t>That is, when the POST request is running, the button must be disabled to avoid sending 2–3 requests at the same time.”</a:t>
            </a:r>
          </a:p>
        </p:txBody>
      </p:sp>
      <p:sp>
        <p:nvSpPr>
          <p:cNvPr id="4" name="Slide Number Placeholder 3"/>
          <p:cNvSpPr>
            <a:spLocks noGrp="1"/>
          </p:cNvSpPr>
          <p:nvPr>
            <p:ph type="sldNum" sz="quarter" idx="5"/>
          </p:nvPr>
        </p:nvSpPr>
        <p:spPr/>
        <p:txBody>
          <a:bodyPr/>
          <a:lstStyle/>
          <a:p>
            <a:fld id="{ACB56F68-4D1E-40C7-852D-6D05FEA8C46B}" type="slidenum">
              <a:rPr lang="en-US" smtClean="0"/>
              <a:t>17</a:t>
            </a:fld>
            <a:endParaRPr lang="en-US"/>
          </a:p>
        </p:txBody>
      </p:sp>
    </p:spTree>
    <p:extLst>
      <p:ext uri="{BB962C8B-B14F-4D97-AF65-F5344CB8AC3E}">
        <p14:creationId xmlns:p14="http://schemas.microsoft.com/office/powerpoint/2010/main" val="32449289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b="1"/>
              <a:t>Code demo 8.4 -ApiService</a:t>
            </a:r>
          </a:p>
          <a:p>
            <a:endParaRPr lang="en-US" b="0"/>
          </a:p>
          <a:p>
            <a:r>
              <a:rPr lang="en-US" b="0"/>
              <a:t>import 'package:flutter/material.dart';</a:t>
            </a:r>
          </a:p>
          <a:p>
            <a:r>
              <a:rPr lang="en-US" b="0"/>
              <a:t>import 'package:http/http.dart' as http;</a:t>
            </a:r>
          </a:p>
          <a:p>
            <a:r>
              <a:rPr lang="en-US" b="0"/>
              <a:t>import 'dart:convert';</a:t>
            </a:r>
          </a:p>
          <a:p>
            <a:endParaRPr lang="en-US" b="0"/>
          </a:p>
          <a:p>
            <a:r>
              <a:rPr lang="en-US" b="0"/>
              <a:t>void main() =&gt; runApp(const Demo84App());</a:t>
            </a:r>
          </a:p>
          <a:p>
            <a:endParaRPr lang="en-US" b="0"/>
          </a:p>
          <a:p>
            <a:r>
              <a:rPr lang="en-US" b="0"/>
              <a:t>class Demo84App extends StatelessWidget {</a:t>
            </a:r>
          </a:p>
          <a:p>
            <a:r>
              <a:rPr lang="en-US" b="0"/>
              <a:t>  const Demo84App({super.key});</a:t>
            </a:r>
          </a:p>
          <a:p>
            <a:endParaRPr lang="en-US" b="0"/>
          </a:p>
          <a:p>
            <a:r>
              <a:rPr lang="en-US" b="0"/>
              <a:t>  @override</a:t>
            </a:r>
          </a:p>
          <a:p>
            <a:r>
              <a:rPr lang="en-US" b="0"/>
              <a:t>  Widget build(BuildContext context) {</a:t>
            </a:r>
          </a:p>
          <a:p>
            <a:r>
              <a:rPr lang="en-US" b="0"/>
              <a:t>    return MaterialApp(</a:t>
            </a:r>
          </a:p>
          <a:p>
            <a:r>
              <a:rPr lang="en-US" b="0"/>
              <a:t>      title: 'Demo 8.4 – ApiService',</a:t>
            </a:r>
          </a:p>
          <a:p>
            <a:r>
              <a:rPr lang="en-US" b="0"/>
              <a:t>      theme: ThemeData.dark(useMaterial3: true),</a:t>
            </a:r>
          </a:p>
          <a:p>
            <a:r>
              <a:rPr lang="en-US" b="0"/>
              <a:t>      home: const ApiServiceDemoScreen(),</a:t>
            </a:r>
          </a:p>
          <a:p>
            <a:r>
              <a:rPr lang="en-US" b="0"/>
              <a:t>      debugShowCheckedModeBanner: false,</a:t>
            </a:r>
          </a:p>
          <a:p>
            <a:r>
              <a:rPr lang="en-US" b="0"/>
              <a:t>    );</a:t>
            </a:r>
          </a:p>
          <a:p>
            <a:r>
              <a:rPr lang="en-US" b="0"/>
              <a:t>  }</a:t>
            </a:r>
          </a:p>
          <a:p>
            <a:r>
              <a:rPr lang="en-US" b="0"/>
              <a:t>}</a:t>
            </a:r>
          </a:p>
          <a:p>
            <a:endParaRPr lang="en-US" b="0"/>
          </a:p>
          <a:p>
            <a:r>
              <a:rPr lang="en-US" b="0"/>
              <a:t>// ----------------------------------------------</a:t>
            </a:r>
          </a:p>
          <a:p>
            <a:r>
              <a:rPr lang="en-US" b="0"/>
              <a:t>// STEP 1 — Create Model (Post + fromJson)</a:t>
            </a:r>
          </a:p>
          <a:p>
            <a:r>
              <a:rPr lang="en-US" b="0"/>
              <a:t>// ----------------------------------------------</a:t>
            </a:r>
          </a:p>
          <a:p>
            <a:r>
              <a:rPr lang="en-US" b="0"/>
              <a:t>class Post {</a:t>
            </a:r>
          </a:p>
          <a:p>
            <a:r>
              <a:rPr lang="en-US" b="0"/>
              <a:t>  final int id;</a:t>
            </a:r>
          </a:p>
          <a:p>
            <a:r>
              <a:rPr lang="en-US" b="0"/>
              <a:t>  final String title;</a:t>
            </a:r>
          </a:p>
          <a:p>
            <a:endParaRPr lang="en-US" b="0"/>
          </a:p>
          <a:p>
            <a:r>
              <a:rPr lang="en-US" b="0"/>
              <a:t>  Post({required this.id, required this.title});</a:t>
            </a:r>
          </a:p>
          <a:p>
            <a:endParaRPr lang="en-US" b="0"/>
          </a:p>
          <a:p>
            <a:r>
              <a:rPr lang="en-US" b="0"/>
              <a:t>  factory Post.fromJson(Map&lt;String, dynamic&gt; json) {</a:t>
            </a:r>
          </a:p>
          <a:p>
            <a:r>
              <a:rPr lang="en-US" b="0"/>
              <a:t>    return Post(</a:t>
            </a:r>
          </a:p>
          <a:p>
            <a:r>
              <a:rPr lang="en-US" b="0"/>
              <a:t>      id: json['id'] as int,</a:t>
            </a:r>
          </a:p>
          <a:p>
            <a:r>
              <a:rPr lang="en-US" b="0"/>
              <a:t>      title: json['title'] as String,</a:t>
            </a:r>
          </a:p>
          <a:p>
            <a:r>
              <a:rPr lang="en-US" b="0"/>
              <a:t>    );</a:t>
            </a:r>
          </a:p>
          <a:p>
            <a:r>
              <a:rPr lang="en-US" b="0"/>
              <a:t>  }</a:t>
            </a:r>
          </a:p>
          <a:p>
            <a:r>
              <a:rPr lang="en-US" b="0"/>
              <a:t>}</a:t>
            </a:r>
          </a:p>
          <a:p>
            <a:endParaRPr lang="en-US" b="0"/>
          </a:p>
          <a:p>
            <a:r>
              <a:rPr lang="en-US" b="0"/>
              <a:t>// ----------------------------------------------</a:t>
            </a:r>
          </a:p>
          <a:p>
            <a:r>
              <a:rPr lang="en-US" b="0"/>
              <a:t>// STEP 2 — Build ApiService (fetchPosts())</a:t>
            </a:r>
          </a:p>
          <a:p>
            <a:r>
              <a:rPr lang="en-US" b="0"/>
              <a:t>// ----------------------------------------------</a:t>
            </a:r>
          </a:p>
          <a:p>
            <a:r>
              <a:rPr lang="en-US" b="0"/>
              <a:t>class ApiService {</a:t>
            </a:r>
          </a:p>
          <a:p>
            <a:r>
              <a:rPr lang="en-US" b="0"/>
              <a:t>  final http.Client client;</a:t>
            </a:r>
          </a:p>
          <a:p>
            <a:endParaRPr lang="en-US" b="0"/>
          </a:p>
          <a:p>
            <a:r>
              <a:rPr lang="en-US" b="0"/>
              <a:t>  ApiService({http.Client? client}) : client = client ?? http.Client();</a:t>
            </a:r>
          </a:p>
          <a:p>
            <a:endParaRPr lang="en-US" b="0"/>
          </a:p>
          <a:p>
            <a:r>
              <a:rPr lang="en-US" b="0"/>
              <a:t>  Future&lt;List&lt;Post&gt;&gt; fetchPosts() async {</a:t>
            </a:r>
          </a:p>
          <a:p>
            <a:r>
              <a:rPr lang="en-US" b="0"/>
              <a:t>    final url = Uri.parse('https://jsonplaceholder.typicode.com/posts');</a:t>
            </a:r>
          </a:p>
          <a:p>
            <a:r>
              <a:rPr lang="en-US" b="0"/>
              <a:t>    final response = await client.get(url);</a:t>
            </a:r>
          </a:p>
          <a:p>
            <a:endParaRPr lang="en-US" b="0"/>
          </a:p>
          <a:p>
            <a:r>
              <a:rPr lang="en-US" b="0"/>
              <a:t>    if (response.statusCode != 200) {</a:t>
            </a:r>
          </a:p>
          <a:p>
            <a:r>
              <a:rPr lang="en-US" b="0"/>
              <a:t>      throw Exception('Failed to load posts');</a:t>
            </a:r>
          </a:p>
          <a:p>
            <a:r>
              <a:rPr lang="en-US" b="0"/>
              <a:t>    }</a:t>
            </a:r>
          </a:p>
          <a:p>
            <a:endParaRPr lang="en-US" b="0"/>
          </a:p>
          <a:p>
            <a:r>
              <a:rPr lang="en-US" b="0"/>
              <a:t>    final List&lt;dynamic&gt; jsonList = json.decode(response.body);</a:t>
            </a:r>
          </a:p>
          <a:p>
            <a:r>
              <a:rPr lang="en-US" b="0"/>
              <a:t>    return jsonList.map((e) =&gt; Post.fromJson(e)).toList();</a:t>
            </a:r>
          </a:p>
          <a:p>
            <a:r>
              <a:rPr lang="en-US" b="0"/>
              <a:t>  }</a:t>
            </a:r>
          </a:p>
          <a:p>
            <a:r>
              <a:rPr lang="en-US" b="0"/>
              <a:t>}</a:t>
            </a:r>
          </a:p>
          <a:p>
            <a:endParaRPr lang="en-US" b="0"/>
          </a:p>
          <a:p>
            <a:r>
              <a:rPr lang="en-US" b="0"/>
              <a:t>class ApiServiceDemoScreen extends StatefulWidget {</a:t>
            </a:r>
          </a:p>
          <a:p>
            <a:r>
              <a:rPr lang="en-US" b="0"/>
              <a:t>  const ApiServiceDemoScreen({super.key});</a:t>
            </a:r>
          </a:p>
          <a:p>
            <a:endParaRPr lang="en-US" b="0"/>
          </a:p>
          <a:p>
            <a:r>
              <a:rPr lang="en-US" b="0"/>
              <a:t>  @override</a:t>
            </a:r>
          </a:p>
          <a:p>
            <a:r>
              <a:rPr lang="en-US" b="0"/>
              <a:t>  State&lt;ApiServiceDemoScreen&gt; createState() =&gt; _ApiServiceDemoScreenState();</a:t>
            </a:r>
          </a:p>
          <a:p>
            <a:r>
              <a:rPr lang="en-US" b="0"/>
              <a:t>}</a:t>
            </a:r>
          </a:p>
          <a:p>
            <a:endParaRPr lang="en-US" b="0"/>
          </a:p>
          <a:p>
            <a:r>
              <a:rPr lang="en-US" b="0"/>
              <a:t>class _ApiServiceDemoScreenState extends State&lt;ApiServiceDemoScreen&gt; {</a:t>
            </a:r>
          </a:p>
          <a:p>
            <a:r>
              <a:rPr lang="en-US" b="0"/>
              <a:t>  late final ApiService _apiService;</a:t>
            </a:r>
          </a:p>
          <a:p>
            <a:r>
              <a:rPr lang="en-US" b="0"/>
              <a:t>  late Future&lt;List&lt;Post&gt;&gt; _futurePosts;</a:t>
            </a:r>
          </a:p>
          <a:p>
            <a:endParaRPr lang="en-US" b="0"/>
          </a:p>
          <a:p>
            <a:r>
              <a:rPr lang="en-US" b="0"/>
              <a:t>  @override</a:t>
            </a:r>
          </a:p>
          <a:p>
            <a:r>
              <a:rPr lang="en-US" b="0"/>
              <a:t>  void initState() {</a:t>
            </a:r>
          </a:p>
          <a:p>
            <a:r>
              <a:rPr lang="en-US" b="0"/>
              <a:t>    super.initState();</a:t>
            </a:r>
          </a:p>
          <a:p>
            <a:endParaRPr lang="en-US" b="0"/>
          </a:p>
          <a:p>
            <a:r>
              <a:rPr lang="en-US" b="0"/>
              <a:t>    // ----------------------------------------------</a:t>
            </a:r>
          </a:p>
          <a:p>
            <a:r>
              <a:rPr lang="en-US" b="0"/>
              <a:t>    // STEP 3 — Inject Service &amp; call fetchPosts()</a:t>
            </a:r>
          </a:p>
          <a:p>
            <a:r>
              <a:rPr lang="en-US" b="0"/>
              <a:t>    // ----------------------------------------------</a:t>
            </a:r>
          </a:p>
          <a:p>
            <a:r>
              <a:rPr lang="en-US" b="0"/>
              <a:t>    _apiService = ApiService();</a:t>
            </a:r>
          </a:p>
          <a:p>
            <a:r>
              <a:rPr lang="en-US" b="0"/>
              <a:t>    _futurePosts = _apiService.fetchPosts();</a:t>
            </a:r>
          </a:p>
          <a:p>
            <a:r>
              <a:rPr lang="en-US" b="0"/>
              <a:t>  }</a:t>
            </a:r>
          </a:p>
          <a:p>
            <a:endParaRPr lang="en-US" b="0"/>
          </a:p>
          <a:p>
            <a:r>
              <a:rPr lang="en-US" b="0"/>
              <a:t>  @override</a:t>
            </a:r>
          </a:p>
          <a:p>
            <a:r>
              <a:rPr lang="en-US" b="0"/>
              <a:t>  Widget build(BuildContext context) {</a:t>
            </a:r>
          </a:p>
          <a:p>
            <a:r>
              <a:rPr lang="en-US" b="0"/>
              <a:t>    return Scaffold(</a:t>
            </a:r>
          </a:p>
          <a:p>
            <a:r>
              <a:rPr lang="en-US" b="0"/>
              <a:t>      appBar: AppBar(title: const Text('Demo 8.4 – ApiService')),</a:t>
            </a:r>
          </a:p>
          <a:p>
            <a:r>
              <a:rPr lang="en-US" b="0"/>
              <a:t>      </a:t>
            </a:r>
          </a:p>
          <a:p>
            <a:r>
              <a:rPr lang="en-US" b="0"/>
              <a:t>      // ----------------------------------------------</a:t>
            </a:r>
          </a:p>
          <a:p>
            <a:r>
              <a:rPr lang="en-US" b="0"/>
              <a:t>      // STEP 4 — Render data using FutureBuilder</a:t>
            </a:r>
          </a:p>
          <a:p>
            <a:r>
              <a:rPr lang="en-US" b="0"/>
              <a:t>      // ----------------------------------------------</a:t>
            </a:r>
          </a:p>
          <a:p>
            <a:r>
              <a:rPr lang="en-US" b="0"/>
              <a:t>      body: FutureBuilder&lt;List&lt;Post&gt;&gt;(</a:t>
            </a:r>
          </a:p>
          <a:p>
            <a:r>
              <a:rPr lang="en-US" b="0"/>
              <a:t>        future: _futurePosts,</a:t>
            </a:r>
          </a:p>
          <a:p>
            <a:r>
              <a:rPr lang="en-US" b="0"/>
              <a:t>        builder: (context, snapshot) {</a:t>
            </a:r>
          </a:p>
          <a:p>
            <a:r>
              <a:rPr lang="en-US" b="0"/>
              <a:t>          if (snapshot.connectionState == ConnectionState.waiting) {</a:t>
            </a:r>
          </a:p>
          <a:p>
            <a:r>
              <a:rPr lang="en-US" b="0"/>
              <a:t>            return const Center(child: CircularProgressIndicator());</a:t>
            </a:r>
          </a:p>
          <a:p>
            <a:r>
              <a:rPr lang="en-US" b="0"/>
              <a:t>          } </a:t>
            </a:r>
          </a:p>
          <a:p>
            <a:r>
              <a:rPr lang="en-US" b="0"/>
              <a:t>          else if (snapshot.hasError) {</a:t>
            </a:r>
          </a:p>
          <a:p>
            <a:r>
              <a:rPr lang="en-US" b="0"/>
              <a:t>            return Center(child: Text('Error: ${snapshot.error}'));</a:t>
            </a:r>
          </a:p>
          <a:p>
            <a:r>
              <a:rPr lang="en-US" b="0"/>
              <a:t>          } </a:t>
            </a:r>
          </a:p>
          <a:p>
            <a:r>
              <a:rPr lang="en-US" b="0"/>
              <a:t>          else if (!snapshot.hasData || snapshot.data!.isEmpty) {</a:t>
            </a:r>
          </a:p>
          <a:p>
            <a:r>
              <a:rPr lang="en-US" b="0"/>
              <a:t>            return const Center(child: Text('No posts'));</a:t>
            </a:r>
          </a:p>
          <a:p>
            <a:r>
              <a:rPr lang="en-US" b="0"/>
              <a:t>          }</a:t>
            </a:r>
          </a:p>
          <a:p>
            <a:endParaRPr lang="en-US" b="0"/>
          </a:p>
          <a:p>
            <a:r>
              <a:rPr lang="en-US" b="0"/>
              <a:t>          final posts = snapshot.data!;</a:t>
            </a:r>
          </a:p>
          <a:p>
            <a:endParaRPr lang="en-US" b="0"/>
          </a:p>
          <a:p>
            <a:r>
              <a:rPr lang="en-US" b="0"/>
              <a:t>          return ListView.builder(</a:t>
            </a:r>
          </a:p>
          <a:p>
            <a:r>
              <a:rPr lang="en-US" b="0"/>
              <a:t>            itemCount: posts.length,</a:t>
            </a:r>
          </a:p>
          <a:p>
            <a:r>
              <a:rPr lang="en-US" b="0"/>
              <a:t>            itemBuilder: (_, index) {</a:t>
            </a:r>
          </a:p>
          <a:p>
            <a:r>
              <a:rPr lang="en-US" b="0"/>
              <a:t>              final post = posts[index];</a:t>
            </a:r>
          </a:p>
          <a:p>
            <a:r>
              <a:rPr lang="en-US" b="0"/>
              <a:t>              return ListTile(</a:t>
            </a:r>
          </a:p>
          <a:p>
            <a:r>
              <a:rPr lang="en-US" b="0"/>
              <a:t>                title: Text(post.title),</a:t>
            </a:r>
          </a:p>
          <a:p>
            <a:r>
              <a:rPr lang="en-US" b="0"/>
              <a:t>                leading: CircleAvatar(child: Text(post.id.toString())),</a:t>
            </a:r>
          </a:p>
          <a:p>
            <a:r>
              <a:rPr lang="en-US" b="0"/>
              <a:t>              );</a:t>
            </a:r>
          </a:p>
          <a:p>
            <a:r>
              <a:rPr lang="en-US" b="0"/>
              <a:t>            },</a:t>
            </a:r>
          </a:p>
          <a:p>
            <a:r>
              <a:rPr lang="en-US" b="0"/>
              <a:t>          );</a:t>
            </a:r>
          </a:p>
          <a:p>
            <a:r>
              <a:rPr lang="en-US" b="0"/>
              <a:t>        },</a:t>
            </a:r>
          </a:p>
          <a:p>
            <a:r>
              <a:rPr lang="en-US" b="0"/>
              <a:t>      ),</a:t>
            </a:r>
          </a:p>
          <a:p>
            <a:r>
              <a:rPr lang="en-US" b="0"/>
              <a:t>    );</a:t>
            </a:r>
          </a:p>
          <a:p>
            <a:r>
              <a:rPr lang="en-US" b="0"/>
              <a:t>  }</a:t>
            </a:r>
          </a:p>
          <a:p>
            <a:r>
              <a:rPr lang="en-US" b="0"/>
              <a:t>}</a:t>
            </a:r>
          </a:p>
          <a:p>
            <a:endParaRPr lang="en-US" b="0"/>
          </a:p>
        </p:txBody>
      </p:sp>
      <p:sp>
        <p:nvSpPr>
          <p:cNvPr id="4" name="Slide Number Placeholder 3"/>
          <p:cNvSpPr>
            <a:spLocks noGrp="1"/>
          </p:cNvSpPr>
          <p:nvPr>
            <p:ph type="sldNum" sz="quarter" idx="5"/>
          </p:nvPr>
        </p:nvSpPr>
        <p:spPr/>
        <p:txBody>
          <a:bodyPr/>
          <a:lstStyle/>
          <a:p>
            <a:fld id="{ACB56F68-4D1E-40C7-852D-6D05FEA8C46B}" type="slidenum">
              <a:rPr lang="en-US" smtClean="0"/>
              <a:t>18</a:t>
            </a:fld>
            <a:endParaRPr lang="en-US"/>
          </a:p>
        </p:txBody>
      </p:sp>
    </p:spTree>
    <p:extLst>
      <p:ext uri="{BB962C8B-B14F-4D97-AF65-F5344CB8AC3E}">
        <p14:creationId xmlns:p14="http://schemas.microsoft.com/office/powerpoint/2010/main" val="10023762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Demo 8.4 –ApiService step 2 Build ApiService</a:t>
            </a:r>
          </a:p>
          <a:p>
            <a:endParaRPr lang="en-US"/>
          </a:p>
        </p:txBody>
      </p:sp>
      <p:sp>
        <p:nvSpPr>
          <p:cNvPr id="4" name="Slide Number Placeholder 3"/>
          <p:cNvSpPr>
            <a:spLocks noGrp="1"/>
          </p:cNvSpPr>
          <p:nvPr>
            <p:ph type="sldNum" sz="quarter" idx="5"/>
          </p:nvPr>
        </p:nvSpPr>
        <p:spPr/>
        <p:txBody>
          <a:bodyPr/>
          <a:lstStyle/>
          <a:p>
            <a:fld id="{ACB56F68-4D1E-40C7-852D-6D05FEA8C46B}" type="slidenum">
              <a:rPr lang="en-US" smtClean="0"/>
              <a:t>19</a:t>
            </a:fld>
            <a:endParaRPr lang="en-US"/>
          </a:p>
        </p:txBody>
      </p:sp>
    </p:spTree>
    <p:extLst>
      <p:ext uri="{BB962C8B-B14F-4D97-AF65-F5344CB8AC3E}">
        <p14:creationId xmlns:p14="http://schemas.microsoft.com/office/powerpoint/2010/main" val="19137270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b="1"/>
              <a:t>Demo 8.4 ApiService step 4 – Render data using FutureBuilder</a:t>
            </a:r>
          </a:p>
        </p:txBody>
      </p:sp>
      <p:sp>
        <p:nvSpPr>
          <p:cNvPr id="4" name="Slide Number Placeholder 3"/>
          <p:cNvSpPr>
            <a:spLocks noGrp="1"/>
          </p:cNvSpPr>
          <p:nvPr>
            <p:ph type="sldNum" sz="quarter" idx="5"/>
          </p:nvPr>
        </p:nvSpPr>
        <p:spPr/>
        <p:txBody>
          <a:bodyPr/>
          <a:lstStyle/>
          <a:p>
            <a:fld id="{ACB56F68-4D1E-40C7-852D-6D05FEA8C46B}" type="slidenum">
              <a:rPr lang="en-US" smtClean="0"/>
              <a:t>20</a:t>
            </a:fld>
            <a:endParaRPr lang="en-US"/>
          </a:p>
        </p:txBody>
      </p:sp>
    </p:spTree>
    <p:extLst>
      <p:ext uri="{BB962C8B-B14F-4D97-AF65-F5344CB8AC3E}">
        <p14:creationId xmlns:p14="http://schemas.microsoft.com/office/powerpoint/2010/main" val="40586881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FAE39-B09B-78B6-8A27-644FB76A49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C80167-93E5-E6AE-25B3-FE45D559F78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5CD1FD2-BFE6-CCCB-0B0F-2A861088245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1409DBF-E072-347E-6891-DF0DD2AA5ADF}"/>
              </a:ext>
            </a:extLst>
          </p:cNvPr>
          <p:cNvSpPr>
            <a:spLocks noGrp="1"/>
          </p:cNvSpPr>
          <p:nvPr>
            <p:ph type="sldNum" sz="quarter" idx="5"/>
          </p:nvPr>
        </p:nvSpPr>
        <p:spPr/>
        <p:txBody>
          <a:bodyPr/>
          <a:lstStyle/>
          <a:p>
            <a:fld id="{ACB56F68-4D1E-40C7-852D-6D05FEA8C46B}" type="slidenum">
              <a:rPr lang="en-US" smtClean="0"/>
              <a:t>21</a:t>
            </a:fld>
            <a:endParaRPr lang="en-US"/>
          </a:p>
        </p:txBody>
      </p:sp>
    </p:spTree>
    <p:extLst>
      <p:ext uri="{BB962C8B-B14F-4D97-AF65-F5344CB8AC3E}">
        <p14:creationId xmlns:p14="http://schemas.microsoft.com/office/powerpoint/2010/main" val="14572731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07F92-B452-3A05-C99B-2EC0492EE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3A29BC-6EE5-B0E5-020A-1AFB99E0332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6EDFBE1-5E96-390C-677D-F0445FFE971A}"/>
              </a:ext>
            </a:extLst>
          </p:cNvPr>
          <p:cNvSpPr>
            <a:spLocks noGrp="1"/>
          </p:cNvSpPr>
          <p:nvPr>
            <p:ph type="body" idx="1"/>
          </p:nvPr>
        </p:nvSpPr>
        <p:spPr/>
        <p:txBody>
          <a:bodyPr/>
          <a:lstStyle/>
          <a:p>
            <a:r>
              <a:rPr lang="en-US"/>
              <a:t>Since Lab 8 is the last lab of Module 8, students are required to:</a:t>
            </a:r>
          </a:p>
          <a:p>
            <a:pPr marL="171450" indent="-171450">
              <a:buFontTx/>
              <a:buChar char="-"/>
            </a:pPr>
            <a:r>
              <a:rPr lang="en-US"/>
              <a:t>Call API (8.1)</a:t>
            </a:r>
          </a:p>
          <a:p>
            <a:pPr marL="171450" indent="-171450">
              <a:buFontTx/>
              <a:buChar char="-"/>
            </a:pPr>
            <a:r>
              <a:rPr lang="en-US"/>
              <a:t>Parse JSON → Model (8.2)</a:t>
            </a:r>
          </a:p>
          <a:p>
            <a:pPr marL="171450" indent="-171450">
              <a:buFontTx/>
              <a:buChar char="-"/>
            </a:pPr>
            <a:r>
              <a:rPr lang="en-US"/>
              <a:t>Render UI using ListView + FutureBuilder (8.2 &amp; 8.4)</a:t>
            </a:r>
          </a:p>
          <a:p>
            <a:pPr marL="171450" indent="-171450">
              <a:buFontTx/>
              <a:buChar char="-"/>
            </a:pPr>
            <a:r>
              <a:rPr lang="en-US"/>
              <a:t>Add loading &amp; error reporting interface (8.3 &amp; 8.4)</a:t>
            </a:r>
          </a:p>
          <a:p>
            <a:pPr marL="171450" indent="-171450">
              <a:buFontTx/>
              <a:buChar char="-"/>
            </a:pPr>
            <a:r>
              <a:rPr lang="en-US"/>
              <a:t>(Optional) POST / create new data (8.3)</a:t>
            </a:r>
          </a:p>
          <a:p>
            <a:pPr marL="0" indent="0">
              <a:buFontTx/>
              <a:buNone/>
            </a:pPr>
            <a:r>
              <a:rPr lang="en-US"/>
              <a:t>→ Lab = combined practice instead of individual demos</a:t>
            </a:r>
          </a:p>
        </p:txBody>
      </p:sp>
      <p:sp>
        <p:nvSpPr>
          <p:cNvPr id="4" name="Slide Number Placeholder 3">
            <a:extLst>
              <a:ext uri="{FF2B5EF4-FFF2-40B4-BE49-F238E27FC236}">
                <a16:creationId xmlns:a16="http://schemas.microsoft.com/office/drawing/2014/main" id="{EC52A0A0-DDFD-9741-9DEA-9A2F34C3AAF1}"/>
              </a:ext>
            </a:extLst>
          </p:cNvPr>
          <p:cNvSpPr>
            <a:spLocks noGrp="1"/>
          </p:cNvSpPr>
          <p:nvPr>
            <p:ph type="sldNum" sz="quarter" idx="5"/>
          </p:nvPr>
        </p:nvSpPr>
        <p:spPr/>
        <p:txBody>
          <a:bodyPr/>
          <a:lstStyle/>
          <a:p>
            <a:fld id="{ACB56F68-4D1E-40C7-852D-6D05FEA8C46B}" type="slidenum">
              <a:rPr lang="en-US" smtClean="0"/>
              <a:t>22</a:t>
            </a:fld>
            <a:endParaRPr lang="en-US"/>
          </a:p>
        </p:txBody>
      </p:sp>
    </p:spTree>
    <p:extLst>
      <p:ext uri="{BB962C8B-B14F-4D97-AF65-F5344CB8AC3E}">
        <p14:creationId xmlns:p14="http://schemas.microsoft.com/office/powerpoint/2010/main" val="32552190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347DE-B4D6-9270-6366-E375AB4032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2EC3A7-7616-997E-68E2-64EC6F2FE58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DEF2479-A35C-BA47-0B21-843F07F395F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41E1A2A-C6DF-E673-821D-84F85C65B681}"/>
              </a:ext>
            </a:extLst>
          </p:cNvPr>
          <p:cNvSpPr>
            <a:spLocks noGrp="1"/>
          </p:cNvSpPr>
          <p:nvPr>
            <p:ph type="sldNum" sz="quarter" idx="5"/>
          </p:nvPr>
        </p:nvSpPr>
        <p:spPr/>
        <p:txBody>
          <a:bodyPr/>
          <a:lstStyle/>
          <a:p>
            <a:fld id="{ACB56F68-4D1E-40C7-852D-6D05FEA8C46B}" type="slidenum">
              <a:rPr lang="en-US" smtClean="0"/>
              <a:t>23</a:t>
            </a:fld>
            <a:endParaRPr lang="en-US"/>
          </a:p>
        </p:txBody>
      </p:sp>
    </p:spTree>
    <p:extLst>
      <p:ext uri="{BB962C8B-B14F-4D97-AF65-F5344CB8AC3E}">
        <p14:creationId xmlns:p14="http://schemas.microsoft.com/office/powerpoint/2010/main" val="34171980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B56F68-4D1E-40C7-852D-6D05FEA8C46B}" type="slidenum">
              <a:rPr lang="en-US" smtClean="0"/>
              <a:t>24</a:t>
            </a:fld>
            <a:endParaRPr lang="en-US"/>
          </a:p>
        </p:txBody>
      </p:sp>
    </p:spTree>
    <p:extLst>
      <p:ext uri="{BB962C8B-B14F-4D97-AF65-F5344CB8AC3E}">
        <p14:creationId xmlns:p14="http://schemas.microsoft.com/office/powerpoint/2010/main" val="18844072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2747700"/>
            <a:ext cx="8890000" cy="41103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ctrTitle"/>
          </p:nvPr>
        </p:nvSpPr>
        <p:spPr>
          <a:xfrm>
            <a:off x="3619503" y="3175003"/>
            <a:ext cx="8394700" cy="1827699"/>
          </a:xfrm>
        </p:spPr>
        <p:txBody>
          <a:bodyPr>
            <a:normAutofit/>
          </a:bodyPr>
          <a:lstStyle>
            <a:lvl1pPr>
              <a:defRPr sz="3400">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3619500" y="5143500"/>
            <a:ext cx="8407400" cy="990600"/>
          </a:xfrm>
        </p:spPr>
        <p:txBody>
          <a:bodyPr/>
          <a:lstStyle>
            <a:lvl1pPr marL="0" indent="0" algn="ctr">
              <a:buNone/>
              <a:defRPr>
                <a:solidFill>
                  <a:schemeClr val="bg1"/>
                </a:solidFill>
              </a:defRPr>
            </a:lvl1pPr>
            <a:lvl2pPr marL="457166" indent="0" algn="ctr">
              <a:buNone/>
              <a:defRPr>
                <a:solidFill>
                  <a:schemeClr val="tx1">
                    <a:tint val="75000"/>
                  </a:schemeClr>
                </a:solidFill>
              </a:defRPr>
            </a:lvl2pPr>
            <a:lvl3pPr marL="914331" indent="0" algn="ctr">
              <a:buNone/>
              <a:defRPr>
                <a:solidFill>
                  <a:schemeClr val="tx1">
                    <a:tint val="75000"/>
                  </a:schemeClr>
                </a:solidFill>
              </a:defRPr>
            </a:lvl3pPr>
            <a:lvl4pPr marL="1371498" indent="0" algn="ctr">
              <a:buNone/>
              <a:defRPr>
                <a:solidFill>
                  <a:schemeClr val="tx1">
                    <a:tint val="75000"/>
                  </a:schemeClr>
                </a:solidFill>
              </a:defRPr>
            </a:lvl4pPr>
            <a:lvl5pPr marL="1828664" indent="0" algn="ctr">
              <a:buNone/>
              <a:defRPr>
                <a:solidFill>
                  <a:schemeClr val="tx1">
                    <a:tint val="75000"/>
                  </a:schemeClr>
                </a:solidFill>
              </a:defRPr>
            </a:lvl5pPr>
            <a:lvl6pPr marL="2285829" indent="0" algn="ctr">
              <a:buNone/>
              <a:defRPr>
                <a:solidFill>
                  <a:schemeClr val="tx1">
                    <a:tint val="75000"/>
                  </a:schemeClr>
                </a:solidFill>
              </a:defRPr>
            </a:lvl6pPr>
            <a:lvl7pPr marL="2742995" indent="0" algn="ctr">
              <a:buNone/>
              <a:defRPr>
                <a:solidFill>
                  <a:schemeClr val="tx1">
                    <a:tint val="75000"/>
                  </a:schemeClr>
                </a:solidFill>
              </a:defRPr>
            </a:lvl7pPr>
            <a:lvl8pPr marL="3200160" indent="0" algn="ctr">
              <a:buNone/>
              <a:defRPr>
                <a:solidFill>
                  <a:schemeClr val="tx1">
                    <a:tint val="75000"/>
                  </a:schemeClr>
                </a:solidFill>
              </a:defRPr>
            </a:lvl8pPr>
            <a:lvl9pPr marL="3657326" indent="0" algn="ctr">
              <a:buNone/>
              <a:defRPr>
                <a:solidFill>
                  <a:schemeClr val="tx1">
                    <a:tint val="75000"/>
                  </a:schemeClr>
                </a:solidFill>
              </a:defRPr>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a:lvl1pPr>
          </a:lstStyle>
          <a:p>
            <a:fld id="{5BCAD085-E8A6-8845-BD4E-CB4CCA059FC4}" type="datetimeFigureOut">
              <a:rPr lang="en-US" smtClean="0"/>
              <a:t>11-Dec-25</a:t>
            </a:fld>
            <a:endParaRPr lang="en-US"/>
          </a:p>
        </p:txBody>
      </p:sp>
      <p:sp>
        <p:nvSpPr>
          <p:cNvPr id="7" name="Footer Placeholder 4"/>
          <p:cNvSpPr>
            <a:spLocks noGrp="1"/>
          </p:cNvSpPr>
          <p:nvPr>
            <p:ph type="ftr" sz="quarter" idx="11"/>
          </p:nvPr>
        </p:nvSpPr>
        <p:spPr/>
        <p:txBody>
          <a:bodyPr/>
          <a:lstStyle>
            <a:lvl1pPr>
              <a:defRPr u="sng"/>
            </a:lvl1pPr>
          </a:lstStyle>
          <a:p>
            <a:endParaRPr lang="en-US"/>
          </a:p>
        </p:txBody>
      </p:sp>
      <p:sp>
        <p:nvSpPr>
          <p:cNvPr id="8" name="Slide Number Placeholder 5"/>
          <p:cNvSpPr>
            <a:spLocks noGrp="1"/>
          </p:cNvSpPr>
          <p:nvPr>
            <p:ph type="sldNum" sz="quarter" idx="12"/>
          </p:nvPr>
        </p:nvSpPr>
        <p:spPr/>
        <p:txBody>
          <a:bodyPr/>
          <a:lstStyle>
            <a:lvl1pPr>
              <a:defRPr/>
            </a:lvl1pPr>
          </a:lstStyle>
          <a:p>
            <a:fld id="{C1FF6DA9-008F-8B48-92A6-B652298478BF}" type="slidenum">
              <a:rPr lang="en-US" smtClean="0"/>
              <a:t>‹#›</a:t>
            </a:fld>
            <a:endParaRPr lang="en-US"/>
          </a:p>
        </p:txBody>
      </p:sp>
      <p:pic>
        <p:nvPicPr>
          <p:cNvPr id="1026" name="Picture 2" descr="Trường Đại học FPT - Trang thông tin chính thức của Trường Đại học FPT">
            <a:extLst>
              <a:ext uri="{FF2B5EF4-FFF2-40B4-BE49-F238E27FC236}">
                <a16:creationId xmlns:a16="http://schemas.microsoft.com/office/drawing/2014/main" id="{F82E07B4-A16A-F4A5-4ED5-CB70771B4B7C}"/>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8489" y="78866"/>
            <a:ext cx="3065335" cy="9507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525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35000" y="508000"/>
            <a:ext cx="10972800" cy="818503"/>
          </a:xfrm>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spcBef>
                <a:spcPts val="450"/>
              </a:spcBef>
              <a:spcAft>
                <a:spcPts val="450"/>
              </a:spcAft>
              <a:defRPr>
                <a:latin typeface="Times New Roman" panose="02020603050405020304" pitchFamily="18" charset="0"/>
                <a:cs typeface="Times New Roman" panose="02020603050405020304" pitchFamily="18" charset="0"/>
              </a:defRPr>
            </a:lvl1pPr>
            <a:lvl2pPr>
              <a:spcBef>
                <a:spcPts val="450"/>
              </a:spcBef>
              <a:spcAft>
                <a:spcPts val="450"/>
              </a:spcAft>
              <a:defRPr>
                <a:latin typeface="Times New Roman" panose="02020603050405020304" pitchFamily="18" charset="0"/>
                <a:cs typeface="Times New Roman" panose="02020603050405020304" pitchFamily="18" charset="0"/>
              </a:defRPr>
            </a:lvl2pPr>
            <a:lvl3pPr>
              <a:spcBef>
                <a:spcPts val="450"/>
              </a:spcBef>
              <a:spcAft>
                <a:spcPts val="450"/>
              </a:spcAft>
              <a:defRPr>
                <a:latin typeface="Times New Roman" panose="02020603050405020304" pitchFamily="18" charset="0"/>
                <a:cs typeface="Times New Roman" panose="02020603050405020304" pitchFamily="18" charset="0"/>
              </a:defRPr>
            </a:lvl3pPr>
            <a:lvl4pPr>
              <a:spcBef>
                <a:spcPts val="450"/>
              </a:spcBef>
              <a:spcAft>
                <a:spcPts val="450"/>
              </a:spcAft>
              <a:defRPr>
                <a:latin typeface="Times New Roman" panose="02020603050405020304" pitchFamily="18" charset="0"/>
                <a:cs typeface="Times New Roman" panose="02020603050405020304" pitchFamily="18" charset="0"/>
              </a:defRPr>
            </a:lvl4pPr>
            <a:lvl5pPr>
              <a:spcBef>
                <a:spcPts val="450"/>
              </a:spcBef>
              <a:spcAft>
                <a:spcPts val="450"/>
              </a:spcAft>
              <a:defRPr>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fld id="{5BCAD085-E8A6-8845-BD4E-CB4CCA059FC4}" type="datetimeFigureOut">
              <a:rPr lang="en-US" smtClean="0"/>
              <a:t>11-Dec-25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C1FF6DA9-008F-8B48-92A6-B652298478BF}" type="slidenum">
              <a:rPr lang="en-US" smtClean="0"/>
              <a:t>‹#›</a:t>
            </a:fld>
            <a:endParaRPr lang="en-US"/>
          </a:p>
        </p:txBody>
      </p:sp>
      <p:pic>
        <p:nvPicPr>
          <p:cNvPr id="2050" name="Picture 2" descr="Trường Đại học FPT - Trang thông tin chính thức của Trường Đại học FPT">
            <a:extLst>
              <a:ext uri="{FF2B5EF4-FFF2-40B4-BE49-F238E27FC236}">
                <a16:creationId xmlns:a16="http://schemas.microsoft.com/office/drawing/2014/main" id="{5E6EDB2A-B5C0-5960-961F-0F646189731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057" y="62726"/>
            <a:ext cx="1894903" cy="587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9807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3"/>
            <a:ext cx="5384800" cy="4525963"/>
          </a:xfrm>
        </p:spPr>
        <p:txBody>
          <a:bodyPr/>
          <a:lstStyle>
            <a:lvl1pPr>
              <a:spcBef>
                <a:spcPts val="450"/>
              </a:spcBef>
              <a:spcAft>
                <a:spcPts val="450"/>
              </a:spcAft>
              <a:defRPr sz="2800">
                <a:latin typeface="Times New Roman" panose="02020603050405020304" pitchFamily="18" charset="0"/>
                <a:cs typeface="Times New Roman" panose="02020603050405020304" pitchFamily="18" charset="0"/>
              </a:defRPr>
            </a:lvl1pPr>
            <a:lvl2pPr>
              <a:spcBef>
                <a:spcPts val="450"/>
              </a:spcBef>
              <a:spcAft>
                <a:spcPts val="450"/>
              </a:spcAft>
              <a:defRPr sz="2400">
                <a:latin typeface="Times New Roman" panose="02020603050405020304" pitchFamily="18" charset="0"/>
                <a:cs typeface="Times New Roman" panose="02020603050405020304" pitchFamily="18" charset="0"/>
              </a:defRPr>
            </a:lvl2pPr>
            <a:lvl3pPr>
              <a:spcBef>
                <a:spcPts val="450"/>
              </a:spcBef>
              <a:spcAft>
                <a:spcPts val="450"/>
              </a:spcAft>
              <a:defRPr sz="2000">
                <a:latin typeface="Times New Roman" panose="02020603050405020304" pitchFamily="18" charset="0"/>
                <a:cs typeface="Times New Roman" panose="02020603050405020304" pitchFamily="18" charset="0"/>
              </a:defRPr>
            </a:lvl3pPr>
            <a:lvl4pPr>
              <a:spcBef>
                <a:spcPts val="450"/>
              </a:spcBef>
              <a:spcAft>
                <a:spcPts val="450"/>
              </a:spcAft>
              <a:defRPr sz="1800">
                <a:latin typeface="Times New Roman" panose="02020603050405020304" pitchFamily="18" charset="0"/>
                <a:cs typeface="Times New Roman" panose="02020603050405020304" pitchFamily="18" charset="0"/>
              </a:defRPr>
            </a:lvl4pPr>
            <a:lvl5pPr>
              <a:spcBef>
                <a:spcPts val="450"/>
              </a:spcBef>
              <a:spcAft>
                <a:spcPts val="450"/>
              </a:spcAft>
              <a:defRPr sz="1800">
                <a:latin typeface="Times New Roman" panose="02020603050405020304" pitchFamily="18" charset="0"/>
                <a:cs typeface="Times New Roman" panose="02020603050405020304" pitchFamily="18"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00203"/>
            <a:ext cx="5384800" cy="4525963"/>
          </a:xfrm>
        </p:spPr>
        <p:txBody>
          <a:bodyPr/>
          <a:lstStyle>
            <a:lvl1pPr>
              <a:spcBef>
                <a:spcPts val="450"/>
              </a:spcBef>
              <a:spcAft>
                <a:spcPts val="450"/>
              </a:spcAft>
              <a:defRPr sz="2800">
                <a:latin typeface="Times New Roman" panose="02020603050405020304" pitchFamily="18" charset="0"/>
                <a:cs typeface="Times New Roman" panose="02020603050405020304" pitchFamily="18" charset="0"/>
              </a:defRPr>
            </a:lvl1pPr>
            <a:lvl2pPr>
              <a:spcBef>
                <a:spcPts val="450"/>
              </a:spcBef>
              <a:spcAft>
                <a:spcPts val="450"/>
              </a:spcAft>
              <a:defRPr sz="2400">
                <a:latin typeface="Times New Roman" panose="02020603050405020304" pitchFamily="18" charset="0"/>
                <a:cs typeface="Times New Roman" panose="02020603050405020304" pitchFamily="18" charset="0"/>
              </a:defRPr>
            </a:lvl2pPr>
            <a:lvl3pPr>
              <a:spcBef>
                <a:spcPts val="450"/>
              </a:spcBef>
              <a:spcAft>
                <a:spcPts val="450"/>
              </a:spcAft>
              <a:defRPr sz="2000">
                <a:latin typeface="Times New Roman" panose="02020603050405020304" pitchFamily="18" charset="0"/>
                <a:cs typeface="Times New Roman" panose="02020603050405020304" pitchFamily="18" charset="0"/>
              </a:defRPr>
            </a:lvl3pPr>
            <a:lvl4pPr>
              <a:spcBef>
                <a:spcPts val="450"/>
              </a:spcBef>
              <a:spcAft>
                <a:spcPts val="450"/>
              </a:spcAft>
              <a:defRPr sz="1800">
                <a:latin typeface="Times New Roman" panose="02020603050405020304" pitchFamily="18" charset="0"/>
                <a:cs typeface="Times New Roman" panose="02020603050405020304" pitchFamily="18" charset="0"/>
              </a:defRPr>
            </a:lvl4pPr>
            <a:lvl5pPr>
              <a:spcBef>
                <a:spcPts val="450"/>
              </a:spcBef>
              <a:spcAft>
                <a:spcPts val="450"/>
              </a:spcAft>
              <a:defRPr sz="1800">
                <a:latin typeface="Times New Roman" panose="02020603050405020304" pitchFamily="18" charset="0"/>
                <a:cs typeface="Times New Roman" panose="02020603050405020304" pitchFamily="18"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fld id="{5BCAD085-E8A6-8845-BD4E-CB4CCA059FC4}" type="datetimeFigureOut">
              <a:rPr lang="en-US" smtClean="0"/>
              <a:t>11-Dec-25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84393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Text Placeholder 2"/>
          <p:cNvSpPr>
            <a:spLocks noGrp="1"/>
          </p:cNvSpPr>
          <p:nvPr>
            <p:ph type="body" idx="1"/>
          </p:nvPr>
        </p:nvSpPr>
        <p:spPr>
          <a:xfrm>
            <a:off x="609600" y="1535115"/>
            <a:ext cx="5386917" cy="639763"/>
          </a:xfrm>
        </p:spPr>
        <p:txBody>
          <a:bodyPr anchor="b"/>
          <a:lstStyle>
            <a:lvl1pPr marL="0" indent="0">
              <a:buNone/>
              <a:defRPr sz="2400" b="1">
                <a:latin typeface="Times New Roman" panose="02020603050405020304" pitchFamily="18" charset="0"/>
                <a:cs typeface="Times New Roman" panose="02020603050405020304" pitchFamily="18" charset="0"/>
              </a:defRPr>
            </a:lvl1pPr>
            <a:lvl2pPr marL="457166" indent="0">
              <a:buNone/>
              <a:defRPr sz="2000" b="1"/>
            </a:lvl2pPr>
            <a:lvl3pPr marL="914331" indent="0">
              <a:buNone/>
              <a:defRPr sz="1800" b="1"/>
            </a:lvl3pPr>
            <a:lvl4pPr marL="1371498" indent="0">
              <a:buNone/>
              <a:defRPr sz="1600" b="1"/>
            </a:lvl4pPr>
            <a:lvl5pPr marL="1828664" indent="0">
              <a:buNone/>
              <a:defRPr sz="1600" b="1"/>
            </a:lvl5pPr>
            <a:lvl6pPr marL="2285829" indent="0">
              <a:buNone/>
              <a:defRPr sz="1600" b="1"/>
            </a:lvl6pPr>
            <a:lvl7pPr marL="2742995" indent="0">
              <a:buNone/>
              <a:defRPr sz="1600" b="1"/>
            </a:lvl7pPr>
            <a:lvl8pPr marL="3200160" indent="0">
              <a:buNone/>
              <a:defRPr sz="1600" b="1"/>
            </a:lvl8pPr>
            <a:lvl9pPr marL="3657326"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spcBef>
                <a:spcPts val="450"/>
              </a:spcBef>
              <a:spcAft>
                <a:spcPts val="450"/>
              </a:spcAft>
              <a:defRPr sz="2400">
                <a:latin typeface="Times New Roman" panose="02020603050405020304" pitchFamily="18" charset="0"/>
                <a:cs typeface="Times New Roman" panose="02020603050405020304" pitchFamily="18" charset="0"/>
              </a:defRPr>
            </a:lvl1pPr>
            <a:lvl2pPr>
              <a:spcBef>
                <a:spcPts val="450"/>
              </a:spcBef>
              <a:spcAft>
                <a:spcPts val="450"/>
              </a:spcAft>
              <a:defRPr sz="2000">
                <a:latin typeface="Times New Roman" panose="02020603050405020304" pitchFamily="18" charset="0"/>
                <a:cs typeface="Times New Roman" panose="02020603050405020304" pitchFamily="18" charset="0"/>
              </a:defRPr>
            </a:lvl2pPr>
            <a:lvl3pPr>
              <a:spcBef>
                <a:spcPts val="450"/>
              </a:spcBef>
              <a:spcAft>
                <a:spcPts val="450"/>
              </a:spcAft>
              <a:defRPr sz="1800">
                <a:latin typeface="Times New Roman" panose="02020603050405020304" pitchFamily="18" charset="0"/>
                <a:cs typeface="Times New Roman" panose="02020603050405020304" pitchFamily="18" charset="0"/>
              </a:defRPr>
            </a:lvl3pPr>
            <a:lvl4pPr>
              <a:spcBef>
                <a:spcPts val="450"/>
              </a:spcBef>
              <a:spcAft>
                <a:spcPts val="450"/>
              </a:spcAft>
              <a:defRPr sz="1600">
                <a:latin typeface="Times New Roman" panose="02020603050405020304" pitchFamily="18" charset="0"/>
                <a:cs typeface="Times New Roman" panose="02020603050405020304" pitchFamily="18" charset="0"/>
              </a:defRPr>
            </a:lvl4pPr>
            <a:lvl5pPr>
              <a:spcBef>
                <a:spcPts val="450"/>
              </a:spcBef>
              <a:spcAft>
                <a:spcPts val="450"/>
              </a:spcAft>
              <a:defRPr sz="1600">
                <a:latin typeface="Times New Roman" panose="02020603050405020304" pitchFamily="18" charset="0"/>
                <a:cs typeface="Times New Roman" panose="02020603050405020304" pitchFamily="18"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72" y="1535115"/>
            <a:ext cx="5389033" cy="639763"/>
          </a:xfrm>
        </p:spPr>
        <p:txBody>
          <a:bodyPr anchor="b"/>
          <a:lstStyle>
            <a:lvl1pPr marL="0" indent="0">
              <a:buNone/>
              <a:defRPr sz="2400" b="1">
                <a:latin typeface="Times New Roman" panose="02020603050405020304" pitchFamily="18" charset="0"/>
                <a:cs typeface="Times New Roman" panose="02020603050405020304" pitchFamily="18" charset="0"/>
              </a:defRPr>
            </a:lvl1pPr>
            <a:lvl2pPr marL="457166" indent="0">
              <a:buNone/>
              <a:defRPr sz="2000" b="1"/>
            </a:lvl2pPr>
            <a:lvl3pPr marL="914331" indent="0">
              <a:buNone/>
              <a:defRPr sz="1800" b="1"/>
            </a:lvl3pPr>
            <a:lvl4pPr marL="1371498" indent="0">
              <a:buNone/>
              <a:defRPr sz="1600" b="1"/>
            </a:lvl4pPr>
            <a:lvl5pPr marL="1828664" indent="0">
              <a:buNone/>
              <a:defRPr sz="1600" b="1"/>
            </a:lvl5pPr>
            <a:lvl6pPr marL="2285829" indent="0">
              <a:buNone/>
              <a:defRPr sz="1600" b="1"/>
            </a:lvl6pPr>
            <a:lvl7pPr marL="2742995" indent="0">
              <a:buNone/>
              <a:defRPr sz="1600" b="1"/>
            </a:lvl7pPr>
            <a:lvl8pPr marL="3200160" indent="0">
              <a:buNone/>
              <a:defRPr sz="1600" b="1"/>
            </a:lvl8pPr>
            <a:lvl9pPr marL="365732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2" y="2174875"/>
            <a:ext cx="5389033" cy="3951288"/>
          </a:xfrm>
        </p:spPr>
        <p:txBody>
          <a:bodyPr/>
          <a:lstStyle>
            <a:lvl1pPr>
              <a:defRPr sz="2400">
                <a:latin typeface="Times New Roman" panose="02020603050405020304" pitchFamily="18" charset="0"/>
                <a:cs typeface="Times New Roman" panose="02020603050405020304" pitchFamily="18" charset="0"/>
              </a:defRPr>
            </a:lvl1pPr>
            <a:lvl2pPr>
              <a:spcBef>
                <a:spcPts val="450"/>
              </a:spcBef>
              <a:spcAft>
                <a:spcPts val="450"/>
              </a:spcAft>
              <a:defRPr sz="2000"/>
            </a:lvl2pPr>
            <a:lvl3pPr>
              <a:spcBef>
                <a:spcPts val="450"/>
              </a:spcBef>
              <a:spcAft>
                <a:spcPts val="450"/>
              </a:spcAft>
              <a:defRPr sz="1800"/>
            </a:lvl3pPr>
            <a:lvl4pPr>
              <a:spcBef>
                <a:spcPts val="450"/>
              </a:spcBef>
              <a:spcAft>
                <a:spcPts val="450"/>
              </a:spcAft>
              <a:defRPr sz="1600"/>
            </a:lvl4pPr>
            <a:lvl5pPr>
              <a:spcBef>
                <a:spcPts val="450"/>
              </a:spcBef>
              <a:spcAft>
                <a:spcPts val="450"/>
              </a:spcAft>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fld id="{5BCAD085-E8A6-8845-BD4E-CB4CCA059FC4}" type="datetimeFigureOut">
              <a:rPr lang="en-US" smtClean="0"/>
              <a:t>11-Dec-25</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7629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fld id="{5BCAD085-E8A6-8845-BD4E-CB4CCA059FC4}" type="datetimeFigureOut">
              <a:rPr lang="en-US" smtClean="0"/>
              <a:t>11-Dec-25</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140487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5BCAD085-E8A6-8845-BD4E-CB4CCA059FC4}" type="datetimeFigureOut">
              <a:rPr lang="en-US" smtClean="0"/>
              <a:t>11-Dec-25</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967964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1"/>
            <a:ext cx="4011084" cy="1162051"/>
          </a:xfrm>
        </p:spPr>
        <p:txBody>
          <a:bodyPr anchor="b"/>
          <a:lstStyle>
            <a:lvl1pPr algn="l">
              <a:defRPr sz="2000" b="1">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a:xfrm>
            <a:off x="4766733" y="273054"/>
            <a:ext cx="6815667" cy="5853113"/>
          </a:xfrm>
        </p:spPr>
        <p:txBody>
          <a:bodyPr/>
          <a:lstStyle>
            <a:lvl1pPr>
              <a:defRPr sz="3200">
                <a:latin typeface="Times New Roman" panose="02020603050405020304" pitchFamily="18" charset="0"/>
                <a:cs typeface="Times New Roman" panose="02020603050405020304" pitchFamily="18" charset="0"/>
              </a:defRPr>
            </a:lvl1pPr>
            <a:lvl2pPr>
              <a:spcBef>
                <a:spcPts val="450"/>
              </a:spcBef>
              <a:spcAft>
                <a:spcPts val="450"/>
              </a:spcAft>
              <a:defRPr sz="2800">
                <a:latin typeface="Times New Roman" panose="02020603050405020304" pitchFamily="18" charset="0"/>
                <a:cs typeface="Times New Roman" panose="02020603050405020304" pitchFamily="18" charset="0"/>
              </a:defRPr>
            </a:lvl2pPr>
            <a:lvl3pPr>
              <a:spcBef>
                <a:spcPts val="450"/>
              </a:spcBef>
              <a:spcAft>
                <a:spcPts val="450"/>
              </a:spcAft>
              <a:defRPr sz="2400">
                <a:latin typeface="Times New Roman" panose="02020603050405020304" pitchFamily="18" charset="0"/>
                <a:cs typeface="Times New Roman" panose="02020603050405020304" pitchFamily="18" charset="0"/>
              </a:defRPr>
            </a:lvl3pPr>
            <a:lvl4pPr>
              <a:spcBef>
                <a:spcPts val="450"/>
              </a:spcBef>
              <a:spcAft>
                <a:spcPts val="450"/>
              </a:spcAft>
              <a:defRPr sz="2000">
                <a:latin typeface="Times New Roman" panose="02020603050405020304" pitchFamily="18" charset="0"/>
                <a:cs typeface="Times New Roman" panose="02020603050405020304" pitchFamily="18" charset="0"/>
              </a:defRPr>
            </a:lvl4pPr>
            <a:lvl5pPr>
              <a:spcBef>
                <a:spcPts val="450"/>
              </a:spcBef>
              <a:spcAft>
                <a:spcPts val="450"/>
              </a:spcAft>
              <a:defRPr sz="2000">
                <a:latin typeface="Times New Roman" panose="02020603050405020304" pitchFamily="18" charset="0"/>
                <a:cs typeface="Times New Roman" panose="02020603050405020304" pitchFamily="18"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166" indent="0">
              <a:buNone/>
              <a:defRPr sz="1200"/>
            </a:lvl2pPr>
            <a:lvl3pPr marL="914331" indent="0">
              <a:buNone/>
              <a:defRPr sz="1000"/>
            </a:lvl3pPr>
            <a:lvl4pPr marL="1371498" indent="0">
              <a:buNone/>
              <a:defRPr sz="900"/>
            </a:lvl4pPr>
            <a:lvl5pPr marL="1828664" indent="0">
              <a:buNone/>
              <a:defRPr sz="900"/>
            </a:lvl5pPr>
            <a:lvl6pPr marL="2285829" indent="0">
              <a:buNone/>
              <a:defRPr sz="900"/>
            </a:lvl6pPr>
            <a:lvl7pPr marL="2742995" indent="0">
              <a:buNone/>
              <a:defRPr sz="900"/>
            </a:lvl7pPr>
            <a:lvl8pPr marL="3200160" indent="0">
              <a:buNone/>
              <a:defRPr sz="900"/>
            </a:lvl8pPr>
            <a:lvl9pPr marL="3657326"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5BCAD085-E8A6-8845-BD4E-CB4CCA059FC4}" type="datetimeFigureOut">
              <a:rPr lang="en-US" smtClean="0"/>
              <a:t>11-Dec-25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042122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2"/>
            <a:ext cx="73152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166" indent="0">
              <a:buNone/>
              <a:defRPr sz="2800"/>
            </a:lvl2pPr>
            <a:lvl3pPr marL="914331" indent="0">
              <a:buNone/>
              <a:defRPr sz="2400"/>
            </a:lvl3pPr>
            <a:lvl4pPr marL="1371498" indent="0">
              <a:buNone/>
              <a:defRPr sz="2000"/>
            </a:lvl4pPr>
            <a:lvl5pPr marL="1828664" indent="0">
              <a:buNone/>
              <a:defRPr sz="2000"/>
            </a:lvl5pPr>
            <a:lvl6pPr marL="2285829" indent="0">
              <a:buNone/>
              <a:defRPr sz="2000"/>
            </a:lvl6pPr>
            <a:lvl7pPr marL="2742995" indent="0">
              <a:buNone/>
              <a:defRPr sz="2000"/>
            </a:lvl7pPr>
            <a:lvl8pPr marL="3200160" indent="0">
              <a:buNone/>
              <a:defRPr sz="2000"/>
            </a:lvl8pPr>
            <a:lvl9pPr marL="3657326"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40"/>
            <a:ext cx="7315200" cy="804863"/>
          </a:xfrm>
        </p:spPr>
        <p:txBody>
          <a:bodyPr/>
          <a:lstStyle>
            <a:lvl1pPr marL="0" indent="0">
              <a:buNone/>
              <a:defRPr sz="1400"/>
            </a:lvl1pPr>
            <a:lvl2pPr marL="457166" indent="0">
              <a:buNone/>
              <a:defRPr sz="1200"/>
            </a:lvl2pPr>
            <a:lvl3pPr marL="914331" indent="0">
              <a:buNone/>
              <a:defRPr sz="1000"/>
            </a:lvl3pPr>
            <a:lvl4pPr marL="1371498" indent="0">
              <a:buNone/>
              <a:defRPr sz="900"/>
            </a:lvl4pPr>
            <a:lvl5pPr marL="1828664" indent="0">
              <a:buNone/>
              <a:defRPr sz="900"/>
            </a:lvl5pPr>
            <a:lvl6pPr marL="2285829" indent="0">
              <a:buNone/>
              <a:defRPr sz="900"/>
            </a:lvl6pPr>
            <a:lvl7pPr marL="2742995" indent="0">
              <a:buNone/>
              <a:defRPr sz="900"/>
            </a:lvl7pPr>
            <a:lvl8pPr marL="3200160" indent="0">
              <a:buNone/>
              <a:defRPr sz="900"/>
            </a:lvl8pPr>
            <a:lvl9pPr marL="3657326"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5BCAD085-E8A6-8845-BD4E-CB4CCA059FC4}" type="datetimeFigureOut">
              <a:rPr lang="en-US" smtClean="0"/>
              <a:t>11-Dec-25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916708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5BCAD085-E8A6-8845-BD4E-CB4CCA059FC4}" type="datetimeFigureOut">
              <a:rPr lang="en-US" smtClean="0"/>
              <a:t>11-Dec-25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68816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5BCAD085-E8A6-8845-BD4E-CB4CCA059FC4}" type="datetimeFigureOut">
              <a:rPr lang="en-US" smtClean="0"/>
              <a:t>11-Dec-25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89959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869" y="275167"/>
            <a:ext cx="10972271"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35" tIns="45718" rIns="91435" bIns="45718"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869" y="1600731"/>
            <a:ext cx="10972271" cy="45256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715500" y="6350001"/>
            <a:ext cx="1143000" cy="317500"/>
          </a:xfrm>
          <a:prstGeom prst="rect">
            <a:avLst/>
          </a:prstGeom>
        </p:spPr>
        <p:txBody>
          <a:bodyPr vert="horz" wrap="square" lIns="91435" tIns="45718" rIns="91435" bIns="45718" numCol="1" anchor="ctr" anchorCtr="0" compatLnSpc="1">
            <a:prstTxWarp prst="textNoShape">
              <a:avLst/>
            </a:prstTxWarp>
          </a:bodyPr>
          <a:lstStyle>
            <a:lvl1pPr eaLnBrk="1" hangingPunct="1">
              <a:defRPr sz="1200">
                <a:solidFill>
                  <a:srgbClr val="898989"/>
                </a:solidFill>
                <a:latin typeface="Myriad Pro" pitchFamily="34" charset="0"/>
              </a:defRPr>
            </a:lvl1pPr>
          </a:lstStyle>
          <a:p>
            <a:fld id="{5BCAD085-E8A6-8845-BD4E-CB4CCA059FC4}" type="datetimeFigureOut">
              <a:rPr lang="en-US" smtClean="0"/>
              <a:t>11-Dec-25</a:t>
            </a:fld>
            <a:endParaRPr lang="en-US"/>
          </a:p>
        </p:txBody>
      </p:sp>
      <p:sp>
        <p:nvSpPr>
          <p:cNvPr id="5" name="Footer Placeholder 4"/>
          <p:cNvSpPr>
            <a:spLocks noGrp="1"/>
          </p:cNvSpPr>
          <p:nvPr>
            <p:ph type="ftr" sz="quarter" idx="3"/>
          </p:nvPr>
        </p:nvSpPr>
        <p:spPr>
          <a:xfrm>
            <a:off x="635003" y="6350002"/>
            <a:ext cx="3860271" cy="365125"/>
          </a:xfrm>
          <a:prstGeom prst="rect">
            <a:avLst/>
          </a:prstGeom>
        </p:spPr>
        <p:txBody>
          <a:bodyPr vert="horz" lIns="91435" tIns="45718" rIns="91435" bIns="45718" rtlCol="0" anchor="ctr"/>
          <a:lstStyle>
            <a:lvl1pPr algn="l" defTabSz="914331" eaLnBrk="1" fontAlgn="auto" hangingPunct="1">
              <a:spcBef>
                <a:spcPts val="0"/>
              </a:spcBef>
              <a:spcAft>
                <a:spcPts val="0"/>
              </a:spcAft>
              <a:defRPr sz="1200" u="sng" smtClean="0">
                <a:solidFill>
                  <a:schemeClr val="tx1">
                    <a:tint val="75000"/>
                  </a:schemeClr>
                </a:solidFill>
                <a:latin typeface="Myriad Pro"/>
                <a:ea typeface="+mn-ea"/>
                <a:cs typeface="Myriad Pro"/>
              </a:defRPr>
            </a:lvl1pPr>
          </a:lstStyle>
          <a:p>
            <a:endParaRPr lang="en-US"/>
          </a:p>
        </p:txBody>
      </p:sp>
      <p:sp>
        <p:nvSpPr>
          <p:cNvPr id="6" name="Slide Number Placeholder 5"/>
          <p:cNvSpPr>
            <a:spLocks noGrp="1"/>
          </p:cNvSpPr>
          <p:nvPr>
            <p:ph type="sldNum" sz="quarter" idx="4"/>
          </p:nvPr>
        </p:nvSpPr>
        <p:spPr>
          <a:xfrm>
            <a:off x="11049003" y="6350003"/>
            <a:ext cx="596636" cy="310887"/>
          </a:xfrm>
          <a:prstGeom prst="rect">
            <a:avLst/>
          </a:prstGeom>
        </p:spPr>
        <p:txBody>
          <a:bodyPr vert="horz" wrap="square" lIns="91435" tIns="45718" rIns="91435" bIns="45718" numCol="1" anchor="ctr" anchorCtr="0" compatLnSpc="1">
            <a:prstTxWarp prst="textNoShape">
              <a:avLst/>
            </a:prstTxWarp>
          </a:bodyPr>
          <a:lstStyle>
            <a:lvl1pPr algn="r" eaLnBrk="1" hangingPunct="1">
              <a:defRPr sz="1200">
                <a:solidFill>
                  <a:srgbClr val="898989"/>
                </a:solidFill>
                <a:latin typeface="Myriad Pro" pitchFamily="34" charset="0"/>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654385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913425" rtl="0" eaLnBrk="1" fontAlgn="base" hangingPunct="1">
        <a:spcBef>
          <a:spcPct val="0"/>
        </a:spcBef>
        <a:spcAft>
          <a:spcPct val="0"/>
        </a:spcAft>
        <a:defRPr sz="2800" b="1" kern="1200">
          <a:solidFill>
            <a:schemeClr val="tx1"/>
          </a:solidFill>
          <a:latin typeface="Myriad Pro"/>
          <a:ea typeface="ＭＳ Ｐゴシック" charset="0"/>
          <a:cs typeface="Myriad Pro"/>
        </a:defRPr>
      </a:lvl1pPr>
      <a:lvl2pPr algn="l" defTabSz="913425" rtl="0" eaLnBrk="1" fontAlgn="base" hangingPunct="1">
        <a:spcBef>
          <a:spcPct val="0"/>
        </a:spcBef>
        <a:spcAft>
          <a:spcPct val="0"/>
        </a:spcAft>
        <a:defRPr sz="2800" b="1">
          <a:solidFill>
            <a:schemeClr val="tx1"/>
          </a:solidFill>
          <a:latin typeface="Myriad Pro" pitchFamily="34" charset="0"/>
          <a:ea typeface="ＭＳ Ｐゴシック" charset="0"/>
        </a:defRPr>
      </a:lvl2pPr>
      <a:lvl3pPr algn="l" defTabSz="913425" rtl="0" eaLnBrk="1" fontAlgn="base" hangingPunct="1">
        <a:spcBef>
          <a:spcPct val="0"/>
        </a:spcBef>
        <a:spcAft>
          <a:spcPct val="0"/>
        </a:spcAft>
        <a:defRPr sz="2800" b="1">
          <a:solidFill>
            <a:schemeClr val="tx1"/>
          </a:solidFill>
          <a:latin typeface="Myriad Pro" pitchFamily="34" charset="0"/>
          <a:ea typeface="ＭＳ Ｐゴシック" charset="0"/>
        </a:defRPr>
      </a:lvl3pPr>
      <a:lvl4pPr algn="l" defTabSz="913425" rtl="0" eaLnBrk="1" fontAlgn="base" hangingPunct="1">
        <a:spcBef>
          <a:spcPct val="0"/>
        </a:spcBef>
        <a:spcAft>
          <a:spcPct val="0"/>
        </a:spcAft>
        <a:defRPr sz="2800" b="1">
          <a:solidFill>
            <a:schemeClr val="tx1"/>
          </a:solidFill>
          <a:latin typeface="Myriad Pro" pitchFamily="34" charset="0"/>
          <a:ea typeface="ＭＳ Ｐゴシック" charset="0"/>
        </a:defRPr>
      </a:lvl4pPr>
      <a:lvl5pPr algn="l" defTabSz="913425" rtl="0" eaLnBrk="1" fontAlgn="base" hangingPunct="1">
        <a:spcBef>
          <a:spcPct val="0"/>
        </a:spcBef>
        <a:spcAft>
          <a:spcPct val="0"/>
        </a:spcAft>
        <a:defRPr sz="2800" b="1">
          <a:solidFill>
            <a:schemeClr val="tx1"/>
          </a:solidFill>
          <a:latin typeface="Myriad Pro" pitchFamily="34" charset="0"/>
          <a:ea typeface="ＭＳ Ｐゴシック" charset="0"/>
        </a:defRPr>
      </a:lvl5pPr>
      <a:lvl6pPr marL="320032" algn="ctr" defTabSz="913425" rtl="0" eaLnBrk="1" fontAlgn="base" hangingPunct="1">
        <a:spcBef>
          <a:spcPct val="0"/>
        </a:spcBef>
        <a:spcAft>
          <a:spcPct val="0"/>
        </a:spcAft>
        <a:defRPr sz="2800" b="1">
          <a:solidFill>
            <a:schemeClr val="tx1"/>
          </a:solidFill>
          <a:latin typeface="Tahoma" panose="020B0604030504040204" pitchFamily="34" charset="0"/>
        </a:defRPr>
      </a:lvl6pPr>
      <a:lvl7pPr marL="640064" algn="ctr" defTabSz="913425" rtl="0" eaLnBrk="1" fontAlgn="base" hangingPunct="1">
        <a:spcBef>
          <a:spcPct val="0"/>
        </a:spcBef>
        <a:spcAft>
          <a:spcPct val="0"/>
        </a:spcAft>
        <a:defRPr sz="2800" b="1">
          <a:solidFill>
            <a:schemeClr val="tx1"/>
          </a:solidFill>
          <a:latin typeface="Tahoma" panose="020B0604030504040204" pitchFamily="34" charset="0"/>
        </a:defRPr>
      </a:lvl7pPr>
      <a:lvl8pPr marL="960096" algn="ctr" defTabSz="913425" rtl="0" eaLnBrk="1" fontAlgn="base" hangingPunct="1">
        <a:spcBef>
          <a:spcPct val="0"/>
        </a:spcBef>
        <a:spcAft>
          <a:spcPct val="0"/>
        </a:spcAft>
        <a:defRPr sz="2800" b="1">
          <a:solidFill>
            <a:schemeClr val="tx1"/>
          </a:solidFill>
          <a:latin typeface="Tahoma" panose="020B0604030504040204" pitchFamily="34" charset="0"/>
        </a:defRPr>
      </a:lvl8pPr>
      <a:lvl9pPr marL="1280128" algn="ctr" defTabSz="913425" rtl="0" eaLnBrk="1" fontAlgn="base" hangingPunct="1">
        <a:spcBef>
          <a:spcPct val="0"/>
        </a:spcBef>
        <a:spcAft>
          <a:spcPct val="0"/>
        </a:spcAft>
        <a:defRPr sz="2800" b="1">
          <a:solidFill>
            <a:schemeClr val="tx1"/>
          </a:solidFill>
          <a:latin typeface="Tahoma" panose="020B0604030504040204" pitchFamily="34" charset="0"/>
        </a:defRPr>
      </a:lvl9pPr>
    </p:titleStyle>
    <p:bodyStyle>
      <a:lvl1pPr marL="342257" indent="-342257" algn="l" defTabSz="913425" rtl="0" eaLnBrk="1" fontAlgn="base" hangingPunct="1">
        <a:spcBef>
          <a:spcPct val="20000"/>
        </a:spcBef>
        <a:spcAft>
          <a:spcPct val="0"/>
        </a:spcAft>
        <a:buFont typeface="Arial" pitchFamily="34" charset="0"/>
        <a:buChar char="•"/>
        <a:defRPr sz="2200" b="1" kern="1200">
          <a:solidFill>
            <a:schemeClr val="tx1"/>
          </a:solidFill>
          <a:latin typeface="Myriad Pro"/>
          <a:ea typeface="ＭＳ Ｐゴシック" charset="0"/>
          <a:cs typeface="Myriad Pro"/>
        </a:defRPr>
      </a:lvl1pPr>
      <a:lvl2pPr marL="742297" indent="-285585" algn="l" defTabSz="913425" rtl="0" eaLnBrk="1" fontAlgn="base" hangingPunct="1">
        <a:spcBef>
          <a:spcPct val="20000"/>
        </a:spcBef>
        <a:spcAft>
          <a:spcPct val="0"/>
        </a:spcAft>
        <a:buFont typeface="Arial" pitchFamily="34" charset="0"/>
        <a:buChar char="–"/>
        <a:defRPr sz="2000" kern="1200">
          <a:solidFill>
            <a:schemeClr val="tx1"/>
          </a:solidFill>
          <a:latin typeface="Myriad Pro"/>
          <a:ea typeface="ＭＳ Ｐゴシック" charset="0"/>
          <a:cs typeface="Myriad Pro"/>
        </a:defRPr>
      </a:lvl2pPr>
      <a:lvl3pPr marL="1142336" indent="-227801" algn="l" defTabSz="913425" rtl="0" eaLnBrk="1" fontAlgn="base" hangingPunct="1">
        <a:spcBef>
          <a:spcPct val="20000"/>
        </a:spcBef>
        <a:spcAft>
          <a:spcPct val="0"/>
        </a:spcAft>
        <a:buFont typeface="Arial" pitchFamily="34" charset="0"/>
        <a:buChar char="•"/>
        <a:defRPr sz="2000" kern="1200">
          <a:solidFill>
            <a:schemeClr val="tx1"/>
          </a:solidFill>
          <a:latin typeface="Myriad Pro"/>
          <a:ea typeface="ＭＳ Ｐゴシック" charset="0"/>
          <a:cs typeface="Myriad Pro"/>
        </a:defRPr>
      </a:lvl3pPr>
      <a:lvl4pPr marL="1599049" indent="-227801" algn="l" defTabSz="913425" rtl="0" eaLnBrk="1" fontAlgn="base" hangingPunct="1">
        <a:spcBef>
          <a:spcPct val="20000"/>
        </a:spcBef>
        <a:spcAft>
          <a:spcPct val="0"/>
        </a:spcAft>
        <a:buFont typeface="Arial" pitchFamily="34" charset="0"/>
        <a:buChar char="–"/>
        <a:defRPr sz="2000" i="1" kern="1200">
          <a:solidFill>
            <a:schemeClr val="tx1"/>
          </a:solidFill>
          <a:latin typeface="Myriad Pro"/>
          <a:ea typeface="ＭＳ Ｐゴシック" charset="0"/>
          <a:cs typeface="Myriad Pro"/>
        </a:defRPr>
      </a:lvl4pPr>
      <a:lvl5pPr marL="2056873" indent="-227801" algn="l" defTabSz="913425" rtl="0" eaLnBrk="1" fontAlgn="base" hangingPunct="1">
        <a:spcBef>
          <a:spcPct val="20000"/>
        </a:spcBef>
        <a:spcAft>
          <a:spcPct val="0"/>
        </a:spcAft>
        <a:buFont typeface="Arial" pitchFamily="34" charset="0"/>
        <a:buChar char="»"/>
        <a:defRPr sz="2000" kern="1200">
          <a:solidFill>
            <a:schemeClr val="tx1"/>
          </a:solidFill>
          <a:latin typeface="Myriad Pro"/>
          <a:ea typeface="ＭＳ Ｐゴシック" charset="0"/>
          <a:cs typeface="Myriad Pro"/>
        </a:defRPr>
      </a:lvl5pPr>
      <a:lvl6pPr marL="2514411" indent="-228584" algn="l" defTabSz="91433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77" indent="-228584" algn="l" defTabSz="91433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44" indent="-228584" algn="l" defTabSz="91433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09" indent="-228584" algn="l" defTabSz="914331"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31" rtl="0" eaLnBrk="1" latinLnBrk="0" hangingPunct="1">
        <a:defRPr sz="1800" kern="1200">
          <a:solidFill>
            <a:schemeClr val="tx1"/>
          </a:solidFill>
          <a:latin typeface="+mn-lt"/>
          <a:ea typeface="+mn-ea"/>
          <a:cs typeface="+mn-cs"/>
        </a:defRPr>
      </a:lvl1pPr>
      <a:lvl2pPr marL="457166" algn="l" defTabSz="914331" rtl="0" eaLnBrk="1" latinLnBrk="0" hangingPunct="1">
        <a:defRPr sz="1800" kern="1200">
          <a:solidFill>
            <a:schemeClr val="tx1"/>
          </a:solidFill>
          <a:latin typeface="+mn-lt"/>
          <a:ea typeface="+mn-ea"/>
          <a:cs typeface="+mn-cs"/>
        </a:defRPr>
      </a:lvl2pPr>
      <a:lvl3pPr marL="914331" algn="l" defTabSz="914331" rtl="0" eaLnBrk="1" latinLnBrk="0" hangingPunct="1">
        <a:defRPr sz="1800" kern="1200">
          <a:solidFill>
            <a:schemeClr val="tx1"/>
          </a:solidFill>
          <a:latin typeface="+mn-lt"/>
          <a:ea typeface="+mn-ea"/>
          <a:cs typeface="+mn-cs"/>
        </a:defRPr>
      </a:lvl3pPr>
      <a:lvl4pPr marL="1371498" algn="l" defTabSz="914331" rtl="0" eaLnBrk="1" latinLnBrk="0" hangingPunct="1">
        <a:defRPr sz="1800" kern="1200">
          <a:solidFill>
            <a:schemeClr val="tx1"/>
          </a:solidFill>
          <a:latin typeface="+mn-lt"/>
          <a:ea typeface="+mn-ea"/>
          <a:cs typeface="+mn-cs"/>
        </a:defRPr>
      </a:lvl4pPr>
      <a:lvl5pPr marL="1828664" algn="l" defTabSz="914331" rtl="0" eaLnBrk="1" latinLnBrk="0" hangingPunct="1">
        <a:defRPr sz="1800" kern="1200">
          <a:solidFill>
            <a:schemeClr val="tx1"/>
          </a:solidFill>
          <a:latin typeface="+mn-lt"/>
          <a:ea typeface="+mn-ea"/>
          <a:cs typeface="+mn-cs"/>
        </a:defRPr>
      </a:lvl5pPr>
      <a:lvl6pPr marL="2285829" algn="l" defTabSz="914331" rtl="0" eaLnBrk="1" latinLnBrk="0" hangingPunct="1">
        <a:defRPr sz="1800" kern="1200">
          <a:solidFill>
            <a:schemeClr val="tx1"/>
          </a:solidFill>
          <a:latin typeface="+mn-lt"/>
          <a:ea typeface="+mn-ea"/>
          <a:cs typeface="+mn-cs"/>
        </a:defRPr>
      </a:lvl6pPr>
      <a:lvl7pPr marL="2742995" algn="l" defTabSz="914331" rtl="0" eaLnBrk="1" latinLnBrk="0" hangingPunct="1">
        <a:defRPr sz="1800" kern="1200">
          <a:solidFill>
            <a:schemeClr val="tx1"/>
          </a:solidFill>
          <a:latin typeface="+mn-lt"/>
          <a:ea typeface="+mn-ea"/>
          <a:cs typeface="+mn-cs"/>
        </a:defRPr>
      </a:lvl7pPr>
      <a:lvl8pPr marL="3200160" algn="l" defTabSz="914331" rtl="0" eaLnBrk="1" latinLnBrk="0" hangingPunct="1">
        <a:defRPr sz="1800" kern="1200">
          <a:solidFill>
            <a:schemeClr val="tx1"/>
          </a:solidFill>
          <a:latin typeface="+mn-lt"/>
          <a:ea typeface="+mn-ea"/>
          <a:cs typeface="+mn-cs"/>
        </a:defRPr>
      </a:lvl8pPr>
      <a:lvl9pPr marL="3657326" algn="l" defTabSz="914331"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dartpad.dev/"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B5F414-5C89-8AF0-685A-A02E8821681C}"/>
              </a:ext>
            </a:extLst>
          </p:cNvPr>
          <p:cNvSpPr>
            <a:spLocks noGrp="1"/>
          </p:cNvSpPr>
          <p:nvPr>
            <p:ph type="ctrTitle"/>
          </p:nvPr>
        </p:nvSpPr>
        <p:spPr>
          <a:xfrm>
            <a:off x="4027714" y="3797574"/>
            <a:ext cx="7620000" cy="1827699"/>
          </a:xfrm>
        </p:spPr>
        <p:txBody>
          <a:bodyPr>
            <a:normAutofit fontScale="90000"/>
          </a:bodyPr>
          <a:lstStyle/>
          <a:p>
            <a:pPr algn="ctr"/>
            <a:r>
              <a:rPr lang="en-US" sz="4000"/>
              <a:t>Module 8 – Working with RESTful APIs &amp; JSON in Flutter</a:t>
            </a:r>
            <a:br>
              <a:rPr lang="en-US" sz="4000"/>
            </a:br>
            <a:endParaRPr lang="en-US" sz="3600"/>
          </a:p>
        </p:txBody>
      </p:sp>
    </p:spTree>
    <p:extLst>
      <p:ext uri="{BB962C8B-B14F-4D97-AF65-F5344CB8AC3E}">
        <p14:creationId xmlns:p14="http://schemas.microsoft.com/office/powerpoint/2010/main" val="1757101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604CB-0E6B-D061-0990-333BDC6598E7}"/>
              </a:ext>
            </a:extLst>
          </p:cNvPr>
          <p:cNvSpPr>
            <a:spLocks noGrp="1"/>
          </p:cNvSpPr>
          <p:nvPr>
            <p:ph type="title"/>
          </p:nvPr>
        </p:nvSpPr>
        <p:spPr>
          <a:xfrm>
            <a:off x="1981200" y="338667"/>
            <a:ext cx="8229600" cy="818503"/>
          </a:xfrm>
        </p:spPr>
        <p:txBody>
          <a:bodyPr/>
          <a:lstStyle/>
          <a:p>
            <a:pPr algn="ctr"/>
            <a:r>
              <a:rPr lang="en-US" sz="3200"/>
              <a:t>Learning Objectives</a:t>
            </a:r>
          </a:p>
        </p:txBody>
      </p:sp>
      <p:sp>
        <p:nvSpPr>
          <p:cNvPr id="8" name="Content Placeholder 7">
            <a:extLst>
              <a:ext uri="{FF2B5EF4-FFF2-40B4-BE49-F238E27FC236}">
                <a16:creationId xmlns:a16="http://schemas.microsoft.com/office/drawing/2014/main" id="{0B415528-BB05-41C8-4355-5639D534B59B}"/>
              </a:ext>
            </a:extLst>
          </p:cNvPr>
          <p:cNvSpPr>
            <a:spLocks noGrp="1"/>
          </p:cNvSpPr>
          <p:nvPr>
            <p:ph idx="1"/>
          </p:nvPr>
        </p:nvSpPr>
        <p:spPr>
          <a:xfrm>
            <a:off x="1059745" y="1012892"/>
            <a:ext cx="9845322" cy="5531497"/>
          </a:xfrm>
        </p:spPr>
        <p:txBody>
          <a:bodyPr/>
          <a:lstStyle/>
          <a:p>
            <a:pPr marL="0" indent="0" defTabSz="914400" eaLnBrk="0" hangingPunct="0">
              <a:lnSpc>
                <a:spcPct val="200000"/>
              </a:lnSpc>
              <a:spcBef>
                <a:spcPct val="0"/>
              </a:spcBef>
              <a:spcAft>
                <a:spcPct val="0"/>
              </a:spcAft>
              <a:buNone/>
            </a:pPr>
            <a:r>
              <a:rPr lang="en-US" altLang="en-US" sz="2800"/>
              <a:t>Content:</a:t>
            </a:r>
          </a:p>
          <a:p>
            <a:pPr defTabSz="914400" eaLnBrk="0" hangingPunct="0">
              <a:lnSpc>
                <a:spcPct val="150000"/>
              </a:lnSpc>
              <a:spcBef>
                <a:spcPct val="0"/>
              </a:spcBef>
              <a:spcAft>
                <a:spcPct val="0"/>
              </a:spcAft>
            </a:pPr>
            <a:r>
              <a:rPr lang="en-US" altLang="en-US" b="0"/>
              <a:t>Understand basic HTTP and RESTful API concepts</a:t>
            </a:r>
          </a:p>
          <a:p>
            <a:pPr defTabSz="914400" eaLnBrk="0" hangingPunct="0">
              <a:lnSpc>
                <a:spcPct val="150000"/>
              </a:lnSpc>
              <a:spcBef>
                <a:spcPct val="0"/>
              </a:spcBef>
              <a:spcAft>
                <a:spcPct val="0"/>
              </a:spcAft>
            </a:pPr>
            <a:r>
              <a:rPr lang="en-US" altLang="en-US" b="0"/>
              <a:t>Send GET requests in Flutter using the http package</a:t>
            </a:r>
          </a:p>
          <a:p>
            <a:pPr defTabSz="914400" eaLnBrk="0" hangingPunct="0">
              <a:lnSpc>
                <a:spcPct val="150000"/>
              </a:lnSpc>
              <a:spcBef>
                <a:spcPct val="0"/>
              </a:spcBef>
              <a:spcAft>
                <a:spcPct val="0"/>
              </a:spcAft>
            </a:pPr>
            <a:r>
              <a:rPr lang="en-US" altLang="en-US" b="0"/>
              <a:t>Parse JSON responses into Dart model classes</a:t>
            </a:r>
          </a:p>
          <a:p>
            <a:pPr defTabSz="914400" eaLnBrk="0" hangingPunct="0">
              <a:lnSpc>
                <a:spcPct val="150000"/>
              </a:lnSpc>
              <a:spcBef>
                <a:spcPct val="0"/>
              </a:spcBef>
              <a:spcAft>
                <a:spcPct val="0"/>
              </a:spcAft>
            </a:pPr>
            <a:r>
              <a:rPr lang="en-US" altLang="en-US" b="0"/>
              <a:t>Display API data using FutureBuilder + ListView</a:t>
            </a:r>
          </a:p>
          <a:p>
            <a:pPr defTabSz="914400" eaLnBrk="0" hangingPunct="0">
              <a:lnSpc>
                <a:spcPct val="150000"/>
              </a:lnSpc>
              <a:spcBef>
                <a:spcPct val="0"/>
              </a:spcBef>
              <a:spcAft>
                <a:spcPct val="0"/>
              </a:spcAft>
            </a:pPr>
            <a:r>
              <a:rPr lang="en-US" altLang="en-US" b="0"/>
              <a:t>Handle loading, empty, and error states</a:t>
            </a:r>
          </a:p>
          <a:p>
            <a:pPr defTabSz="914400" eaLnBrk="0" hangingPunct="0">
              <a:lnSpc>
                <a:spcPct val="150000"/>
              </a:lnSpc>
              <a:spcBef>
                <a:spcPct val="0"/>
              </a:spcBef>
              <a:spcAft>
                <a:spcPct val="0"/>
              </a:spcAft>
            </a:pPr>
            <a:r>
              <a:rPr lang="en-US" altLang="en-US" b="0"/>
              <a:t>Send POST requests to create or submit data</a:t>
            </a:r>
          </a:p>
          <a:p>
            <a:pPr defTabSz="914400" eaLnBrk="0" hangingPunct="0">
              <a:lnSpc>
                <a:spcPct val="150000"/>
              </a:lnSpc>
              <a:spcBef>
                <a:spcPct val="0"/>
              </a:spcBef>
              <a:spcAft>
                <a:spcPct val="0"/>
              </a:spcAft>
            </a:pPr>
            <a:r>
              <a:rPr lang="en-US" altLang="en-US" b="0"/>
              <a:t>Organize API logic using a reusable Service Layer pattern</a:t>
            </a:r>
            <a:endParaRPr lang="en-US" sz="2000" b="0"/>
          </a:p>
        </p:txBody>
      </p:sp>
    </p:spTree>
    <p:extLst>
      <p:ext uri="{BB962C8B-B14F-4D97-AF65-F5344CB8AC3E}">
        <p14:creationId xmlns:p14="http://schemas.microsoft.com/office/powerpoint/2010/main" val="851030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a:t>What is an API? What is HTTP?</a:t>
            </a:r>
            <a:endParaRPr sz="3200"/>
          </a:p>
        </p:txBody>
      </p:sp>
      <p:sp>
        <p:nvSpPr>
          <p:cNvPr id="3" name="Content Placeholder 2"/>
          <p:cNvSpPr>
            <a:spLocks noGrp="1"/>
          </p:cNvSpPr>
          <p:nvPr>
            <p:ph idx="1"/>
          </p:nvPr>
        </p:nvSpPr>
        <p:spPr>
          <a:xfrm>
            <a:off x="422797" y="1322243"/>
            <a:ext cx="4467578" cy="4909224"/>
          </a:xfrm>
        </p:spPr>
        <p:txBody>
          <a:bodyPr/>
          <a:lstStyle/>
          <a:p>
            <a:pPr marL="0" indent="0">
              <a:spcBef>
                <a:spcPts val="0"/>
              </a:spcBef>
              <a:spcAft>
                <a:spcPts val="600"/>
              </a:spcAft>
              <a:buNone/>
            </a:pPr>
            <a:r>
              <a:rPr lang="en-US" sz="2000"/>
              <a:t>API (Application Programming Interface)</a:t>
            </a:r>
          </a:p>
          <a:p>
            <a:pPr lvl="1">
              <a:spcBef>
                <a:spcPts val="0"/>
              </a:spcBef>
              <a:spcAft>
                <a:spcPts val="600"/>
              </a:spcAft>
            </a:pPr>
            <a:r>
              <a:rPr lang="en-US" b="0"/>
              <a:t>A contract that allows clients to talk to a server</a:t>
            </a:r>
          </a:p>
          <a:p>
            <a:pPr lvl="1">
              <a:spcBef>
                <a:spcPts val="0"/>
              </a:spcBef>
              <a:spcAft>
                <a:spcPts val="600"/>
              </a:spcAft>
            </a:pPr>
            <a:r>
              <a:rPr lang="en-US" b="0"/>
              <a:t>Often exposed as a set of URLs (endpoints)</a:t>
            </a:r>
          </a:p>
          <a:p>
            <a:pPr marL="0" indent="0">
              <a:spcBef>
                <a:spcPts val="0"/>
              </a:spcBef>
              <a:spcAft>
                <a:spcPts val="600"/>
              </a:spcAft>
              <a:buNone/>
            </a:pPr>
            <a:r>
              <a:rPr lang="en-US" sz="2000"/>
              <a:t>HTTP fundamentals</a:t>
            </a:r>
          </a:p>
          <a:p>
            <a:pPr marL="742940" lvl="1" indent="-342900">
              <a:spcBef>
                <a:spcPts val="0"/>
              </a:spcBef>
              <a:spcAft>
                <a:spcPts val="600"/>
              </a:spcAft>
            </a:pPr>
            <a:r>
              <a:rPr lang="en-US" b="0"/>
              <a:t>Methods: GET, POST, PUT, DELETE</a:t>
            </a:r>
          </a:p>
          <a:p>
            <a:pPr marL="742940" lvl="1" indent="-342900">
              <a:spcBef>
                <a:spcPts val="0"/>
              </a:spcBef>
              <a:spcAft>
                <a:spcPts val="600"/>
              </a:spcAft>
            </a:pPr>
            <a:r>
              <a:rPr lang="en-US" b="0"/>
              <a:t>Status codes:</a:t>
            </a:r>
          </a:p>
          <a:p>
            <a:pPr marL="742940" lvl="1" indent="-342900">
              <a:spcBef>
                <a:spcPts val="0"/>
              </a:spcBef>
              <a:spcAft>
                <a:spcPts val="600"/>
              </a:spcAft>
            </a:pPr>
            <a:r>
              <a:rPr lang="en-US" b="0"/>
              <a:t>200–299: success</a:t>
            </a:r>
          </a:p>
          <a:p>
            <a:pPr marL="742940" lvl="1" indent="-342900">
              <a:spcBef>
                <a:spcPts val="0"/>
              </a:spcBef>
              <a:spcAft>
                <a:spcPts val="600"/>
              </a:spcAft>
            </a:pPr>
            <a:r>
              <a:rPr lang="en-US" b="0"/>
              <a:t>400–499: client error</a:t>
            </a:r>
          </a:p>
          <a:p>
            <a:pPr marL="742940" lvl="1" indent="-342900">
              <a:spcBef>
                <a:spcPts val="0"/>
              </a:spcBef>
              <a:spcAft>
                <a:spcPts val="600"/>
              </a:spcAft>
            </a:pPr>
            <a:r>
              <a:rPr lang="en-US" b="0"/>
              <a:t>500–599: server error</a:t>
            </a:r>
          </a:p>
        </p:txBody>
      </p:sp>
      <p:pic>
        <p:nvPicPr>
          <p:cNvPr id="7" name="Picture 6">
            <a:extLst>
              <a:ext uri="{FF2B5EF4-FFF2-40B4-BE49-F238E27FC236}">
                <a16:creationId xmlns:a16="http://schemas.microsoft.com/office/drawing/2014/main" id="{6456DAB9-B5EF-5550-DEDD-E49B7918BF48}"/>
              </a:ext>
            </a:extLst>
          </p:cNvPr>
          <p:cNvPicPr>
            <a:picLocks noChangeAspect="1"/>
          </p:cNvPicPr>
          <p:nvPr/>
        </p:nvPicPr>
        <p:blipFill>
          <a:blip r:embed="rId3"/>
          <a:stretch>
            <a:fillRect/>
          </a:stretch>
        </p:blipFill>
        <p:spPr>
          <a:xfrm>
            <a:off x="5286897" y="1569701"/>
            <a:ext cx="6717425" cy="441430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869" y="275167"/>
            <a:ext cx="10972271" cy="1143000"/>
          </a:xfrm>
        </p:spPr>
        <p:txBody>
          <a:bodyPr wrap="square" anchor="ctr">
            <a:normAutofit/>
          </a:bodyPr>
          <a:lstStyle/>
          <a:p>
            <a:pPr algn="ctr"/>
            <a:r>
              <a:rPr lang="en-US" sz="3200"/>
              <a:t>What is JSON?</a:t>
            </a:r>
          </a:p>
        </p:txBody>
      </p:sp>
      <p:sp>
        <p:nvSpPr>
          <p:cNvPr id="9" name="Content Placeholder 8">
            <a:extLst>
              <a:ext uri="{FF2B5EF4-FFF2-40B4-BE49-F238E27FC236}">
                <a16:creationId xmlns:a16="http://schemas.microsoft.com/office/drawing/2014/main" id="{5E7EFC6A-81A6-BA13-EE84-991020FC65D7}"/>
              </a:ext>
            </a:extLst>
          </p:cNvPr>
          <p:cNvSpPr>
            <a:spLocks noGrp="1"/>
          </p:cNvSpPr>
          <p:nvPr>
            <p:ph sz="half" idx="1"/>
          </p:nvPr>
        </p:nvSpPr>
        <p:spPr>
          <a:xfrm>
            <a:off x="609600" y="1825981"/>
            <a:ext cx="5384800" cy="4525963"/>
          </a:xfrm>
        </p:spPr>
        <p:txBody>
          <a:bodyPr wrap="square" anchor="t">
            <a:normAutofit/>
          </a:bodyPr>
          <a:lstStyle/>
          <a:p>
            <a:pPr marL="0" indent="0">
              <a:lnSpc>
                <a:spcPct val="90000"/>
              </a:lnSpc>
              <a:buNone/>
            </a:pPr>
            <a:r>
              <a:rPr lang="en-US" sz="2000"/>
              <a:t>JSON (JavaScript Object Notation)</a:t>
            </a:r>
          </a:p>
          <a:p>
            <a:pPr marL="742940" lvl="1" indent="-342900">
              <a:lnSpc>
                <a:spcPct val="90000"/>
              </a:lnSpc>
            </a:pPr>
            <a:r>
              <a:rPr lang="en-US" sz="2000" b="0"/>
              <a:t>A lightweight text format for data exchange</a:t>
            </a:r>
          </a:p>
          <a:p>
            <a:pPr marL="742940" lvl="1" indent="-342900">
              <a:lnSpc>
                <a:spcPct val="90000"/>
              </a:lnSpc>
            </a:pPr>
            <a:r>
              <a:rPr lang="en-US" sz="2000" b="0"/>
              <a:t>Key–value pairs and arrays</a:t>
            </a:r>
          </a:p>
          <a:p>
            <a:pPr marL="742940" lvl="1" indent="-342900">
              <a:lnSpc>
                <a:spcPct val="90000"/>
              </a:lnSpc>
            </a:pPr>
            <a:r>
              <a:rPr lang="en-US" sz="2000" b="0"/>
              <a:t>Easy to read and parse</a:t>
            </a:r>
          </a:p>
          <a:p>
            <a:pPr marL="742940" lvl="1" indent="-342900">
              <a:lnSpc>
                <a:spcPct val="90000"/>
              </a:lnSpc>
            </a:pPr>
            <a:r>
              <a:rPr lang="en-US" sz="2000" b="0"/>
              <a:t>Maps naturally to Dart structures: Map&lt;String, dynamic&gt; and List&lt;dynamic&gt;</a:t>
            </a:r>
          </a:p>
          <a:p>
            <a:pPr>
              <a:lnSpc>
                <a:spcPct val="90000"/>
              </a:lnSpc>
            </a:pPr>
            <a:r>
              <a:rPr lang="en-US" sz="2000"/>
              <a:t>JSON in APIs</a:t>
            </a:r>
          </a:p>
          <a:p>
            <a:pPr lvl="1">
              <a:lnSpc>
                <a:spcPct val="90000"/>
              </a:lnSpc>
            </a:pPr>
            <a:r>
              <a:rPr lang="en-US" sz="2000"/>
              <a:t>APIs return JSON → your Flutter app decodes → maps to Model classes.</a:t>
            </a:r>
            <a:endParaRPr lang="en-US" sz="2000" b="0"/>
          </a:p>
        </p:txBody>
      </p:sp>
      <p:pic>
        <p:nvPicPr>
          <p:cNvPr id="24" name="Picture 23" descr="A close-up of a computer code&#10;&#10;AI-generated content may be incorrect.">
            <a:extLst>
              <a:ext uri="{FF2B5EF4-FFF2-40B4-BE49-F238E27FC236}">
                <a16:creationId xmlns:a16="http://schemas.microsoft.com/office/drawing/2014/main" id="{ADE81581-081A-3FCC-E0D9-4A22179F07BB}"/>
              </a:ext>
            </a:extLst>
          </p:cNvPr>
          <p:cNvPicPr>
            <a:picLocks noChangeAspect="1"/>
          </p:cNvPicPr>
          <p:nvPr/>
        </p:nvPicPr>
        <p:blipFill>
          <a:blip r:embed="rId3"/>
          <a:srcRect r="8963" b="1"/>
          <a:stretch>
            <a:fillRect/>
          </a:stretch>
        </p:blipFill>
        <p:spPr>
          <a:xfrm>
            <a:off x="6197600" y="1604047"/>
            <a:ext cx="5384800" cy="3948193"/>
          </a:xfrm>
          <a:prstGeom prst="rect">
            <a:avLst/>
          </a:prstGeom>
          <a:noFill/>
          <a:ln>
            <a:solidFill>
              <a:schemeClr val="tx1"/>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869" y="275167"/>
            <a:ext cx="10972271" cy="1143000"/>
          </a:xfrm>
        </p:spPr>
        <p:txBody>
          <a:bodyPr wrap="square" anchor="ctr">
            <a:normAutofit/>
          </a:bodyPr>
          <a:lstStyle/>
          <a:p>
            <a:pPr algn="ctr"/>
            <a:r>
              <a:rPr lang="en-US" sz="3200"/>
              <a:t>API Networking in Flutter — The Big Picture </a:t>
            </a:r>
          </a:p>
        </p:txBody>
      </p:sp>
      <p:sp>
        <p:nvSpPr>
          <p:cNvPr id="3" name="Content Placeholder 2"/>
          <p:cNvSpPr>
            <a:spLocks noGrp="1"/>
          </p:cNvSpPr>
          <p:nvPr>
            <p:ph sz="half" idx="1"/>
          </p:nvPr>
        </p:nvSpPr>
        <p:spPr>
          <a:xfrm>
            <a:off x="609600" y="1600203"/>
            <a:ext cx="5384800" cy="4525963"/>
          </a:xfrm>
        </p:spPr>
        <p:txBody>
          <a:bodyPr wrap="square" anchor="t">
            <a:normAutofit/>
          </a:bodyPr>
          <a:lstStyle/>
          <a:p>
            <a:pPr marL="0" indent="0">
              <a:lnSpc>
                <a:spcPct val="150000"/>
              </a:lnSpc>
              <a:buNone/>
            </a:pPr>
            <a:r>
              <a:rPr lang="en-US" sz="2400"/>
              <a:t>Steps to call an API in Flutter</a:t>
            </a:r>
          </a:p>
          <a:p>
            <a:pPr marL="857240" lvl="1" indent="-457200">
              <a:lnSpc>
                <a:spcPct val="150000"/>
              </a:lnSpc>
              <a:buFont typeface="+mj-lt"/>
              <a:buAutoNum type="arabicPeriod"/>
            </a:pPr>
            <a:r>
              <a:rPr lang="en-US" sz="2000"/>
              <a:t>Choose an endpoint (URL + method)</a:t>
            </a:r>
          </a:p>
          <a:p>
            <a:pPr marL="857240" lvl="1" indent="-457200">
              <a:lnSpc>
                <a:spcPct val="150000"/>
              </a:lnSpc>
              <a:buFont typeface="+mj-lt"/>
              <a:buAutoNum type="arabicPeriod"/>
            </a:pPr>
            <a:r>
              <a:rPr lang="en-US" sz="2000"/>
              <a:t>Send the request using http client</a:t>
            </a:r>
          </a:p>
          <a:p>
            <a:pPr marL="857240" lvl="1" indent="-457200">
              <a:lnSpc>
                <a:spcPct val="150000"/>
              </a:lnSpc>
              <a:buFont typeface="+mj-lt"/>
              <a:buAutoNum type="arabicPeriod"/>
            </a:pPr>
            <a:r>
              <a:rPr lang="en-US" sz="2000"/>
              <a:t>Receive JSON response</a:t>
            </a:r>
          </a:p>
          <a:p>
            <a:pPr marL="857240" lvl="1" indent="-457200">
              <a:lnSpc>
                <a:spcPct val="150000"/>
              </a:lnSpc>
              <a:buFont typeface="+mj-lt"/>
              <a:buAutoNum type="arabicPeriod"/>
            </a:pPr>
            <a:r>
              <a:rPr lang="en-US" sz="2000"/>
              <a:t>Decode JSON → Dart models</a:t>
            </a:r>
          </a:p>
          <a:p>
            <a:pPr marL="857240" lvl="1" indent="-457200">
              <a:lnSpc>
                <a:spcPct val="150000"/>
              </a:lnSpc>
              <a:buFont typeface="+mj-lt"/>
              <a:buAutoNum type="arabicPeriod"/>
            </a:pPr>
            <a:r>
              <a:rPr lang="en-US" sz="2000"/>
              <a:t>Update UI with the data</a:t>
            </a:r>
          </a:p>
          <a:p>
            <a:pPr marL="857240" lvl="1" indent="-457200">
              <a:lnSpc>
                <a:spcPct val="150000"/>
              </a:lnSpc>
              <a:buFont typeface="+mj-lt"/>
              <a:buAutoNum type="arabicPeriod"/>
            </a:pPr>
            <a:r>
              <a:rPr lang="en-US" sz="2000"/>
              <a:t>Handle loading &amp; error states</a:t>
            </a:r>
            <a:endParaRPr lang="en-US"/>
          </a:p>
        </p:txBody>
      </p:sp>
      <p:pic>
        <p:nvPicPr>
          <p:cNvPr id="1028" name="Picture 4" descr="Best Practices for RESTful Communication in Flutter | Krasamo">
            <a:extLst>
              <a:ext uri="{FF2B5EF4-FFF2-40B4-BE49-F238E27FC236}">
                <a16:creationId xmlns:a16="http://schemas.microsoft.com/office/drawing/2014/main" id="{93BEE874-B6D6-3E1A-4605-2C9E795161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0348" b="5601"/>
          <a:stretch>
            <a:fillRect/>
          </a:stretch>
        </p:blipFill>
        <p:spPr bwMode="auto">
          <a:xfrm>
            <a:off x="6197599" y="1418167"/>
            <a:ext cx="5601379" cy="4707999"/>
          </a:xfrm>
          <a:prstGeom prst="rect">
            <a:avLst/>
          </a:prstGeom>
          <a:solidFill>
            <a:srgbClr val="FFFFFF"/>
          </a:solidFill>
          <a:ln>
            <a:solidFill>
              <a:schemeClr val="tx1"/>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a:t>Using the </a:t>
            </a:r>
            <a:r>
              <a:rPr lang="en-US"/>
              <a:t>http</a:t>
            </a:r>
            <a:r>
              <a:rPr lang="en-US" sz="3200"/>
              <a:t> Package</a:t>
            </a:r>
            <a:endParaRPr sz="3200"/>
          </a:p>
        </p:txBody>
      </p:sp>
      <p:sp>
        <p:nvSpPr>
          <p:cNvPr id="4" name="Content Placeholder 3">
            <a:extLst>
              <a:ext uri="{FF2B5EF4-FFF2-40B4-BE49-F238E27FC236}">
                <a16:creationId xmlns:a16="http://schemas.microsoft.com/office/drawing/2014/main" id="{6DF03A31-C461-64D4-947A-16FEE933606E}"/>
              </a:ext>
            </a:extLst>
          </p:cNvPr>
          <p:cNvSpPr>
            <a:spLocks noGrp="1"/>
          </p:cNvSpPr>
          <p:nvPr>
            <p:ph idx="1"/>
          </p:nvPr>
        </p:nvSpPr>
        <p:spPr>
          <a:xfrm>
            <a:off x="609869" y="1600731"/>
            <a:ext cx="10385509" cy="4525699"/>
          </a:xfrm>
        </p:spPr>
        <p:txBody>
          <a:bodyPr/>
          <a:lstStyle/>
          <a:p>
            <a:pPr marL="0" indent="0">
              <a:buNone/>
            </a:pPr>
            <a:r>
              <a:rPr lang="en-US"/>
              <a:t>Common approach in Flutter</a:t>
            </a:r>
          </a:p>
          <a:p>
            <a:r>
              <a:rPr lang="en-US" b="0"/>
              <a:t>Add dependency in pubspec.yaml: http</a:t>
            </a:r>
          </a:p>
          <a:p>
            <a:r>
              <a:rPr lang="en-US" b="0"/>
              <a:t>Import in Dart file:</a:t>
            </a:r>
          </a:p>
          <a:p>
            <a:endParaRPr lang="en-US" b="0"/>
          </a:p>
          <a:p>
            <a:pPr marL="0" indent="0">
              <a:buNone/>
            </a:pPr>
            <a:endParaRPr lang="en-US" b="0"/>
          </a:p>
          <a:p>
            <a:pPr marL="0" indent="0">
              <a:buNone/>
            </a:pPr>
            <a:endParaRPr lang="en-US" b="0"/>
          </a:p>
          <a:p>
            <a:pPr marL="0" indent="0">
              <a:buNone/>
            </a:pPr>
            <a:r>
              <a:rPr lang="en-US"/>
              <a:t>Typical usage</a:t>
            </a:r>
          </a:p>
          <a:p>
            <a:r>
              <a:rPr lang="en-US" b="0"/>
              <a:t>http.get(Uri.parse(url))</a:t>
            </a:r>
          </a:p>
          <a:p>
            <a:r>
              <a:rPr lang="en-US" b="0"/>
              <a:t>http.post(Uri.parse(url), body: {...})</a:t>
            </a:r>
            <a:endParaRPr lang="en-US"/>
          </a:p>
        </p:txBody>
      </p:sp>
      <p:pic>
        <p:nvPicPr>
          <p:cNvPr id="5" name="Picture 4">
            <a:extLst>
              <a:ext uri="{FF2B5EF4-FFF2-40B4-BE49-F238E27FC236}">
                <a16:creationId xmlns:a16="http://schemas.microsoft.com/office/drawing/2014/main" id="{511C8FBE-59B1-EF63-3A7C-9C1083EE9C5D}"/>
              </a:ext>
            </a:extLst>
          </p:cNvPr>
          <p:cNvPicPr>
            <a:picLocks noChangeAspect="1"/>
          </p:cNvPicPr>
          <p:nvPr/>
        </p:nvPicPr>
        <p:blipFill>
          <a:blip r:embed="rId3"/>
          <a:stretch>
            <a:fillRect/>
          </a:stretch>
        </p:blipFill>
        <p:spPr>
          <a:xfrm>
            <a:off x="1831755" y="3053955"/>
            <a:ext cx="5347977" cy="1136445"/>
          </a:xfrm>
          <a:prstGeom prst="rect">
            <a:avLst/>
          </a:prstGeom>
          <a:ln>
            <a:solidFill>
              <a:schemeClr val="tx1"/>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07468-B109-8BB1-918E-B7B80A7674B0}"/>
              </a:ext>
            </a:extLst>
          </p:cNvPr>
          <p:cNvSpPr>
            <a:spLocks noGrp="1"/>
          </p:cNvSpPr>
          <p:nvPr>
            <p:ph type="title"/>
          </p:nvPr>
        </p:nvSpPr>
        <p:spPr>
          <a:xfrm>
            <a:off x="702834" y="214313"/>
            <a:ext cx="10972800" cy="818503"/>
          </a:xfrm>
        </p:spPr>
        <p:txBody>
          <a:bodyPr/>
          <a:lstStyle/>
          <a:p>
            <a:pPr algn="ctr"/>
            <a:r>
              <a:rPr lang="en-US" sz="3200"/>
              <a:t>Demo 8.1: Simple GET Request</a:t>
            </a:r>
          </a:p>
        </p:txBody>
      </p:sp>
      <p:sp>
        <p:nvSpPr>
          <p:cNvPr id="9" name="Content Placeholder 8">
            <a:extLst>
              <a:ext uri="{FF2B5EF4-FFF2-40B4-BE49-F238E27FC236}">
                <a16:creationId xmlns:a16="http://schemas.microsoft.com/office/drawing/2014/main" id="{42F1B936-6559-E12A-04DC-921474462417}"/>
              </a:ext>
            </a:extLst>
          </p:cNvPr>
          <p:cNvSpPr>
            <a:spLocks noGrp="1"/>
          </p:cNvSpPr>
          <p:nvPr>
            <p:ph idx="1"/>
          </p:nvPr>
        </p:nvSpPr>
        <p:spPr>
          <a:xfrm>
            <a:off x="556042" y="1497236"/>
            <a:ext cx="6420491" cy="4820144"/>
          </a:xfrm>
        </p:spPr>
        <p:txBody>
          <a:bodyPr/>
          <a:lstStyle/>
          <a:p>
            <a:pPr marL="0" indent="0">
              <a:buNone/>
            </a:pPr>
            <a:r>
              <a:rPr lang="en-US"/>
              <a:t>Goal: </a:t>
            </a:r>
            <a:r>
              <a:rPr lang="en-US" b="0"/>
              <a:t>Fetch data from a public REST API using an HTTP GET request and print the response.</a:t>
            </a:r>
          </a:p>
          <a:p>
            <a:pPr lvl="1">
              <a:buFont typeface="Wingdings" panose="05000000000000000000" pitchFamily="2" charset="2"/>
              <a:buChar char="§"/>
            </a:pPr>
            <a:r>
              <a:rPr lang="en-US"/>
              <a:t>This demo demonstrates how to make a basic GET request in Flutter using the http package.</a:t>
            </a:r>
          </a:p>
          <a:p>
            <a:pPr lvl="1">
              <a:buFont typeface="Wingdings" panose="05000000000000000000" pitchFamily="2" charset="2"/>
              <a:buChar char="§"/>
            </a:pPr>
            <a:r>
              <a:rPr lang="en-US"/>
              <a:t>The app will fetch a list of posts from the public API (https://jsonplaceholder.typicode.com/posts) and display the title of the first item.</a:t>
            </a:r>
          </a:p>
          <a:p>
            <a:pPr lvl="1">
              <a:buFont typeface="Wingdings" panose="05000000000000000000" pitchFamily="2" charset="2"/>
              <a:buChar char="§"/>
            </a:pPr>
            <a:r>
              <a:rPr lang="en-US"/>
              <a:t>Steps to follow</a:t>
            </a:r>
          </a:p>
          <a:p>
            <a:pPr marL="1656364" lvl="3" indent="-342900">
              <a:buFont typeface="Courier New" panose="02070309020205020404" pitchFamily="49" charset="0"/>
              <a:buChar char="o"/>
            </a:pPr>
            <a:r>
              <a:rPr lang="en-US" i="0"/>
              <a:t>Send an asynchronous HTTP GET request</a:t>
            </a:r>
          </a:p>
          <a:p>
            <a:pPr marL="1656364" lvl="3" indent="-342900">
              <a:buFont typeface="Courier New" panose="02070309020205020404" pitchFamily="49" charset="0"/>
              <a:buChar char="o"/>
            </a:pPr>
            <a:r>
              <a:rPr lang="en-US" i="0"/>
              <a:t>Decode JSON into Dart objects</a:t>
            </a:r>
          </a:p>
          <a:p>
            <a:pPr marL="1656364" lvl="3" indent="-342900">
              <a:buFont typeface="Courier New" panose="02070309020205020404" pitchFamily="49" charset="0"/>
              <a:buChar char="o"/>
            </a:pPr>
            <a:r>
              <a:rPr lang="en-US" i="0"/>
              <a:t>Handle loading status</a:t>
            </a:r>
          </a:p>
          <a:p>
            <a:pPr marL="1656364" lvl="3" indent="-342900">
              <a:buFont typeface="Courier New" panose="02070309020205020404" pitchFamily="49" charset="0"/>
              <a:buChar char="o"/>
            </a:pPr>
            <a:r>
              <a:rPr lang="en-US" i="0"/>
              <a:t>Update UI when data arrives</a:t>
            </a:r>
          </a:p>
          <a:p>
            <a:pPr marL="456712" lvl="1" indent="0">
              <a:buNone/>
            </a:pPr>
            <a:endParaRPr lang="en-US"/>
          </a:p>
          <a:p>
            <a:pPr lvl="1"/>
            <a:endParaRPr lang="en-US" b="0"/>
          </a:p>
          <a:p>
            <a:endParaRPr lang="en-US"/>
          </a:p>
        </p:txBody>
      </p:sp>
      <p:pic>
        <p:nvPicPr>
          <p:cNvPr id="10" name="Picture 9">
            <a:extLst>
              <a:ext uri="{FF2B5EF4-FFF2-40B4-BE49-F238E27FC236}">
                <a16:creationId xmlns:a16="http://schemas.microsoft.com/office/drawing/2014/main" id="{75FAEE45-0A35-21BB-5DAC-04770BD719B7}"/>
              </a:ext>
            </a:extLst>
          </p:cNvPr>
          <p:cNvPicPr>
            <a:picLocks noChangeAspect="1"/>
          </p:cNvPicPr>
          <p:nvPr/>
        </p:nvPicPr>
        <p:blipFill>
          <a:blip r:embed="rId3"/>
          <a:stretch>
            <a:fillRect/>
          </a:stretch>
        </p:blipFill>
        <p:spPr>
          <a:xfrm>
            <a:off x="7213600" y="1250203"/>
            <a:ext cx="4244622" cy="5385430"/>
          </a:xfrm>
          <a:prstGeom prst="rect">
            <a:avLst/>
          </a:prstGeom>
        </p:spPr>
      </p:pic>
    </p:spTree>
    <p:extLst>
      <p:ext uri="{BB962C8B-B14F-4D97-AF65-F5344CB8AC3E}">
        <p14:creationId xmlns:p14="http://schemas.microsoft.com/office/powerpoint/2010/main" val="2682661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FCC3D-CC73-7774-3B02-5B9255009F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83D6E9-F984-5EEF-87B4-D9E6AD781C46}"/>
              </a:ext>
            </a:extLst>
          </p:cNvPr>
          <p:cNvSpPr>
            <a:spLocks noGrp="1"/>
          </p:cNvSpPr>
          <p:nvPr>
            <p:ph type="title"/>
          </p:nvPr>
        </p:nvSpPr>
        <p:spPr>
          <a:xfrm>
            <a:off x="937329" y="44980"/>
            <a:ext cx="10972800" cy="818503"/>
          </a:xfrm>
        </p:spPr>
        <p:txBody>
          <a:bodyPr/>
          <a:lstStyle/>
          <a:p>
            <a:pPr algn="ctr"/>
            <a:r>
              <a:rPr lang="en-US" sz="3200"/>
              <a:t>Demo 8.1: Simple GET Request</a:t>
            </a:r>
          </a:p>
        </p:txBody>
      </p:sp>
      <p:pic>
        <p:nvPicPr>
          <p:cNvPr id="14" name="Picture 13">
            <a:extLst>
              <a:ext uri="{FF2B5EF4-FFF2-40B4-BE49-F238E27FC236}">
                <a16:creationId xmlns:a16="http://schemas.microsoft.com/office/drawing/2014/main" id="{7E28B36C-7E10-4A56-221B-6202067385ED}"/>
              </a:ext>
            </a:extLst>
          </p:cNvPr>
          <p:cNvPicPr>
            <a:picLocks noChangeAspect="1"/>
          </p:cNvPicPr>
          <p:nvPr/>
        </p:nvPicPr>
        <p:blipFill>
          <a:blip r:embed="rId3"/>
          <a:stretch>
            <a:fillRect/>
          </a:stretch>
        </p:blipFill>
        <p:spPr>
          <a:xfrm>
            <a:off x="1084085" y="903111"/>
            <a:ext cx="4061077" cy="5784203"/>
          </a:xfrm>
          <a:prstGeom prst="rect">
            <a:avLst/>
          </a:prstGeom>
        </p:spPr>
      </p:pic>
      <p:pic>
        <p:nvPicPr>
          <p:cNvPr id="16" name="Picture 15">
            <a:extLst>
              <a:ext uri="{FF2B5EF4-FFF2-40B4-BE49-F238E27FC236}">
                <a16:creationId xmlns:a16="http://schemas.microsoft.com/office/drawing/2014/main" id="{D02458DE-015B-3A20-099F-647E53667DE2}"/>
              </a:ext>
            </a:extLst>
          </p:cNvPr>
          <p:cNvPicPr>
            <a:picLocks noChangeAspect="1"/>
          </p:cNvPicPr>
          <p:nvPr/>
        </p:nvPicPr>
        <p:blipFill>
          <a:blip r:embed="rId4"/>
          <a:stretch>
            <a:fillRect/>
          </a:stretch>
        </p:blipFill>
        <p:spPr>
          <a:xfrm>
            <a:off x="6615288" y="1019174"/>
            <a:ext cx="4492627" cy="5552075"/>
          </a:xfrm>
          <a:prstGeom prst="rect">
            <a:avLst/>
          </a:prstGeom>
        </p:spPr>
      </p:pic>
    </p:spTree>
    <p:extLst>
      <p:ext uri="{BB962C8B-B14F-4D97-AF65-F5344CB8AC3E}">
        <p14:creationId xmlns:p14="http://schemas.microsoft.com/office/powerpoint/2010/main" val="1356553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DDAE1-16E0-5E36-1177-0F5990DF712C}"/>
              </a:ext>
            </a:extLst>
          </p:cNvPr>
          <p:cNvSpPr>
            <a:spLocks noGrp="1"/>
          </p:cNvSpPr>
          <p:nvPr>
            <p:ph type="title"/>
          </p:nvPr>
        </p:nvSpPr>
        <p:spPr/>
        <p:txBody>
          <a:bodyPr/>
          <a:lstStyle/>
          <a:p>
            <a:pPr algn="ctr"/>
            <a:r>
              <a:rPr lang="en-US" sz="3200"/>
              <a:t> Futures &amp; async/await (Quick Review)</a:t>
            </a:r>
          </a:p>
        </p:txBody>
      </p:sp>
      <p:sp>
        <p:nvSpPr>
          <p:cNvPr id="3" name="Content Placeholder 2">
            <a:extLst>
              <a:ext uri="{FF2B5EF4-FFF2-40B4-BE49-F238E27FC236}">
                <a16:creationId xmlns:a16="http://schemas.microsoft.com/office/drawing/2014/main" id="{F97AD117-6CCB-94C9-C577-E21292D2D67C}"/>
              </a:ext>
            </a:extLst>
          </p:cNvPr>
          <p:cNvSpPr>
            <a:spLocks noGrp="1"/>
          </p:cNvSpPr>
          <p:nvPr>
            <p:ph idx="1"/>
          </p:nvPr>
        </p:nvSpPr>
        <p:spPr>
          <a:xfrm>
            <a:off x="635000" y="1672082"/>
            <a:ext cx="6739265" cy="3204718"/>
          </a:xfrm>
        </p:spPr>
        <p:txBody>
          <a:bodyPr/>
          <a:lstStyle/>
          <a:p>
            <a:pPr marL="0" indent="0">
              <a:buNone/>
            </a:pPr>
            <a:r>
              <a:rPr lang="en-US" sz="2000"/>
              <a:t>Key Concepts</a:t>
            </a:r>
          </a:p>
          <a:p>
            <a:r>
              <a:rPr lang="en-US" sz="2000" b="0"/>
              <a:t>Future&lt;T&gt; represents a value that will be available later</a:t>
            </a:r>
          </a:p>
          <a:p>
            <a:r>
              <a:rPr lang="en-US" sz="2000" b="0"/>
              <a:t>async marks a function as asynchronous</a:t>
            </a:r>
          </a:p>
          <a:p>
            <a:r>
              <a:rPr lang="en-US" sz="2000" b="0"/>
              <a:t>await pauses execution until a Future completes</a:t>
            </a:r>
          </a:p>
          <a:p>
            <a:r>
              <a:rPr lang="en-US" sz="2000" b="0"/>
              <a:t>Exam: </a:t>
            </a:r>
          </a:p>
          <a:p>
            <a:endParaRPr lang="en-US" sz="2000" b="0"/>
          </a:p>
          <a:p>
            <a:pPr marL="0" indent="0">
              <a:buNone/>
            </a:pPr>
            <a:endParaRPr lang="en-US" sz="2000"/>
          </a:p>
          <a:p>
            <a:pPr marL="0" indent="0">
              <a:buNone/>
            </a:pPr>
            <a:endParaRPr lang="en-US" b="0"/>
          </a:p>
        </p:txBody>
      </p:sp>
      <p:pic>
        <p:nvPicPr>
          <p:cNvPr id="11" name="Picture 10">
            <a:extLst>
              <a:ext uri="{FF2B5EF4-FFF2-40B4-BE49-F238E27FC236}">
                <a16:creationId xmlns:a16="http://schemas.microsoft.com/office/drawing/2014/main" id="{D0C4C339-9939-2E60-2FB8-A3201992F039}"/>
              </a:ext>
            </a:extLst>
          </p:cNvPr>
          <p:cNvPicPr>
            <a:picLocks noChangeAspect="1"/>
          </p:cNvPicPr>
          <p:nvPr/>
        </p:nvPicPr>
        <p:blipFill>
          <a:blip r:embed="rId3"/>
          <a:stretch>
            <a:fillRect/>
          </a:stretch>
        </p:blipFill>
        <p:spPr>
          <a:xfrm>
            <a:off x="7374265" y="2309632"/>
            <a:ext cx="4697460" cy="2707564"/>
          </a:xfrm>
          <a:prstGeom prst="rect">
            <a:avLst/>
          </a:prstGeom>
          <a:ln>
            <a:solidFill>
              <a:schemeClr val="tx1"/>
            </a:solidFill>
          </a:ln>
        </p:spPr>
      </p:pic>
      <p:pic>
        <p:nvPicPr>
          <p:cNvPr id="12" name="Picture 11">
            <a:extLst>
              <a:ext uri="{FF2B5EF4-FFF2-40B4-BE49-F238E27FC236}">
                <a16:creationId xmlns:a16="http://schemas.microsoft.com/office/drawing/2014/main" id="{271263B3-7FE8-0C4E-BFD8-E490002F5ED1}"/>
              </a:ext>
            </a:extLst>
          </p:cNvPr>
          <p:cNvPicPr>
            <a:picLocks noChangeAspect="1"/>
          </p:cNvPicPr>
          <p:nvPr/>
        </p:nvPicPr>
        <p:blipFill>
          <a:blip r:embed="rId4"/>
          <a:stretch>
            <a:fillRect/>
          </a:stretch>
        </p:blipFill>
        <p:spPr>
          <a:xfrm>
            <a:off x="2109814" y="3663414"/>
            <a:ext cx="4900585" cy="1370104"/>
          </a:xfrm>
          <a:prstGeom prst="rect">
            <a:avLst/>
          </a:prstGeom>
          <a:ln>
            <a:solidFill>
              <a:schemeClr val="tx1"/>
            </a:solidFill>
          </a:ln>
        </p:spPr>
      </p:pic>
      <p:sp>
        <p:nvSpPr>
          <p:cNvPr id="14" name="TextBox 13">
            <a:extLst>
              <a:ext uri="{FF2B5EF4-FFF2-40B4-BE49-F238E27FC236}">
                <a16:creationId xmlns:a16="http://schemas.microsoft.com/office/drawing/2014/main" id="{7F3EBA4B-C557-090D-2A41-2E05F7FBDC41}"/>
              </a:ext>
            </a:extLst>
          </p:cNvPr>
          <p:cNvSpPr txBox="1"/>
          <p:nvPr/>
        </p:nvSpPr>
        <p:spPr>
          <a:xfrm>
            <a:off x="635000" y="5190236"/>
            <a:ext cx="6454422" cy="1323439"/>
          </a:xfrm>
          <a:prstGeom prst="rect">
            <a:avLst/>
          </a:prstGeom>
          <a:noFill/>
        </p:spPr>
        <p:txBody>
          <a:bodyPr wrap="square">
            <a:spAutoFit/>
          </a:bodyPr>
          <a:lstStyle/>
          <a:p>
            <a:pPr marL="0" indent="0">
              <a:buNone/>
            </a:pPr>
            <a:r>
              <a:rPr lang="en-US" sz="2000" b="1">
                <a:latin typeface="Times New Roman" panose="02020603050405020304" pitchFamily="18" charset="0"/>
                <a:cs typeface="Times New Roman" panose="02020603050405020304" pitchFamily="18" charset="0"/>
              </a:rPr>
              <a:t>Why async matters for Networking?</a:t>
            </a:r>
          </a:p>
          <a:p>
            <a:pPr marL="285750" indent="-285750">
              <a:buFont typeface="Arial" panose="020B0604020202020204" pitchFamily="34" charset="0"/>
              <a:buChar char="•"/>
            </a:pPr>
            <a:r>
              <a:rPr lang="en-US" sz="2000" b="0">
                <a:latin typeface="Times New Roman" panose="02020603050405020304" pitchFamily="18" charset="0"/>
                <a:cs typeface="Times New Roman" panose="02020603050405020304" pitchFamily="18" charset="0"/>
              </a:rPr>
              <a:t>Prevents UI freezing while waiting for network responses</a:t>
            </a:r>
          </a:p>
          <a:p>
            <a:pPr marL="285750" indent="-285750">
              <a:buFont typeface="Arial" panose="020B0604020202020204" pitchFamily="34" charset="0"/>
              <a:buChar char="•"/>
            </a:pPr>
            <a:r>
              <a:rPr lang="en-US" sz="2000" b="0">
                <a:latin typeface="Times New Roman" panose="02020603050405020304" pitchFamily="18" charset="0"/>
                <a:cs typeface="Times New Roman" panose="02020603050405020304" pitchFamily="18" charset="0"/>
              </a:rPr>
              <a:t>Lets Flutter handle long-running tasks efficiently</a:t>
            </a:r>
          </a:p>
          <a:p>
            <a:pPr marL="285750" indent="-285750">
              <a:buFont typeface="Arial" panose="020B0604020202020204" pitchFamily="34" charset="0"/>
              <a:buChar char="•"/>
            </a:pPr>
            <a:r>
              <a:rPr lang="en-US" sz="2000" b="0">
                <a:latin typeface="Times New Roman" panose="02020603050405020304" pitchFamily="18" charset="0"/>
                <a:cs typeface="Times New Roman" panose="02020603050405020304" pitchFamily="18" charset="0"/>
              </a:rPr>
              <a:t>Required for all HTTP operations</a:t>
            </a:r>
          </a:p>
        </p:txBody>
      </p:sp>
    </p:spTree>
    <p:extLst>
      <p:ext uri="{BB962C8B-B14F-4D97-AF65-F5344CB8AC3E}">
        <p14:creationId xmlns:p14="http://schemas.microsoft.com/office/powerpoint/2010/main" val="3774190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9822D-57C8-17C7-48C4-DB31DA7EB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8F89A-9CCB-8B7E-3AA6-4619C2AD2B94}"/>
              </a:ext>
            </a:extLst>
          </p:cNvPr>
          <p:cNvSpPr>
            <a:spLocks noGrp="1"/>
          </p:cNvSpPr>
          <p:nvPr>
            <p:ph type="title"/>
          </p:nvPr>
        </p:nvSpPr>
        <p:spPr/>
        <p:txBody>
          <a:bodyPr/>
          <a:lstStyle/>
          <a:p>
            <a:pPr algn="ctr"/>
            <a:r>
              <a:rPr lang="en-US" sz="3200"/>
              <a:t>FutureBuilder: Binding Data to UI</a:t>
            </a:r>
            <a:endParaRPr sz="3200"/>
          </a:p>
        </p:txBody>
      </p:sp>
      <p:sp>
        <p:nvSpPr>
          <p:cNvPr id="3" name="Content Placeholder 2">
            <a:extLst>
              <a:ext uri="{FF2B5EF4-FFF2-40B4-BE49-F238E27FC236}">
                <a16:creationId xmlns:a16="http://schemas.microsoft.com/office/drawing/2014/main" id="{B94F395B-4010-0F0F-99FC-5F0217B0B36A}"/>
              </a:ext>
            </a:extLst>
          </p:cNvPr>
          <p:cNvSpPr>
            <a:spLocks noGrp="1"/>
          </p:cNvSpPr>
          <p:nvPr>
            <p:ph idx="1"/>
          </p:nvPr>
        </p:nvSpPr>
        <p:spPr>
          <a:xfrm>
            <a:off x="555171" y="1696744"/>
            <a:ext cx="5202162" cy="4842404"/>
          </a:xfrm>
        </p:spPr>
        <p:txBody>
          <a:bodyPr/>
          <a:lstStyle/>
          <a:p>
            <a:pPr marL="0" indent="0">
              <a:buNone/>
            </a:pPr>
            <a:r>
              <a:rPr lang="en-US" sz="2000"/>
              <a:t>Why FutureBuilder?</a:t>
            </a:r>
          </a:p>
          <a:p>
            <a:r>
              <a:rPr lang="en-US" sz="2000" b="0"/>
              <a:t>Integrates async calls into the widget tree</a:t>
            </a:r>
          </a:p>
          <a:p>
            <a:r>
              <a:rPr lang="en-US" sz="2000" b="0"/>
              <a:t>Handles loading, success, and error states in one place</a:t>
            </a:r>
          </a:p>
          <a:p>
            <a:pPr marL="0" indent="0">
              <a:buNone/>
            </a:pPr>
            <a:r>
              <a:rPr lang="en-US" sz="2000"/>
              <a:t>This FutureBuilder listens to fetchPosts() and rebuilds the UI based on the Future state:</a:t>
            </a:r>
          </a:p>
          <a:p>
            <a:r>
              <a:rPr lang="en-US" sz="2000" b="0"/>
              <a:t>waiting: show a loading spinner</a:t>
            </a:r>
          </a:p>
          <a:p>
            <a:r>
              <a:rPr lang="en-US" sz="2000" b="0"/>
              <a:t>error: display the error message</a:t>
            </a:r>
          </a:p>
          <a:p>
            <a:r>
              <a:rPr lang="en-US" sz="2000" b="0"/>
              <a:t>no data: show a “No data” message</a:t>
            </a:r>
          </a:p>
          <a:p>
            <a:r>
              <a:rPr lang="en-US" sz="2000" b="0"/>
              <a:t>data loaded: build a ListView of post titles</a:t>
            </a:r>
          </a:p>
        </p:txBody>
      </p:sp>
      <p:pic>
        <p:nvPicPr>
          <p:cNvPr id="6" name="Picture 5">
            <a:extLst>
              <a:ext uri="{FF2B5EF4-FFF2-40B4-BE49-F238E27FC236}">
                <a16:creationId xmlns:a16="http://schemas.microsoft.com/office/drawing/2014/main" id="{4620D8D6-6909-5A18-4AF1-AA02198ECC92}"/>
              </a:ext>
            </a:extLst>
          </p:cNvPr>
          <p:cNvPicPr>
            <a:picLocks noChangeAspect="1"/>
          </p:cNvPicPr>
          <p:nvPr/>
        </p:nvPicPr>
        <p:blipFill>
          <a:blip r:embed="rId3"/>
          <a:stretch>
            <a:fillRect/>
          </a:stretch>
        </p:blipFill>
        <p:spPr>
          <a:xfrm>
            <a:off x="6096000" y="1586148"/>
            <a:ext cx="5675490" cy="4953000"/>
          </a:xfrm>
          <a:prstGeom prst="rect">
            <a:avLst/>
          </a:prstGeom>
          <a:ln>
            <a:solidFill>
              <a:schemeClr val="tx1"/>
            </a:solidFill>
          </a:ln>
        </p:spPr>
      </p:pic>
    </p:spTree>
    <p:extLst>
      <p:ext uri="{BB962C8B-B14F-4D97-AF65-F5344CB8AC3E}">
        <p14:creationId xmlns:p14="http://schemas.microsoft.com/office/powerpoint/2010/main" val="181589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795D9-A437-44AC-FCC9-94E04CB4A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BE4786-6AC0-ECC0-118C-33FCB1E37BBC}"/>
              </a:ext>
            </a:extLst>
          </p:cNvPr>
          <p:cNvSpPr>
            <a:spLocks noGrp="1"/>
          </p:cNvSpPr>
          <p:nvPr>
            <p:ph type="title"/>
          </p:nvPr>
        </p:nvSpPr>
        <p:spPr/>
        <p:txBody>
          <a:bodyPr/>
          <a:lstStyle/>
          <a:p>
            <a:pPr algn="ctr"/>
            <a:r>
              <a:rPr lang="en-US" sz="3200"/>
              <a:t>Parsing JSON into Dart Models</a:t>
            </a:r>
          </a:p>
        </p:txBody>
      </p:sp>
      <p:sp>
        <p:nvSpPr>
          <p:cNvPr id="3" name="Content Placeholder 2">
            <a:extLst>
              <a:ext uri="{FF2B5EF4-FFF2-40B4-BE49-F238E27FC236}">
                <a16:creationId xmlns:a16="http://schemas.microsoft.com/office/drawing/2014/main" id="{3189E6E7-0C04-750F-C832-87BA4BA9B556}"/>
              </a:ext>
            </a:extLst>
          </p:cNvPr>
          <p:cNvSpPr>
            <a:spLocks noGrp="1"/>
          </p:cNvSpPr>
          <p:nvPr>
            <p:ph idx="1"/>
          </p:nvPr>
        </p:nvSpPr>
        <p:spPr>
          <a:xfrm>
            <a:off x="914602" y="1687817"/>
            <a:ext cx="4639531" cy="4404959"/>
          </a:xfrm>
        </p:spPr>
        <p:txBody>
          <a:bodyPr/>
          <a:lstStyle/>
          <a:p>
            <a:r>
              <a:rPr lang="en-US"/>
              <a:t>Why use model classes?</a:t>
            </a:r>
          </a:p>
          <a:p>
            <a:pPr lvl="1"/>
            <a:r>
              <a:rPr lang="en-US"/>
              <a:t>Type safety</a:t>
            </a:r>
          </a:p>
          <a:p>
            <a:pPr lvl="1"/>
            <a:r>
              <a:rPr lang="en-US"/>
              <a:t>Clear structure</a:t>
            </a:r>
          </a:p>
          <a:p>
            <a:pPr lvl="1"/>
            <a:r>
              <a:rPr lang="en-US"/>
              <a:t>Easier to maintain and reuse</a:t>
            </a:r>
          </a:p>
        </p:txBody>
      </p:sp>
      <p:sp>
        <p:nvSpPr>
          <p:cNvPr id="6" name="TextBox 5">
            <a:extLst>
              <a:ext uri="{FF2B5EF4-FFF2-40B4-BE49-F238E27FC236}">
                <a16:creationId xmlns:a16="http://schemas.microsoft.com/office/drawing/2014/main" id="{5EBA99B5-7FCB-5F37-5ACA-B87ED6979A7C}"/>
              </a:ext>
            </a:extLst>
          </p:cNvPr>
          <p:cNvSpPr txBox="1"/>
          <p:nvPr/>
        </p:nvSpPr>
        <p:spPr>
          <a:xfrm>
            <a:off x="6536267" y="1599790"/>
            <a:ext cx="2223911" cy="369332"/>
          </a:xfrm>
          <a:prstGeom prst="rect">
            <a:avLst/>
          </a:prstGeom>
          <a:noFill/>
        </p:spPr>
        <p:txBody>
          <a:bodyPr wrap="square">
            <a:spAutoFit/>
          </a:bodyPr>
          <a:lstStyle/>
          <a:p>
            <a:r>
              <a:rPr lang="en-US"/>
              <a:t>Example </a:t>
            </a:r>
            <a:r>
              <a:rPr lang="en-US" b="1">
                <a:latin typeface="Times New Roman" panose="02020603050405020304" pitchFamily="18" charset="0"/>
                <a:cs typeface="Times New Roman" panose="02020603050405020304" pitchFamily="18" charset="0"/>
              </a:rPr>
              <a:t>model</a:t>
            </a:r>
            <a:r>
              <a:rPr lang="en-US"/>
              <a:t>:</a:t>
            </a:r>
          </a:p>
        </p:txBody>
      </p:sp>
      <p:pic>
        <p:nvPicPr>
          <p:cNvPr id="8" name="Picture 7">
            <a:extLst>
              <a:ext uri="{FF2B5EF4-FFF2-40B4-BE49-F238E27FC236}">
                <a16:creationId xmlns:a16="http://schemas.microsoft.com/office/drawing/2014/main" id="{2374A6D4-2E1C-A20E-B8C1-77D4EBAD33C9}"/>
              </a:ext>
            </a:extLst>
          </p:cNvPr>
          <p:cNvPicPr>
            <a:picLocks noChangeAspect="1"/>
          </p:cNvPicPr>
          <p:nvPr/>
        </p:nvPicPr>
        <p:blipFill>
          <a:blip r:embed="rId3"/>
          <a:stretch>
            <a:fillRect/>
          </a:stretch>
        </p:blipFill>
        <p:spPr>
          <a:xfrm>
            <a:off x="6637869" y="1969122"/>
            <a:ext cx="4075287" cy="4574939"/>
          </a:xfrm>
          <a:prstGeom prst="rect">
            <a:avLst/>
          </a:prstGeom>
          <a:ln>
            <a:solidFill>
              <a:schemeClr val="tx1"/>
            </a:solidFill>
          </a:ln>
        </p:spPr>
      </p:pic>
    </p:spTree>
    <p:extLst>
      <p:ext uri="{BB962C8B-B14F-4D97-AF65-F5344CB8AC3E}">
        <p14:creationId xmlns:p14="http://schemas.microsoft.com/office/powerpoint/2010/main" val="147530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2150" y="327379"/>
            <a:ext cx="8229600" cy="818503"/>
          </a:xfrm>
        </p:spPr>
        <p:txBody>
          <a:bodyPr/>
          <a:lstStyle/>
          <a:p>
            <a:pPr algn="ctr">
              <a:defRPr sz="1800"/>
            </a:pPr>
            <a:r>
              <a:rPr lang="en-US" sz="3200"/>
              <a:t>Demo 8.2 – JsonModelScreen</a:t>
            </a:r>
          </a:p>
        </p:txBody>
      </p:sp>
      <p:sp>
        <p:nvSpPr>
          <p:cNvPr id="7" name="Content Placeholder 6">
            <a:extLst>
              <a:ext uri="{FF2B5EF4-FFF2-40B4-BE49-F238E27FC236}">
                <a16:creationId xmlns:a16="http://schemas.microsoft.com/office/drawing/2014/main" id="{2026347A-9AF8-3421-D548-0E969E30AE12}"/>
              </a:ext>
            </a:extLst>
          </p:cNvPr>
          <p:cNvSpPr>
            <a:spLocks noGrp="1"/>
          </p:cNvSpPr>
          <p:nvPr>
            <p:ph idx="1"/>
          </p:nvPr>
        </p:nvSpPr>
        <p:spPr>
          <a:xfrm>
            <a:off x="609869" y="1600731"/>
            <a:ext cx="5565153" cy="4525699"/>
          </a:xfrm>
        </p:spPr>
        <p:txBody>
          <a:bodyPr/>
          <a:lstStyle/>
          <a:p>
            <a:pPr marL="0" indent="0">
              <a:buNone/>
            </a:pPr>
            <a:r>
              <a:rPr lang="en-US"/>
              <a:t>Objective</a:t>
            </a:r>
          </a:p>
          <a:p>
            <a:r>
              <a:rPr lang="en-US" b="0"/>
              <a:t>Convert JSON into a Dart model</a:t>
            </a:r>
          </a:p>
          <a:p>
            <a:r>
              <a:rPr lang="en-US" b="0"/>
              <a:t>Display list items and navigate to a Detail Screen with full data</a:t>
            </a:r>
          </a:p>
          <a:p>
            <a:pPr marL="0" indent="0">
              <a:buNone/>
            </a:pPr>
            <a:r>
              <a:rPr lang="en-US"/>
              <a:t>Steps</a:t>
            </a:r>
          </a:p>
          <a:p>
            <a:r>
              <a:rPr lang="en-US" b="0"/>
              <a:t>Create a model with fromJson</a:t>
            </a:r>
          </a:p>
          <a:p>
            <a:r>
              <a:rPr lang="en-US" b="0"/>
              <a:t>Fetch and decode JSON</a:t>
            </a:r>
          </a:p>
          <a:p>
            <a:r>
              <a:rPr lang="en-US" b="0"/>
              <a:t>Show list of items</a:t>
            </a:r>
          </a:p>
          <a:p>
            <a:r>
              <a:rPr lang="en-US" b="0"/>
              <a:t>Tap an item → open Detail Screen</a:t>
            </a:r>
          </a:p>
          <a:p>
            <a:r>
              <a:rPr lang="en-US" b="0"/>
              <a:t>Display selected item’s fields</a:t>
            </a:r>
          </a:p>
          <a:p>
            <a:endParaRPr lang="en-US"/>
          </a:p>
        </p:txBody>
      </p:sp>
      <p:pic>
        <p:nvPicPr>
          <p:cNvPr id="9" name="Picture 8">
            <a:extLst>
              <a:ext uri="{FF2B5EF4-FFF2-40B4-BE49-F238E27FC236}">
                <a16:creationId xmlns:a16="http://schemas.microsoft.com/office/drawing/2014/main" id="{05C724F1-9763-1020-2B86-760C57EAF5F4}"/>
              </a:ext>
            </a:extLst>
          </p:cNvPr>
          <p:cNvPicPr>
            <a:picLocks noChangeAspect="1"/>
          </p:cNvPicPr>
          <p:nvPr/>
        </p:nvPicPr>
        <p:blipFill>
          <a:blip r:embed="rId3"/>
          <a:stretch>
            <a:fillRect/>
          </a:stretch>
        </p:blipFill>
        <p:spPr>
          <a:xfrm>
            <a:off x="7759876" y="1600731"/>
            <a:ext cx="3427413" cy="501493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a:t>Converting JSON List to List&lt;Model&gt;</a:t>
            </a:r>
            <a:endParaRPr sz="3200"/>
          </a:p>
        </p:txBody>
      </p:sp>
      <p:sp>
        <p:nvSpPr>
          <p:cNvPr id="3" name="Content Placeholder 2"/>
          <p:cNvSpPr>
            <a:spLocks noGrp="1"/>
          </p:cNvSpPr>
          <p:nvPr>
            <p:ph idx="1"/>
          </p:nvPr>
        </p:nvSpPr>
        <p:spPr>
          <a:xfrm>
            <a:off x="392087" y="1378514"/>
            <a:ext cx="10972799" cy="4771915"/>
          </a:xfrm>
        </p:spPr>
        <p:txBody>
          <a:bodyPr/>
          <a:lstStyle/>
          <a:p>
            <a:r>
              <a:rPr lang="en-US" sz="2000"/>
              <a:t>Key Idea</a:t>
            </a:r>
          </a:p>
          <a:p>
            <a:pPr lvl="1"/>
            <a:r>
              <a:rPr lang="en-US"/>
              <a:t>Convert a JSON array (list of objects) into a typed List&lt;Model&gt; using decoding + mapping. </a:t>
            </a:r>
          </a:p>
          <a:p>
            <a:r>
              <a:rPr lang="en-US" sz="2000"/>
              <a:t>JSON → Dart Conversion</a:t>
            </a:r>
          </a:p>
          <a:p>
            <a:pPr marL="456712" lvl="1" indent="0">
              <a:buNone/>
            </a:pPr>
            <a:endParaRPr lang="en-US" sz="1800"/>
          </a:p>
          <a:p>
            <a:pPr marL="456712" lvl="1" indent="0">
              <a:buNone/>
            </a:pPr>
            <a:endParaRPr lang="en-US" sz="1800"/>
          </a:p>
          <a:p>
            <a:pPr marL="456712" lvl="1" indent="0">
              <a:buNone/>
            </a:pPr>
            <a:endParaRPr lang="en-US" sz="1800"/>
          </a:p>
          <a:p>
            <a:pPr marL="456712" lvl="1" indent="0">
              <a:buNone/>
            </a:pPr>
            <a:r>
              <a:rPr lang="en-US" b="1"/>
              <a:t>Concepts</a:t>
            </a:r>
          </a:p>
          <a:p>
            <a:pPr marL="1142501" lvl="2" indent="-285750"/>
            <a:r>
              <a:rPr lang="en-US"/>
              <a:t>JSON list = array of multiple objects</a:t>
            </a:r>
          </a:p>
          <a:p>
            <a:pPr marL="1142501" lvl="2" indent="-285750"/>
            <a:r>
              <a:rPr lang="en-US"/>
              <a:t>jsonDecode() → returns List&lt;dynamic&gt;</a:t>
            </a:r>
          </a:p>
          <a:p>
            <a:pPr marL="1142501" lvl="2" indent="-285750"/>
            <a:r>
              <a:rPr lang="en-US"/>
              <a:t>.map() → converts each JSON item to a Model</a:t>
            </a:r>
          </a:p>
          <a:p>
            <a:pPr marL="1142501" lvl="2" indent="-285750"/>
            <a:r>
              <a:rPr lang="en-US"/>
              <a:t>.toList() → final typed list (List&lt;Post&gt;)</a:t>
            </a:r>
          </a:p>
        </p:txBody>
      </p:sp>
      <p:pic>
        <p:nvPicPr>
          <p:cNvPr id="6" name="Picture 5">
            <a:extLst>
              <a:ext uri="{FF2B5EF4-FFF2-40B4-BE49-F238E27FC236}">
                <a16:creationId xmlns:a16="http://schemas.microsoft.com/office/drawing/2014/main" id="{EAD20122-79F6-DD6B-9F91-5FB96BF4ACBA}"/>
              </a:ext>
            </a:extLst>
          </p:cNvPr>
          <p:cNvPicPr>
            <a:picLocks noChangeAspect="1"/>
          </p:cNvPicPr>
          <p:nvPr/>
        </p:nvPicPr>
        <p:blipFill>
          <a:blip r:embed="rId3"/>
          <a:stretch>
            <a:fillRect/>
          </a:stretch>
        </p:blipFill>
        <p:spPr>
          <a:xfrm>
            <a:off x="5253389" y="2453527"/>
            <a:ext cx="5591175" cy="1685925"/>
          </a:xfrm>
          <a:prstGeom prst="rect">
            <a:avLst/>
          </a:prstGeom>
          <a:ln>
            <a:solidFill>
              <a:schemeClr val="tx1"/>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5E5BF-974F-D2C9-0D1A-CCEEC74A5940}"/>
              </a:ext>
            </a:extLst>
          </p:cNvPr>
          <p:cNvSpPr>
            <a:spLocks noGrp="1"/>
          </p:cNvSpPr>
          <p:nvPr>
            <p:ph type="title"/>
          </p:nvPr>
        </p:nvSpPr>
        <p:spPr/>
        <p:txBody>
          <a:bodyPr/>
          <a:lstStyle/>
          <a:p>
            <a:pPr algn="ctr"/>
            <a:r>
              <a:rPr lang="en-US" sz="3200"/>
              <a:t>Demo 8.3: Sending Data via POST</a:t>
            </a:r>
          </a:p>
        </p:txBody>
      </p:sp>
      <p:sp>
        <p:nvSpPr>
          <p:cNvPr id="3" name="Content Placeholder 2">
            <a:extLst>
              <a:ext uri="{FF2B5EF4-FFF2-40B4-BE49-F238E27FC236}">
                <a16:creationId xmlns:a16="http://schemas.microsoft.com/office/drawing/2014/main" id="{CDEC2F4A-FBD3-1F1A-A413-2560B22F3349}"/>
              </a:ext>
            </a:extLst>
          </p:cNvPr>
          <p:cNvSpPr>
            <a:spLocks noGrp="1"/>
          </p:cNvSpPr>
          <p:nvPr>
            <p:ph idx="1"/>
          </p:nvPr>
        </p:nvSpPr>
        <p:spPr>
          <a:xfrm>
            <a:off x="609870" y="1600731"/>
            <a:ext cx="5682074" cy="4867802"/>
          </a:xfrm>
        </p:spPr>
        <p:txBody>
          <a:bodyPr/>
          <a:lstStyle/>
          <a:p>
            <a:pPr marL="0" indent="0">
              <a:buNone/>
            </a:pPr>
            <a:r>
              <a:rPr lang="en-US" sz="2000"/>
              <a:t>Objectives</a:t>
            </a:r>
          </a:p>
          <a:p>
            <a:r>
              <a:rPr lang="en-US" sz="2000" b="0"/>
              <a:t>Send data to an API using POST</a:t>
            </a:r>
          </a:p>
          <a:p>
            <a:r>
              <a:rPr lang="en-US" sz="2000" b="0"/>
              <a:t>Show loading, success, and error states</a:t>
            </a:r>
          </a:p>
          <a:p>
            <a:r>
              <a:rPr lang="en-US" sz="2000" b="0"/>
              <a:t>Allow user to retry on failure</a:t>
            </a:r>
          </a:p>
          <a:p>
            <a:pPr marL="0" indent="0">
              <a:buNone/>
            </a:pPr>
            <a:r>
              <a:rPr lang="en-US" sz="2000"/>
              <a:t>Steps</a:t>
            </a:r>
          </a:p>
          <a:p>
            <a:pPr marL="457200" indent="-457200">
              <a:buFont typeface="+mj-lt"/>
              <a:buAutoNum type="arabicPeriod"/>
            </a:pPr>
            <a:r>
              <a:rPr lang="en-US" sz="2000" b="0"/>
              <a:t>Build a simple input form</a:t>
            </a:r>
          </a:p>
          <a:p>
            <a:pPr marL="457200" indent="-457200">
              <a:buFont typeface="+mj-lt"/>
              <a:buAutoNum type="arabicPeriod"/>
            </a:pPr>
            <a:r>
              <a:rPr lang="en-US" sz="2000" b="0"/>
              <a:t>Send POST request (http.post)</a:t>
            </a:r>
          </a:p>
          <a:p>
            <a:pPr marL="457200" indent="-457200">
              <a:buFont typeface="+mj-lt"/>
              <a:buAutoNum type="arabicPeriod"/>
            </a:pPr>
            <a:r>
              <a:rPr lang="en-US" sz="2000" b="0"/>
              <a:t>Encode JSON body</a:t>
            </a:r>
          </a:p>
          <a:p>
            <a:pPr marL="457200" indent="-457200">
              <a:buFont typeface="+mj-lt"/>
              <a:buAutoNum type="arabicPeriod"/>
            </a:pPr>
            <a:r>
              <a:rPr lang="en-US" sz="2000" b="0"/>
              <a:t>Show loading indicator</a:t>
            </a:r>
          </a:p>
          <a:p>
            <a:pPr marL="457200" indent="-457200">
              <a:buFont typeface="+mj-lt"/>
              <a:buAutoNum type="arabicPeriod"/>
            </a:pPr>
            <a:r>
              <a:rPr lang="en-US" sz="2000" b="0"/>
              <a:t>Handle error → show message + Retry button</a:t>
            </a:r>
          </a:p>
          <a:p>
            <a:pPr marL="457200" indent="-457200">
              <a:buFont typeface="+mj-lt"/>
              <a:buAutoNum type="arabicPeriod"/>
            </a:pPr>
            <a:r>
              <a:rPr lang="en-US" sz="2000" b="0"/>
              <a:t>Display success response</a:t>
            </a:r>
            <a:endParaRPr lang="en-US" b="0"/>
          </a:p>
        </p:txBody>
      </p:sp>
      <p:pic>
        <p:nvPicPr>
          <p:cNvPr id="6" name="Picture 5">
            <a:extLst>
              <a:ext uri="{FF2B5EF4-FFF2-40B4-BE49-F238E27FC236}">
                <a16:creationId xmlns:a16="http://schemas.microsoft.com/office/drawing/2014/main" id="{DB473154-B718-D101-73CB-0B4F39276898}"/>
              </a:ext>
            </a:extLst>
          </p:cNvPr>
          <p:cNvPicPr>
            <a:picLocks noChangeAspect="1"/>
          </p:cNvPicPr>
          <p:nvPr/>
        </p:nvPicPr>
        <p:blipFill>
          <a:blip r:embed="rId3"/>
          <a:stretch>
            <a:fillRect/>
          </a:stretch>
        </p:blipFill>
        <p:spPr>
          <a:xfrm>
            <a:off x="7709253" y="1600731"/>
            <a:ext cx="3466747" cy="4848653"/>
          </a:xfrm>
          <a:prstGeom prst="rect">
            <a:avLst/>
          </a:prstGeom>
        </p:spPr>
      </p:pic>
    </p:spTree>
    <p:extLst>
      <p:ext uri="{BB962C8B-B14F-4D97-AF65-F5344CB8AC3E}">
        <p14:creationId xmlns:p14="http://schemas.microsoft.com/office/powerpoint/2010/main" val="1928054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a:t>Error Handling &amp; Retry</a:t>
            </a:r>
            <a:endParaRPr sz="3200"/>
          </a:p>
        </p:txBody>
      </p:sp>
      <p:sp>
        <p:nvSpPr>
          <p:cNvPr id="3" name="Content Placeholder 2"/>
          <p:cNvSpPr>
            <a:spLocks noGrp="1"/>
          </p:cNvSpPr>
          <p:nvPr>
            <p:ph idx="1"/>
          </p:nvPr>
        </p:nvSpPr>
        <p:spPr>
          <a:xfrm>
            <a:off x="1107722" y="1609727"/>
            <a:ext cx="5195107" cy="4881384"/>
          </a:xfrm>
        </p:spPr>
        <p:txBody>
          <a:bodyPr/>
          <a:lstStyle/>
          <a:p>
            <a:r>
              <a:rPr lang="en-US" sz="2400"/>
              <a:t>Common failure cases</a:t>
            </a:r>
          </a:p>
          <a:p>
            <a:pPr lvl="1"/>
            <a:r>
              <a:rPr lang="en-US" sz="2200" b="0"/>
              <a:t>No internet connection</a:t>
            </a:r>
          </a:p>
          <a:p>
            <a:pPr lvl="1"/>
            <a:r>
              <a:rPr lang="en-US" sz="2200" b="0"/>
              <a:t>Server error (500)</a:t>
            </a:r>
          </a:p>
          <a:p>
            <a:pPr lvl="1"/>
            <a:r>
              <a:rPr lang="en-US" sz="2200" b="0"/>
              <a:t>Invalid JSON</a:t>
            </a:r>
          </a:p>
          <a:p>
            <a:pPr lvl="1"/>
            <a:r>
              <a:rPr lang="en-US" sz="2200" b="0"/>
              <a:t>Timeout</a:t>
            </a:r>
          </a:p>
          <a:p>
            <a:r>
              <a:rPr lang="en-US" sz="2400"/>
              <a:t>Basic strategies</a:t>
            </a:r>
          </a:p>
          <a:p>
            <a:pPr lvl="1"/>
            <a:r>
              <a:rPr lang="en-US" sz="2200" b="0"/>
              <a:t>Throw exceptions in fetch functions</a:t>
            </a:r>
          </a:p>
          <a:p>
            <a:pPr lvl="1"/>
            <a:r>
              <a:rPr lang="en-US" sz="2200" b="0"/>
              <a:t>Show friendly error messages in UI</a:t>
            </a:r>
          </a:p>
          <a:p>
            <a:pPr lvl="1"/>
            <a:r>
              <a:rPr lang="en-US" sz="2200" b="0"/>
              <a:t>Offer a “Retry” button</a:t>
            </a:r>
            <a:endParaRPr lang="en-US" b="0"/>
          </a:p>
        </p:txBody>
      </p:sp>
      <p:pic>
        <p:nvPicPr>
          <p:cNvPr id="5" name="Picture 4">
            <a:extLst>
              <a:ext uri="{FF2B5EF4-FFF2-40B4-BE49-F238E27FC236}">
                <a16:creationId xmlns:a16="http://schemas.microsoft.com/office/drawing/2014/main" id="{E20DEBDD-5115-594B-BF3B-7438D9F42630}"/>
              </a:ext>
            </a:extLst>
          </p:cNvPr>
          <p:cNvPicPr>
            <a:picLocks noChangeAspect="1"/>
          </p:cNvPicPr>
          <p:nvPr/>
        </p:nvPicPr>
        <p:blipFill>
          <a:blip r:embed="rId3"/>
          <a:stretch>
            <a:fillRect/>
          </a:stretch>
        </p:blipFill>
        <p:spPr>
          <a:xfrm>
            <a:off x="6626225" y="2166057"/>
            <a:ext cx="4629150" cy="3971925"/>
          </a:xfrm>
          <a:prstGeom prst="rect">
            <a:avLst/>
          </a:prstGeom>
          <a:ln>
            <a:solidFill>
              <a:schemeClr val="tx1"/>
            </a:solidFill>
          </a:ln>
        </p:spPr>
      </p:pic>
      <p:sp>
        <p:nvSpPr>
          <p:cNvPr id="7" name="TextBox 6">
            <a:extLst>
              <a:ext uri="{FF2B5EF4-FFF2-40B4-BE49-F238E27FC236}">
                <a16:creationId xmlns:a16="http://schemas.microsoft.com/office/drawing/2014/main" id="{C9EBA5EC-9216-0002-CBDF-406A25AEBEAF}"/>
              </a:ext>
            </a:extLst>
          </p:cNvPr>
          <p:cNvSpPr txBox="1"/>
          <p:nvPr/>
        </p:nvSpPr>
        <p:spPr>
          <a:xfrm>
            <a:off x="6626225" y="1711328"/>
            <a:ext cx="4629150" cy="369332"/>
          </a:xfrm>
          <a:prstGeom prst="rect">
            <a:avLst/>
          </a:prstGeom>
          <a:noFill/>
        </p:spPr>
        <p:txBody>
          <a:bodyPr wrap="square">
            <a:spAutoFit/>
          </a:bodyPr>
          <a:lstStyle/>
          <a:p>
            <a:r>
              <a:rPr lang="en-US" b="1"/>
              <a:t>Simple UI example: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766A7-0F27-D5E2-F9B1-3AA9C1188E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4A35C8-F41C-6841-3EFE-DADEBFDBB547}"/>
              </a:ext>
            </a:extLst>
          </p:cNvPr>
          <p:cNvSpPr>
            <a:spLocks noGrp="1"/>
          </p:cNvSpPr>
          <p:nvPr>
            <p:ph type="title"/>
          </p:nvPr>
        </p:nvSpPr>
        <p:spPr/>
        <p:txBody>
          <a:bodyPr/>
          <a:lstStyle/>
          <a:p>
            <a:pPr algn="ctr"/>
            <a:r>
              <a:rPr lang="nb-NO" sz="3200"/>
              <a:t>POST Request + Error Handling Pattern</a:t>
            </a:r>
            <a:endParaRPr lang="en-US" sz="3200"/>
          </a:p>
        </p:txBody>
      </p:sp>
      <p:sp>
        <p:nvSpPr>
          <p:cNvPr id="3" name="Content Placeholder 2">
            <a:extLst>
              <a:ext uri="{FF2B5EF4-FFF2-40B4-BE49-F238E27FC236}">
                <a16:creationId xmlns:a16="http://schemas.microsoft.com/office/drawing/2014/main" id="{09A253BB-EFE2-D15F-5FCB-9DECDC5B62CE}"/>
              </a:ext>
            </a:extLst>
          </p:cNvPr>
          <p:cNvSpPr>
            <a:spLocks noGrp="1"/>
          </p:cNvSpPr>
          <p:nvPr>
            <p:ph idx="1"/>
          </p:nvPr>
        </p:nvSpPr>
        <p:spPr>
          <a:xfrm>
            <a:off x="836877" y="1600730"/>
            <a:ext cx="4243123" cy="4749270"/>
          </a:xfrm>
        </p:spPr>
        <p:txBody>
          <a:bodyPr/>
          <a:lstStyle/>
          <a:p>
            <a:pPr marL="0" indent="0">
              <a:buNone/>
              <a:defRPr sz="1800"/>
            </a:pPr>
            <a:r>
              <a:rPr lang="en-US" sz="2000" b="0"/>
              <a:t>Explanation</a:t>
            </a:r>
          </a:p>
          <a:p>
            <a:pPr>
              <a:defRPr sz="1800"/>
            </a:pPr>
            <a:r>
              <a:rPr lang="en-US" sz="2000" b="0"/>
              <a:t>This block handles errors during the POST request.</a:t>
            </a:r>
          </a:p>
          <a:p>
            <a:pPr>
              <a:defRPr sz="1800"/>
            </a:pPr>
            <a:r>
              <a:rPr lang="en-US" sz="2000" b="0"/>
              <a:t>If the FutureBuilder detects an error (snapshot.hasError), it shows:</a:t>
            </a:r>
          </a:p>
          <a:p>
            <a:pPr lvl="1">
              <a:defRPr sz="1800"/>
            </a:pPr>
            <a:r>
              <a:rPr lang="en-US" b="0"/>
              <a:t>The error message</a:t>
            </a:r>
          </a:p>
          <a:p>
            <a:pPr lvl="1">
              <a:defRPr sz="1800"/>
            </a:pPr>
            <a:r>
              <a:rPr lang="en-US" b="0"/>
              <a:t>A Retry button that triggers setState() to run the request again</a:t>
            </a:r>
          </a:p>
          <a:p>
            <a:pPr>
              <a:defRPr sz="1800"/>
            </a:pPr>
            <a:r>
              <a:rPr lang="en-US" sz="2000" b="0"/>
              <a:t>It provides simple error feedback and a way for the user to retry the API call.</a:t>
            </a:r>
          </a:p>
        </p:txBody>
      </p:sp>
      <p:pic>
        <p:nvPicPr>
          <p:cNvPr id="6" name="Picture 5">
            <a:extLst>
              <a:ext uri="{FF2B5EF4-FFF2-40B4-BE49-F238E27FC236}">
                <a16:creationId xmlns:a16="http://schemas.microsoft.com/office/drawing/2014/main" id="{E5997C38-9E22-3D98-D5BB-1C68E9AFDFEB}"/>
              </a:ext>
            </a:extLst>
          </p:cNvPr>
          <p:cNvPicPr>
            <a:picLocks noChangeAspect="1"/>
          </p:cNvPicPr>
          <p:nvPr/>
        </p:nvPicPr>
        <p:blipFill>
          <a:blip r:embed="rId3"/>
          <a:stretch>
            <a:fillRect/>
          </a:stretch>
        </p:blipFill>
        <p:spPr>
          <a:xfrm>
            <a:off x="5557309" y="1846508"/>
            <a:ext cx="6050491" cy="4870557"/>
          </a:xfrm>
          <a:prstGeom prst="rect">
            <a:avLst/>
          </a:prstGeom>
          <a:ln>
            <a:solidFill>
              <a:schemeClr val="tx1"/>
            </a:solidFill>
          </a:ln>
        </p:spPr>
      </p:pic>
      <p:sp>
        <p:nvSpPr>
          <p:cNvPr id="8" name="TextBox 7">
            <a:extLst>
              <a:ext uri="{FF2B5EF4-FFF2-40B4-BE49-F238E27FC236}">
                <a16:creationId xmlns:a16="http://schemas.microsoft.com/office/drawing/2014/main" id="{02CBDF66-6493-545C-5076-840D161EF653}"/>
              </a:ext>
            </a:extLst>
          </p:cNvPr>
          <p:cNvSpPr txBox="1"/>
          <p:nvPr/>
        </p:nvSpPr>
        <p:spPr>
          <a:xfrm>
            <a:off x="5511800" y="1477176"/>
            <a:ext cx="6096000" cy="369332"/>
          </a:xfrm>
          <a:prstGeom prst="rect">
            <a:avLst/>
          </a:prstGeom>
          <a:noFill/>
        </p:spPr>
        <p:txBody>
          <a:bodyPr wrap="square">
            <a:spAutoFit/>
          </a:bodyPr>
          <a:lstStyle/>
          <a:p>
            <a:r>
              <a:rPr lang="en-US" b="1"/>
              <a:t>Basic pattern:</a:t>
            </a:r>
          </a:p>
        </p:txBody>
      </p:sp>
    </p:spTree>
    <p:extLst>
      <p:ext uri="{BB962C8B-B14F-4D97-AF65-F5344CB8AC3E}">
        <p14:creationId xmlns:p14="http://schemas.microsoft.com/office/powerpoint/2010/main" val="3591317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a:t>Loading &amp; Button States (UX)</a:t>
            </a:r>
            <a:endParaRPr sz="3200"/>
          </a:p>
        </p:txBody>
      </p:sp>
      <p:sp>
        <p:nvSpPr>
          <p:cNvPr id="3" name="Content Placeholder 2"/>
          <p:cNvSpPr>
            <a:spLocks noGrp="1"/>
          </p:cNvSpPr>
          <p:nvPr>
            <p:ph idx="1"/>
          </p:nvPr>
        </p:nvSpPr>
        <p:spPr>
          <a:xfrm>
            <a:off x="953687" y="1504774"/>
            <a:ext cx="5142313" cy="4845226"/>
          </a:xfrm>
        </p:spPr>
        <p:txBody>
          <a:bodyPr/>
          <a:lstStyle/>
          <a:p>
            <a:pPr marL="0" indent="0">
              <a:buNone/>
            </a:pPr>
            <a:r>
              <a:rPr lang="en-US"/>
              <a:t>Good UX patterns</a:t>
            </a:r>
          </a:p>
          <a:p>
            <a:r>
              <a:rPr lang="en-US" b="0"/>
              <a:t>Disable submit button while request is in progress</a:t>
            </a:r>
          </a:p>
          <a:p>
            <a:r>
              <a:rPr lang="en-US" b="0"/>
              <a:t>Show a loading indicator (spinner)</a:t>
            </a:r>
          </a:p>
          <a:p>
            <a:r>
              <a:rPr lang="en-US" b="0"/>
              <a:t>Prevent double-submit</a:t>
            </a:r>
          </a:p>
          <a:p>
            <a:pPr marL="0" indent="0">
              <a:buNone/>
            </a:pPr>
            <a:r>
              <a:rPr lang="en-US" sz="2000"/>
              <a:t>Key idea: </a:t>
            </a:r>
          </a:p>
          <a:p>
            <a:r>
              <a:rPr lang="en-US" sz="2000" b="0"/>
              <a:t>Avoid double submit while loading</a:t>
            </a:r>
          </a:p>
          <a:p>
            <a:pPr marL="0" indent="0">
              <a:buNone/>
              <a:defRPr sz="1800"/>
            </a:pPr>
            <a:endParaRPr b="0"/>
          </a:p>
        </p:txBody>
      </p:sp>
      <p:pic>
        <p:nvPicPr>
          <p:cNvPr id="5" name="Picture 4">
            <a:extLst>
              <a:ext uri="{FF2B5EF4-FFF2-40B4-BE49-F238E27FC236}">
                <a16:creationId xmlns:a16="http://schemas.microsoft.com/office/drawing/2014/main" id="{D6F70EEB-3A91-9951-9A7D-A1A62996081D}"/>
              </a:ext>
            </a:extLst>
          </p:cNvPr>
          <p:cNvPicPr>
            <a:picLocks noChangeAspect="1"/>
          </p:cNvPicPr>
          <p:nvPr/>
        </p:nvPicPr>
        <p:blipFill>
          <a:blip r:embed="rId3"/>
          <a:stretch>
            <a:fillRect/>
          </a:stretch>
        </p:blipFill>
        <p:spPr>
          <a:xfrm>
            <a:off x="6121400" y="1914525"/>
            <a:ext cx="5572125" cy="3028950"/>
          </a:xfrm>
          <a:prstGeom prst="rect">
            <a:avLst/>
          </a:prstGeom>
          <a:ln>
            <a:solidFill>
              <a:schemeClr val="tx1"/>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a:t>Demo 8.4 – ApiService</a:t>
            </a:r>
            <a:endParaRPr sz="3200"/>
          </a:p>
        </p:txBody>
      </p:sp>
      <p:sp>
        <p:nvSpPr>
          <p:cNvPr id="3" name="Content Placeholder 2"/>
          <p:cNvSpPr>
            <a:spLocks noGrp="1"/>
          </p:cNvSpPr>
          <p:nvPr>
            <p:ph idx="1"/>
          </p:nvPr>
        </p:nvSpPr>
        <p:spPr>
          <a:xfrm>
            <a:off x="849489" y="1589209"/>
            <a:ext cx="5635171" cy="4845522"/>
          </a:xfrm>
        </p:spPr>
        <p:txBody>
          <a:bodyPr/>
          <a:lstStyle/>
          <a:p>
            <a:pPr marL="0" indent="0">
              <a:buNone/>
            </a:pPr>
            <a:r>
              <a:rPr lang="en-US" sz="2400"/>
              <a:t>Objectives</a:t>
            </a:r>
          </a:p>
          <a:p>
            <a:r>
              <a:rPr lang="en-US" sz="2400" b="0"/>
              <a:t>Move HTTP logic into a separate service</a:t>
            </a:r>
          </a:p>
          <a:p>
            <a:r>
              <a:rPr lang="en-US" sz="2400" b="0"/>
              <a:t>Keep UI clean and focused</a:t>
            </a:r>
          </a:p>
          <a:p>
            <a:r>
              <a:rPr lang="en-US" sz="2400" b="0"/>
              <a:t>Reuse the same service across screens</a:t>
            </a:r>
          </a:p>
          <a:p>
            <a:pPr marL="0" indent="0">
              <a:buNone/>
            </a:pPr>
            <a:r>
              <a:rPr lang="en-US" sz="2400"/>
              <a:t>Steps</a:t>
            </a:r>
          </a:p>
          <a:p>
            <a:pPr marL="457200" indent="-457200">
              <a:buFont typeface="+mj-lt"/>
              <a:buAutoNum type="arabicPeriod"/>
            </a:pPr>
            <a:r>
              <a:rPr lang="en-US" sz="2400" b="0"/>
              <a:t>Create Post model</a:t>
            </a:r>
          </a:p>
          <a:p>
            <a:pPr marL="457200" indent="-457200">
              <a:buFont typeface="+mj-lt"/>
              <a:buAutoNum type="arabicPeriod"/>
            </a:pPr>
            <a:r>
              <a:rPr lang="en-US" sz="2400" b="0"/>
              <a:t>Implement ApiService.fetchPosts()</a:t>
            </a:r>
          </a:p>
          <a:p>
            <a:pPr marL="457200" indent="-457200">
              <a:buFont typeface="+mj-lt"/>
              <a:buAutoNum type="arabicPeriod"/>
            </a:pPr>
            <a:r>
              <a:rPr lang="en-US" sz="2400" b="0"/>
              <a:t>Call service in initState()</a:t>
            </a:r>
          </a:p>
          <a:p>
            <a:pPr marL="457200" indent="-457200">
              <a:buFont typeface="+mj-lt"/>
              <a:buAutoNum type="arabicPeriod"/>
            </a:pPr>
            <a:r>
              <a:rPr lang="en-US" sz="2400" b="0"/>
              <a:t>Use FutureBuilder to load + show list</a:t>
            </a:r>
            <a:endParaRPr sz="2200" b="0"/>
          </a:p>
        </p:txBody>
      </p:sp>
      <p:pic>
        <p:nvPicPr>
          <p:cNvPr id="5" name="Picture 4">
            <a:extLst>
              <a:ext uri="{FF2B5EF4-FFF2-40B4-BE49-F238E27FC236}">
                <a16:creationId xmlns:a16="http://schemas.microsoft.com/office/drawing/2014/main" id="{88DE8117-26D9-18E5-5757-C958653C7066}"/>
              </a:ext>
            </a:extLst>
          </p:cNvPr>
          <p:cNvPicPr>
            <a:picLocks noChangeAspect="1"/>
          </p:cNvPicPr>
          <p:nvPr/>
        </p:nvPicPr>
        <p:blipFill>
          <a:blip r:embed="rId3"/>
          <a:stretch>
            <a:fillRect/>
          </a:stretch>
        </p:blipFill>
        <p:spPr>
          <a:xfrm>
            <a:off x="8863013" y="1349087"/>
            <a:ext cx="2838674" cy="508564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a:t>Organizing Networking Code (Demo 8.4)</a:t>
            </a:r>
            <a:endParaRPr sz="3200"/>
          </a:p>
        </p:txBody>
      </p:sp>
      <p:sp>
        <p:nvSpPr>
          <p:cNvPr id="3" name="Content Placeholder 2"/>
          <p:cNvSpPr>
            <a:spLocks noGrp="1"/>
          </p:cNvSpPr>
          <p:nvPr>
            <p:ph idx="1"/>
          </p:nvPr>
        </p:nvSpPr>
        <p:spPr>
          <a:xfrm>
            <a:off x="957748" y="1501833"/>
            <a:ext cx="3546520" cy="4365567"/>
          </a:xfrm>
        </p:spPr>
        <p:txBody>
          <a:bodyPr/>
          <a:lstStyle/>
          <a:p>
            <a:pPr marL="0" indent="0">
              <a:buNone/>
            </a:pPr>
            <a:r>
              <a:rPr lang="en-US" sz="2000"/>
              <a:t>Service Layer Pattern</a:t>
            </a:r>
          </a:p>
          <a:p>
            <a:r>
              <a:rPr lang="en-US" sz="2000" b="0"/>
              <a:t>Create a class to encapsulate API logic</a:t>
            </a:r>
          </a:p>
          <a:p>
            <a:r>
              <a:rPr lang="en-US" sz="2000" b="0"/>
              <a:t>Keep widget code clean and focused on UI</a:t>
            </a:r>
          </a:p>
          <a:p>
            <a:endParaRPr lang="en-US" sz="2000"/>
          </a:p>
          <a:p>
            <a:pPr marL="0" indent="0">
              <a:buNone/>
            </a:pPr>
            <a:r>
              <a:rPr lang="en-US" sz="2000"/>
              <a:t>Example:</a:t>
            </a:r>
            <a:endParaRPr/>
          </a:p>
        </p:txBody>
      </p:sp>
      <p:pic>
        <p:nvPicPr>
          <p:cNvPr id="5" name="Picture 4">
            <a:extLst>
              <a:ext uri="{FF2B5EF4-FFF2-40B4-BE49-F238E27FC236}">
                <a16:creationId xmlns:a16="http://schemas.microsoft.com/office/drawing/2014/main" id="{46AD7B2B-F413-55D2-3FE1-65C5DC9CA7C5}"/>
              </a:ext>
            </a:extLst>
          </p:cNvPr>
          <p:cNvPicPr>
            <a:picLocks noChangeAspect="1"/>
          </p:cNvPicPr>
          <p:nvPr/>
        </p:nvPicPr>
        <p:blipFill>
          <a:blip r:embed="rId3"/>
          <a:stretch>
            <a:fillRect/>
          </a:stretch>
        </p:blipFill>
        <p:spPr>
          <a:xfrm>
            <a:off x="5145439" y="1501833"/>
            <a:ext cx="6462361" cy="4074878"/>
          </a:xfrm>
          <a:prstGeom prst="rect">
            <a:avLst/>
          </a:prstGeom>
          <a:ln>
            <a:solidFill>
              <a:schemeClr val="tx1"/>
            </a:solid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38C6C-474F-DD13-BF4F-D55CEA511CF3}"/>
              </a:ext>
            </a:extLst>
          </p:cNvPr>
          <p:cNvSpPr>
            <a:spLocks noGrp="1"/>
          </p:cNvSpPr>
          <p:nvPr>
            <p:ph type="title"/>
          </p:nvPr>
        </p:nvSpPr>
        <p:spPr/>
        <p:txBody>
          <a:bodyPr/>
          <a:lstStyle/>
          <a:p>
            <a:pPr algn="ctr"/>
            <a:r>
              <a:rPr lang="en-US" sz="3200"/>
              <a:t>From API to UI: Putting It All Together</a:t>
            </a:r>
          </a:p>
        </p:txBody>
      </p:sp>
      <p:sp>
        <p:nvSpPr>
          <p:cNvPr id="5" name="Content Placeholder 2">
            <a:extLst>
              <a:ext uri="{FF2B5EF4-FFF2-40B4-BE49-F238E27FC236}">
                <a16:creationId xmlns:a16="http://schemas.microsoft.com/office/drawing/2014/main" id="{D8B8FE2A-FAD4-9F6D-0813-759569A04295}"/>
              </a:ext>
            </a:extLst>
          </p:cNvPr>
          <p:cNvSpPr>
            <a:spLocks noGrp="1"/>
          </p:cNvSpPr>
          <p:nvPr>
            <p:ph idx="1"/>
          </p:nvPr>
        </p:nvSpPr>
        <p:spPr>
          <a:xfrm>
            <a:off x="629557" y="1601262"/>
            <a:ext cx="5491843" cy="4525699"/>
          </a:xfrm>
        </p:spPr>
        <p:txBody>
          <a:bodyPr/>
          <a:lstStyle/>
          <a:p>
            <a:pPr marL="0" indent="0">
              <a:buNone/>
            </a:pPr>
            <a:r>
              <a:rPr lang="en-US"/>
              <a:t>End-to-end flow</a:t>
            </a:r>
          </a:p>
          <a:p>
            <a:r>
              <a:rPr lang="en-US" b="0"/>
              <a:t>User opens screen</a:t>
            </a:r>
          </a:p>
          <a:p>
            <a:r>
              <a:rPr lang="en-US" b="0"/>
              <a:t>App calls ApiService.fetchPosts()</a:t>
            </a:r>
          </a:p>
          <a:p>
            <a:r>
              <a:rPr lang="en-US" b="0"/>
              <a:t>FutureBuilder shows loading → data / error</a:t>
            </a:r>
          </a:p>
          <a:p>
            <a:r>
              <a:rPr lang="en-US" b="0"/>
              <a:t>User taps “Add” and opens form</a:t>
            </a:r>
          </a:p>
          <a:p>
            <a:r>
              <a:rPr lang="en-US" b="0"/>
              <a:t>Form submits createPost()</a:t>
            </a:r>
          </a:p>
          <a:p>
            <a:r>
              <a:rPr lang="en-US" b="0"/>
              <a:t>On success: show message, update list (re-fetch or optimistic update)</a:t>
            </a:r>
          </a:p>
        </p:txBody>
      </p:sp>
      <p:pic>
        <p:nvPicPr>
          <p:cNvPr id="4" name="Picture 3">
            <a:extLst>
              <a:ext uri="{FF2B5EF4-FFF2-40B4-BE49-F238E27FC236}">
                <a16:creationId xmlns:a16="http://schemas.microsoft.com/office/drawing/2014/main" id="{4AD73960-076C-15B8-BFDE-4E4897E6C301}"/>
              </a:ext>
            </a:extLst>
          </p:cNvPr>
          <p:cNvPicPr>
            <a:picLocks noChangeAspect="1"/>
          </p:cNvPicPr>
          <p:nvPr/>
        </p:nvPicPr>
        <p:blipFill>
          <a:blip r:embed="rId3"/>
          <a:stretch>
            <a:fillRect/>
          </a:stretch>
        </p:blipFill>
        <p:spPr>
          <a:xfrm>
            <a:off x="6437694" y="1680284"/>
            <a:ext cx="5425120" cy="3655476"/>
          </a:xfrm>
          <a:prstGeom prst="rect">
            <a:avLst/>
          </a:prstGeom>
        </p:spPr>
      </p:pic>
      <p:pic>
        <p:nvPicPr>
          <p:cNvPr id="8" name="Picture 7">
            <a:extLst>
              <a:ext uri="{FF2B5EF4-FFF2-40B4-BE49-F238E27FC236}">
                <a16:creationId xmlns:a16="http://schemas.microsoft.com/office/drawing/2014/main" id="{F26BAA77-A5D9-7BD5-7736-33EC8DBC4EFB}"/>
              </a:ext>
            </a:extLst>
          </p:cNvPr>
          <p:cNvPicPr>
            <a:picLocks noChangeAspect="1"/>
          </p:cNvPicPr>
          <p:nvPr/>
        </p:nvPicPr>
        <p:blipFill>
          <a:blip r:embed="rId4"/>
          <a:stretch>
            <a:fillRect/>
          </a:stretch>
        </p:blipFill>
        <p:spPr>
          <a:xfrm>
            <a:off x="7612239" y="5414782"/>
            <a:ext cx="3695700" cy="323850"/>
          </a:xfrm>
          <a:prstGeom prst="rect">
            <a:avLst/>
          </a:prstGeom>
        </p:spPr>
      </p:pic>
    </p:spTree>
    <p:extLst>
      <p:ext uri="{BB962C8B-B14F-4D97-AF65-F5344CB8AC3E}">
        <p14:creationId xmlns:p14="http://schemas.microsoft.com/office/powerpoint/2010/main" val="8828754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12A2B-6C09-A5D6-D1FF-553B2DFA6D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39876-EF44-F6C9-FE6B-520DBBABE185}"/>
              </a:ext>
            </a:extLst>
          </p:cNvPr>
          <p:cNvSpPr>
            <a:spLocks noGrp="1"/>
          </p:cNvSpPr>
          <p:nvPr>
            <p:ph type="title"/>
          </p:nvPr>
        </p:nvSpPr>
        <p:spPr/>
        <p:txBody>
          <a:bodyPr/>
          <a:lstStyle/>
          <a:p>
            <a:pPr algn="ctr"/>
            <a:r>
              <a:rPr lang="en-US" sz="3200"/>
              <a:t>Common Pitfalls &amp; Best Practices</a:t>
            </a:r>
          </a:p>
        </p:txBody>
      </p:sp>
      <p:sp>
        <p:nvSpPr>
          <p:cNvPr id="5" name="Content Placeholder 2">
            <a:extLst>
              <a:ext uri="{FF2B5EF4-FFF2-40B4-BE49-F238E27FC236}">
                <a16:creationId xmlns:a16="http://schemas.microsoft.com/office/drawing/2014/main" id="{F4CB5053-96EF-8590-9D90-8A67E92F26AC}"/>
              </a:ext>
            </a:extLst>
          </p:cNvPr>
          <p:cNvSpPr>
            <a:spLocks noGrp="1"/>
          </p:cNvSpPr>
          <p:nvPr>
            <p:ph idx="1"/>
          </p:nvPr>
        </p:nvSpPr>
        <p:spPr>
          <a:xfrm>
            <a:off x="435630" y="1823367"/>
            <a:ext cx="5491843" cy="4525699"/>
          </a:xfrm>
        </p:spPr>
        <p:txBody>
          <a:bodyPr/>
          <a:lstStyle/>
          <a:p>
            <a:pPr marL="0" indent="0">
              <a:lnSpc>
                <a:spcPct val="150000"/>
              </a:lnSpc>
              <a:buNone/>
            </a:pPr>
            <a:r>
              <a:rPr lang="en-US" sz="2400"/>
              <a:t>Pitfalls</a:t>
            </a:r>
          </a:p>
          <a:p>
            <a:pPr>
              <a:lnSpc>
                <a:spcPct val="150000"/>
              </a:lnSpc>
            </a:pPr>
            <a:r>
              <a:rPr lang="en-US" b="0"/>
              <a:t>Calling APIs in build() instead of initState()</a:t>
            </a:r>
          </a:p>
          <a:p>
            <a:pPr>
              <a:lnSpc>
                <a:spcPct val="150000"/>
              </a:lnSpc>
            </a:pPr>
            <a:r>
              <a:rPr lang="en-US" b="0"/>
              <a:t>Not handling errors → app crashes</a:t>
            </a:r>
          </a:p>
          <a:p>
            <a:pPr>
              <a:lnSpc>
                <a:spcPct val="150000"/>
              </a:lnSpc>
            </a:pPr>
            <a:r>
              <a:rPr lang="en-US" b="0"/>
              <a:t>Blocking the UI thread with heavy parsing</a:t>
            </a:r>
          </a:p>
          <a:p>
            <a:pPr>
              <a:lnSpc>
                <a:spcPct val="150000"/>
              </a:lnSpc>
            </a:pPr>
            <a:r>
              <a:rPr lang="en-US" b="0"/>
              <a:t>Hardcoding URLs everywhere</a:t>
            </a:r>
          </a:p>
          <a:p>
            <a:pPr marL="0" indent="0">
              <a:buNone/>
            </a:pPr>
            <a:endParaRPr lang="en-US" b="0"/>
          </a:p>
        </p:txBody>
      </p:sp>
      <p:sp>
        <p:nvSpPr>
          <p:cNvPr id="3" name="Content Placeholder 2">
            <a:extLst>
              <a:ext uri="{FF2B5EF4-FFF2-40B4-BE49-F238E27FC236}">
                <a16:creationId xmlns:a16="http://schemas.microsoft.com/office/drawing/2014/main" id="{C7604EB6-842A-0488-C43A-9EF1954F1041}"/>
              </a:ext>
            </a:extLst>
          </p:cNvPr>
          <p:cNvSpPr txBox="1">
            <a:spLocks/>
          </p:cNvSpPr>
          <p:nvPr/>
        </p:nvSpPr>
        <p:spPr bwMode="auto">
          <a:xfrm>
            <a:off x="6264527" y="1824301"/>
            <a:ext cx="5491843" cy="45256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lvl1pPr marL="342257" indent="-342257" algn="l" defTabSz="913425" rtl="0" eaLnBrk="1" fontAlgn="base" hangingPunct="1">
              <a:spcBef>
                <a:spcPts val="450"/>
              </a:spcBef>
              <a:spcAft>
                <a:spcPts val="450"/>
              </a:spcAft>
              <a:buFont typeface="Arial" pitchFamily="34" charset="0"/>
              <a:buChar char="•"/>
              <a:defRPr sz="2200" b="1" kern="1200">
                <a:solidFill>
                  <a:schemeClr val="tx1"/>
                </a:solidFill>
                <a:latin typeface="Times New Roman" panose="02020603050405020304" pitchFamily="18" charset="0"/>
                <a:ea typeface="ＭＳ Ｐゴシック" charset="0"/>
                <a:cs typeface="Times New Roman" panose="02020603050405020304" pitchFamily="18" charset="0"/>
              </a:defRPr>
            </a:lvl1pPr>
            <a:lvl2pPr marL="742297" indent="-285585" algn="l" defTabSz="913425" rtl="0" eaLnBrk="1" fontAlgn="base" hangingPunct="1">
              <a:spcBef>
                <a:spcPts val="450"/>
              </a:spcBef>
              <a:spcAft>
                <a:spcPts val="450"/>
              </a:spcAft>
              <a:buFont typeface="Arial" pitchFamily="34" charset="0"/>
              <a:buChar char="–"/>
              <a:defRPr sz="2000" kern="1200">
                <a:solidFill>
                  <a:schemeClr val="tx1"/>
                </a:solidFill>
                <a:latin typeface="Times New Roman" panose="02020603050405020304" pitchFamily="18" charset="0"/>
                <a:ea typeface="ＭＳ Ｐゴシック" charset="0"/>
                <a:cs typeface="Times New Roman" panose="02020603050405020304" pitchFamily="18" charset="0"/>
              </a:defRPr>
            </a:lvl2pPr>
            <a:lvl3pPr marL="1142336" indent="-227801" algn="l" defTabSz="913425" rtl="0" eaLnBrk="1" fontAlgn="base" hangingPunct="1">
              <a:spcBef>
                <a:spcPts val="450"/>
              </a:spcBef>
              <a:spcAft>
                <a:spcPts val="450"/>
              </a:spcAft>
              <a:buFont typeface="Arial" pitchFamily="34" charset="0"/>
              <a:buChar char="•"/>
              <a:defRPr sz="2000" kern="1200">
                <a:solidFill>
                  <a:schemeClr val="tx1"/>
                </a:solidFill>
                <a:latin typeface="Times New Roman" panose="02020603050405020304" pitchFamily="18" charset="0"/>
                <a:ea typeface="ＭＳ Ｐゴシック" charset="0"/>
                <a:cs typeface="Times New Roman" panose="02020603050405020304" pitchFamily="18" charset="0"/>
              </a:defRPr>
            </a:lvl3pPr>
            <a:lvl4pPr marL="1599049" indent="-227801" algn="l" defTabSz="913425" rtl="0" eaLnBrk="1" fontAlgn="base" hangingPunct="1">
              <a:spcBef>
                <a:spcPts val="450"/>
              </a:spcBef>
              <a:spcAft>
                <a:spcPts val="450"/>
              </a:spcAft>
              <a:buFont typeface="Arial" pitchFamily="34" charset="0"/>
              <a:buChar char="–"/>
              <a:defRPr sz="2000" i="1" kern="1200">
                <a:solidFill>
                  <a:schemeClr val="tx1"/>
                </a:solidFill>
                <a:latin typeface="Times New Roman" panose="02020603050405020304" pitchFamily="18" charset="0"/>
                <a:ea typeface="ＭＳ Ｐゴシック" charset="0"/>
                <a:cs typeface="Times New Roman" panose="02020603050405020304" pitchFamily="18" charset="0"/>
              </a:defRPr>
            </a:lvl4pPr>
            <a:lvl5pPr marL="2056873" indent="-227801" algn="l" defTabSz="913425" rtl="0" eaLnBrk="1" fontAlgn="base" hangingPunct="1">
              <a:spcBef>
                <a:spcPts val="450"/>
              </a:spcBef>
              <a:spcAft>
                <a:spcPts val="450"/>
              </a:spcAft>
              <a:buFont typeface="Arial" pitchFamily="34" charset="0"/>
              <a:buChar char="»"/>
              <a:defRPr sz="2000" kern="1200">
                <a:solidFill>
                  <a:schemeClr val="tx1"/>
                </a:solidFill>
                <a:latin typeface="Times New Roman" panose="02020603050405020304" pitchFamily="18" charset="0"/>
                <a:ea typeface="ＭＳ Ｐゴシック" charset="0"/>
                <a:cs typeface="Times New Roman" panose="02020603050405020304" pitchFamily="18" charset="0"/>
              </a:defRPr>
            </a:lvl5pPr>
            <a:lvl6pPr marL="2514411" indent="-228584" algn="l" defTabSz="91433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77" indent="-228584" algn="l" defTabSz="91433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44" indent="-228584" algn="l" defTabSz="91433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09" indent="-228584" algn="l" defTabSz="91433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buNone/>
            </a:pPr>
            <a:r>
              <a:rPr lang="en-US" sz="2400"/>
              <a:t>Best Practices</a:t>
            </a:r>
          </a:p>
          <a:p>
            <a:pPr>
              <a:lnSpc>
                <a:spcPct val="150000"/>
              </a:lnSpc>
            </a:pPr>
            <a:r>
              <a:rPr lang="en-US" b="0"/>
              <a:t>Call API once in initState()</a:t>
            </a:r>
          </a:p>
          <a:p>
            <a:pPr>
              <a:lnSpc>
                <a:spcPct val="150000"/>
              </a:lnSpc>
            </a:pPr>
            <a:r>
              <a:rPr lang="en-US" b="0"/>
              <a:t>Centralize base URL and endpoints</a:t>
            </a:r>
          </a:p>
          <a:p>
            <a:pPr>
              <a:lnSpc>
                <a:spcPct val="150000"/>
              </a:lnSpc>
            </a:pPr>
            <a:r>
              <a:rPr lang="en-US" b="0"/>
              <a:t>Wrap networking in service classes):</a:t>
            </a:r>
            <a:r>
              <a:rPr lang="en-US"/>
              <a:t> </a:t>
            </a:r>
          </a:p>
          <a:p>
            <a:pPr>
              <a:lnSpc>
                <a:spcPct val="150000"/>
              </a:lnSpc>
            </a:pPr>
            <a:r>
              <a:rPr lang="en-US" b="0"/>
              <a:t>Log responses during development</a:t>
            </a:r>
          </a:p>
        </p:txBody>
      </p:sp>
    </p:spTree>
    <p:extLst>
      <p:ext uri="{BB962C8B-B14F-4D97-AF65-F5344CB8AC3E}">
        <p14:creationId xmlns:p14="http://schemas.microsoft.com/office/powerpoint/2010/main" val="9055464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C8EC8-EC93-4EC1-B6A6-507F0430D7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797EB5-A6C5-5B87-44B6-5F066B7A256D}"/>
              </a:ext>
            </a:extLst>
          </p:cNvPr>
          <p:cNvSpPr>
            <a:spLocks noGrp="1"/>
          </p:cNvSpPr>
          <p:nvPr>
            <p:ph type="title"/>
          </p:nvPr>
        </p:nvSpPr>
        <p:spPr/>
        <p:txBody>
          <a:bodyPr/>
          <a:lstStyle/>
          <a:p>
            <a:pPr algn="ctr"/>
            <a:r>
              <a:rPr lang="en-US" sz="3200"/>
              <a:t>Lab 8 Overview</a:t>
            </a:r>
          </a:p>
        </p:txBody>
      </p:sp>
      <p:sp>
        <p:nvSpPr>
          <p:cNvPr id="5" name="Content Placeholder 2">
            <a:extLst>
              <a:ext uri="{FF2B5EF4-FFF2-40B4-BE49-F238E27FC236}">
                <a16:creationId xmlns:a16="http://schemas.microsoft.com/office/drawing/2014/main" id="{E35B6E9C-78B7-8EF0-067F-A9BB5B039017}"/>
              </a:ext>
            </a:extLst>
          </p:cNvPr>
          <p:cNvSpPr>
            <a:spLocks noGrp="1"/>
          </p:cNvSpPr>
          <p:nvPr>
            <p:ph idx="1"/>
          </p:nvPr>
        </p:nvSpPr>
        <p:spPr>
          <a:xfrm>
            <a:off x="993794" y="1637823"/>
            <a:ext cx="9984277" cy="4525699"/>
          </a:xfrm>
        </p:spPr>
        <p:txBody>
          <a:bodyPr/>
          <a:lstStyle/>
          <a:p>
            <a:pPr marL="0" indent="0">
              <a:buNone/>
            </a:pPr>
            <a:r>
              <a:rPr lang="en-US" sz="2400"/>
              <a:t>Objectives: </a:t>
            </a:r>
            <a:r>
              <a:rPr lang="en-US"/>
              <a:t>Building a Simple API-powered List Screen</a:t>
            </a:r>
          </a:p>
          <a:p>
            <a:pPr marL="0" indent="0">
              <a:buNone/>
            </a:pPr>
            <a:r>
              <a:rPr lang="en-US"/>
              <a:t>You will:</a:t>
            </a:r>
          </a:p>
          <a:p>
            <a:pPr marL="457200" indent="-457200">
              <a:buFont typeface="+mj-lt"/>
              <a:buAutoNum type="arabicPeriod"/>
            </a:pPr>
            <a:r>
              <a:rPr lang="en-US" b="0"/>
              <a:t>Call a public REST API</a:t>
            </a:r>
          </a:p>
          <a:p>
            <a:pPr marL="457200" indent="-457200">
              <a:buFont typeface="+mj-lt"/>
              <a:buAutoNum type="arabicPeriod"/>
            </a:pPr>
            <a:r>
              <a:rPr lang="en-US" b="0"/>
              <a:t>Parse JSON into model classes</a:t>
            </a:r>
          </a:p>
          <a:p>
            <a:pPr marL="457200" indent="-457200">
              <a:buFont typeface="+mj-lt"/>
              <a:buAutoNum type="arabicPeriod"/>
            </a:pPr>
            <a:r>
              <a:rPr lang="en-US" b="0"/>
              <a:t>Display a list of items using ListView</a:t>
            </a:r>
          </a:p>
          <a:p>
            <a:pPr marL="457200" indent="-457200">
              <a:buFont typeface="+mj-lt"/>
              <a:buAutoNum type="arabicPeriod"/>
            </a:pPr>
            <a:r>
              <a:rPr lang="en-US" b="0"/>
              <a:t>Show loading + error states</a:t>
            </a:r>
          </a:p>
          <a:p>
            <a:pPr marL="0" indent="0">
              <a:buNone/>
            </a:pPr>
            <a:r>
              <a:rPr lang="en-US" b="0"/>
              <a:t>(Optional) Add a simple POST form to create a new item</a:t>
            </a:r>
          </a:p>
          <a:p>
            <a:pPr marL="0" indent="0">
              <a:buNone/>
            </a:pPr>
            <a:endParaRPr lang="en-US" b="0"/>
          </a:p>
          <a:p>
            <a:pPr marL="0" indent="0">
              <a:buNone/>
            </a:pPr>
            <a:r>
              <a:rPr lang="en-US" b="0"/>
              <a:t>Note: </a:t>
            </a:r>
            <a:r>
              <a:rPr lang="en-US" b="0" i="1"/>
              <a:t>This lab combines all concepts from Demos 8.1 → 8.4</a:t>
            </a:r>
          </a:p>
        </p:txBody>
      </p:sp>
      <p:pic>
        <p:nvPicPr>
          <p:cNvPr id="4" name="Picture 3">
            <a:extLst>
              <a:ext uri="{FF2B5EF4-FFF2-40B4-BE49-F238E27FC236}">
                <a16:creationId xmlns:a16="http://schemas.microsoft.com/office/drawing/2014/main" id="{48E4A09A-4C24-3EE7-A1FF-BAF237C47072}"/>
              </a:ext>
            </a:extLst>
          </p:cNvPr>
          <p:cNvPicPr>
            <a:picLocks noChangeAspect="1"/>
          </p:cNvPicPr>
          <p:nvPr/>
        </p:nvPicPr>
        <p:blipFill>
          <a:blip r:embed="rId3"/>
          <a:stretch>
            <a:fillRect/>
          </a:stretch>
        </p:blipFill>
        <p:spPr>
          <a:xfrm>
            <a:off x="8747048" y="1512711"/>
            <a:ext cx="3222308" cy="5130800"/>
          </a:xfrm>
          <a:prstGeom prst="rect">
            <a:avLst/>
          </a:prstGeom>
        </p:spPr>
      </p:pic>
    </p:spTree>
    <p:extLst>
      <p:ext uri="{BB962C8B-B14F-4D97-AF65-F5344CB8AC3E}">
        <p14:creationId xmlns:p14="http://schemas.microsoft.com/office/powerpoint/2010/main" val="8922240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94F37-1B9C-2421-DDB6-C6AA320CDE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F88F06-E657-9371-C4DA-7F147F6B2ABE}"/>
              </a:ext>
            </a:extLst>
          </p:cNvPr>
          <p:cNvSpPr>
            <a:spLocks noGrp="1"/>
          </p:cNvSpPr>
          <p:nvPr>
            <p:ph type="title"/>
          </p:nvPr>
        </p:nvSpPr>
        <p:spPr>
          <a:xfrm>
            <a:off x="635000" y="203200"/>
            <a:ext cx="10972800" cy="818503"/>
          </a:xfrm>
        </p:spPr>
        <p:txBody>
          <a:bodyPr/>
          <a:lstStyle/>
          <a:p>
            <a:pPr algn="ctr"/>
            <a:r>
              <a:rPr lang="en-US" sz="3200"/>
              <a:t>Summary</a:t>
            </a:r>
          </a:p>
        </p:txBody>
      </p:sp>
      <p:sp>
        <p:nvSpPr>
          <p:cNvPr id="3" name="Content Placeholder 2">
            <a:extLst>
              <a:ext uri="{FF2B5EF4-FFF2-40B4-BE49-F238E27FC236}">
                <a16:creationId xmlns:a16="http://schemas.microsoft.com/office/drawing/2014/main" id="{DD7882C1-55BA-F0EB-6E98-573CB14D4AAD}"/>
              </a:ext>
            </a:extLst>
          </p:cNvPr>
          <p:cNvSpPr>
            <a:spLocks noGrp="1"/>
          </p:cNvSpPr>
          <p:nvPr>
            <p:ph idx="1"/>
          </p:nvPr>
        </p:nvSpPr>
        <p:spPr>
          <a:xfrm>
            <a:off x="1248642" y="1308966"/>
            <a:ext cx="9745516" cy="5066161"/>
          </a:xfrm>
        </p:spPr>
        <p:txBody>
          <a:bodyPr/>
          <a:lstStyle/>
          <a:p>
            <a:pPr marL="0" indent="0">
              <a:lnSpc>
                <a:spcPct val="150000"/>
              </a:lnSpc>
              <a:buNone/>
            </a:pPr>
            <a:r>
              <a:rPr lang="en-US"/>
              <a:t>In this module, you learn how to:</a:t>
            </a:r>
          </a:p>
          <a:p>
            <a:pPr>
              <a:lnSpc>
                <a:spcPct val="150000"/>
              </a:lnSpc>
              <a:buFont typeface="Wingdings" panose="05000000000000000000" pitchFamily="2" charset="2"/>
              <a:buChar char="§"/>
            </a:pPr>
            <a:r>
              <a:rPr lang="en-US" b="0"/>
              <a:t>Understand how RESTful APIs work</a:t>
            </a:r>
          </a:p>
          <a:p>
            <a:pPr>
              <a:lnSpc>
                <a:spcPct val="150000"/>
              </a:lnSpc>
              <a:buFont typeface="Wingdings" panose="05000000000000000000" pitchFamily="2" charset="2"/>
              <a:buChar char="§"/>
            </a:pPr>
            <a:r>
              <a:rPr lang="en-US" b="0"/>
              <a:t>Send HTTP GET and POST requests in Flutter</a:t>
            </a:r>
          </a:p>
          <a:p>
            <a:pPr>
              <a:lnSpc>
                <a:spcPct val="150000"/>
              </a:lnSpc>
              <a:buFont typeface="Wingdings" panose="05000000000000000000" pitchFamily="2" charset="2"/>
              <a:buChar char="§"/>
            </a:pPr>
            <a:r>
              <a:rPr lang="en-US" b="0"/>
              <a:t>Decode JSON strongly into typed Dart model classes</a:t>
            </a:r>
          </a:p>
          <a:p>
            <a:pPr>
              <a:lnSpc>
                <a:spcPct val="150000"/>
              </a:lnSpc>
              <a:buFont typeface="Wingdings" panose="05000000000000000000" pitchFamily="2" charset="2"/>
              <a:buChar char="§"/>
            </a:pPr>
            <a:r>
              <a:rPr lang="en-US" b="0"/>
              <a:t>Display API data with FutureBuilder and ListView</a:t>
            </a:r>
          </a:p>
          <a:p>
            <a:pPr>
              <a:lnSpc>
                <a:spcPct val="150000"/>
              </a:lnSpc>
              <a:buFont typeface="Wingdings" panose="05000000000000000000" pitchFamily="2" charset="2"/>
              <a:buChar char="§"/>
            </a:pPr>
            <a:r>
              <a:rPr lang="en-US" b="0"/>
              <a:t>Implement loading, empty, and error UI states</a:t>
            </a:r>
          </a:p>
          <a:p>
            <a:pPr>
              <a:lnSpc>
                <a:spcPct val="150000"/>
              </a:lnSpc>
              <a:buFont typeface="Wingdings" panose="05000000000000000000" pitchFamily="2" charset="2"/>
              <a:buChar char="§"/>
            </a:pPr>
            <a:r>
              <a:rPr lang="en-US" b="0"/>
              <a:t>Organize networking code into a clean, reusable service layer</a:t>
            </a:r>
          </a:p>
          <a:p>
            <a:pPr marL="0" indent="0">
              <a:lnSpc>
                <a:spcPct val="150000"/>
              </a:lnSpc>
              <a:buNone/>
            </a:pPr>
            <a:r>
              <a:rPr lang="en-US" b="0"/>
              <a:t>(Optional): Build a simple form that sends data via POST</a:t>
            </a:r>
          </a:p>
        </p:txBody>
      </p:sp>
    </p:spTree>
    <p:extLst>
      <p:ext uri="{BB962C8B-B14F-4D97-AF65-F5344CB8AC3E}">
        <p14:creationId xmlns:p14="http://schemas.microsoft.com/office/powerpoint/2010/main" val="2960344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3200"/>
              <a:t>References</a:t>
            </a:r>
          </a:p>
        </p:txBody>
      </p:sp>
      <p:sp>
        <p:nvSpPr>
          <p:cNvPr id="3" name="Content Placeholder 2"/>
          <p:cNvSpPr>
            <a:spLocks noGrp="1"/>
          </p:cNvSpPr>
          <p:nvPr>
            <p:ph idx="1"/>
          </p:nvPr>
        </p:nvSpPr>
        <p:spPr/>
        <p:txBody>
          <a:bodyPr/>
          <a:lstStyle/>
          <a:p>
            <a:pPr>
              <a:lnSpc>
                <a:spcPct val="150000"/>
              </a:lnSpc>
              <a:defRPr sz="1800"/>
            </a:pPr>
            <a:r>
              <a:rPr sz="2000" b="0"/>
              <a:t>Mastering Flutter 2025 – Ch.</a:t>
            </a:r>
            <a:r>
              <a:rPr lang="en-US" sz="2000" b="0"/>
              <a:t>3, 4, 9 </a:t>
            </a:r>
          </a:p>
          <a:p>
            <a:pPr>
              <a:lnSpc>
                <a:spcPct val="150000"/>
              </a:lnSpc>
              <a:defRPr sz="1800"/>
            </a:pPr>
            <a:r>
              <a:rPr sz="2000" b="0"/>
              <a:t>docs.flutter.dev</a:t>
            </a:r>
            <a:endParaRPr lang="en-US" sz="2000" b="0"/>
          </a:p>
          <a:p>
            <a:pPr>
              <a:lnSpc>
                <a:spcPct val="150000"/>
              </a:lnSpc>
              <a:defRPr sz="1800"/>
            </a:pPr>
            <a:r>
              <a:rPr lang="en-US" sz="2000">
                <a:hlinkClick r:id="rId3"/>
              </a:rPr>
              <a:t>https://dartpad.dev</a:t>
            </a:r>
            <a:endParaRPr lang="en-US" sz="2000" b="0"/>
          </a:p>
        </p:txBody>
      </p:sp>
    </p:spTree>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7279</TotalTime>
  <Words>4291</Words>
  <Application>Microsoft Office PowerPoint</Application>
  <PresentationFormat>Widescreen</PresentationFormat>
  <Paragraphs>710</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Aptos</vt:lpstr>
      <vt:lpstr>Arial</vt:lpstr>
      <vt:lpstr>Courier New</vt:lpstr>
      <vt:lpstr>Myriad Pro</vt:lpstr>
      <vt:lpstr>Tahoma</vt:lpstr>
      <vt:lpstr>Times New Roman</vt:lpstr>
      <vt:lpstr>Wingdings</vt:lpstr>
      <vt:lpstr>Theme1</vt:lpstr>
      <vt:lpstr>Module 8 – Working with RESTful APIs &amp; JSON in Flutter </vt:lpstr>
      <vt:lpstr>Learning Objectives</vt:lpstr>
      <vt:lpstr>What is an API? What is HTTP?</vt:lpstr>
      <vt:lpstr>What is JSON?</vt:lpstr>
      <vt:lpstr>API Networking in Flutter — The Big Picture </vt:lpstr>
      <vt:lpstr>Using the http Package</vt:lpstr>
      <vt:lpstr>Demo 8.1: Simple GET Request</vt:lpstr>
      <vt:lpstr>Demo 8.1: Simple GET Request</vt:lpstr>
      <vt:lpstr> Futures &amp; async/await (Quick Review)</vt:lpstr>
      <vt:lpstr>FutureBuilder: Binding Data to UI</vt:lpstr>
      <vt:lpstr>Parsing JSON into Dart Models</vt:lpstr>
      <vt:lpstr>Demo 8.2 – JsonModelScreen</vt:lpstr>
      <vt:lpstr>Converting JSON List to List&lt;Model&gt;</vt:lpstr>
      <vt:lpstr>Demo 8.3: Sending Data via POST</vt:lpstr>
      <vt:lpstr>Error Handling &amp; Retry</vt:lpstr>
      <vt:lpstr>POST Request + Error Handling Pattern</vt:lpstr>
      <vt:lpstr>Loading &amp; Button States (UX)</vt:lpstr>
      <vt:lpstr>Demo 8.4 – ApiService</vt:lpstr>
      <vt:lpstr>Organizing Networking Code (Demo 8.4)</vt:lpstr>
      <vt:lpstr>From API to UI: Putting It All Together</vt:lpstr>
      <vt:lpstr>Common Pitfalls &amp; Best Practices</vt:lpstr>
      <vt:lpstr>Lab 8 Overview</vt:lpstr>
      <vt:lpstr>Summary</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Thanh Nguyen</dc:creator>
  <cp:keywords/>
  <dc:description>generated using python-pptx</dc:description>
  <cp:lastModifiedBy>Thanh Nguyen</cp:lastModifiedBy>
  <cp:revision>31</cp:revision>
  <dcterms:created xsi:type="dcterms:W3CDTF">2013-01-27T09:14:16Z</dcterms:created>
  <dcterms:modified xsi:type="dcterms:W3CDTF">2025-12-11T06:29:38Z</dcterms:modified>
  <cp:category/>
</cp:coreProperties>
</file>