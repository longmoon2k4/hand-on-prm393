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76" r:id="rId2"/>
    <p:sldId id="275" r:id="rId3"/>
    <p:sldId id="257" r:id="rId4"/>
    <p:sldId id="258" r:id="rId5"/>
    <p:sldId id="259" r:id="rId6"/>
    <p:sldId id="260" r:id="rId7"/>
    <p:sldId id="287" r:id="rId8"/>
    <p:sldId id="295" r:id="rId9"/>
    <p:sldId id="261" r:id="rId10"/>
    <p:sldId id="263" r:id="rId11"/>
    <p:sldId id="264" r:id="rId12"/>
    <p:sldId id="265" r:id="rId13"/>
    <p:sldId id="266" r:id="rId14"/>
    <p:sldId id="280" r:id="rId15"/>
    <p:sldId id="281" r:id="rId16"/>
    <p:sldId id="267" r:id="rId17"/>
    <p:sldId id="277" r:id="rId18"/>
    <p:sldId id="288" r:id="rId19"/>
    <p:sldId id="296" r:id="rId20"/>
    <p:sldId id="297" r:id="rId21"/>
    <p:sldId id="298" r:id="rId22"/>
    <p:sldId id="289" r:id="rId23"/>
    <p:sldId id="290" r:id="rId24"/>
    <p:sldId id="274" r:id="rId2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935" autoAdjust="0"/>
  </p:normalViewPr>
  <p:slideViewPr>
    <p:cSldViewPr snapToGrid="0" snapToObjects="1">
      <p:cViewPr varScale="1">
        <p:scale>
          <a:sx n="68" d="100"/>
          <a:sy n="68" d="100"/>
        </p:scale>
        <p:origin x="126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Crafting Flutter UIs that scale beautifully across phones, tablets, and web.</a:t>
            </a:r>
          </a:p>
          <a:p>
            <a:endParaRPr lang="en-US"/>
          </a:p>
          <a:p>
            <a:r>
              <a:rPr lang="en-US"/>
              <a:t>Instructor Note:</a:t>
            </a:r>
          </a:p>
          <a:p>
            <a:r>
              <a:rPr lang="en-US"/>
              <a:t>Introduce the idea that a single Flutter codebase must handle vastly different screens.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that this is one of the most practical modules because it affects all UI development.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Ask students to rotate their emulators now; let them see layout break.</a:t>
            </a:r>
            <a:endParaRPr lang="en-US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Keep the difference clear. Students often confuse these two concepts.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57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Emphasize that MediaQuery reads the </a:t>
            </a:r>
            <a:r>
              <a:rPr lang="en-US" i="1"/>
              <a:t>real-time</a:t>
            </a:r>
            <a:r>
              <a:rPr lang="en-US"/>
              <a:t> screen size.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2 simulators side-by-side to demonstrate the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Stress that LayoutBuilder is perfect for responsive </a:t>
            </a:r>
            <a:r>
              <a:rPr lang="en-US" i="1"/>
              <a:t>components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 students to rotate the emulator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Wrap is critical for chip lists → perfect for Genre section.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Great moment to mention Material 3 adaptive grid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Show Figure 5.11–5.12 to illustrate how UI gets hidden under the notch before using SafeArea.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1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State clearly: Students will recreate this in Lab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8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Students often forget SafeArea here.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6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selected vs unselected chip styling.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that this is responsive by nature — no grid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dropdown width auto-adapts to its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Students should notice how poster size adapts.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8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final deliverable for Lab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89C59-3643-C863-FECC-F95DC538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9C0EE-3FCE-062D-9BEF-5C196CE87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41240-5ABF-362E-C192-A916A5C6A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Provide rough UI sketch; let them design creatively.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8952-4170-A79E-146C-E1D9F1670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90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6ABF-B76E-A4EE-9429-29B6DA224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A6D83-465C-81EA-1B3E-77D0D6DFF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0855FA-D443-E51D-6442-1C121B5BD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Encourage them to test with Pixel 2 → Pixel 7 → iPad.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86C1-02DB-4404-0106-DDC313BD2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8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52658-7C7A-4E97-F754-B7502EC5F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4339D-AC69-FDC6-5D27-0CA42F406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BC956-9A69-B7AD-0AF2-67BFD4D0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 them to use LayoutBuilder at root level.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A55C2-5668-EE64-6376-72B902660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8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03AFB-209A-9528-4E2A-FC5C474A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9BD4B-9DFC-6892-7237-B9D71A78C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F1A22-0C1A-D3D9-E71F-737357684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Remind them layout debugging is essential for production apps.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0AD6A-E171-3154-F7E6-D754C4228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39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2F7EEDA4-0EC8-1B34-7F1B-7FBBDCEA6D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" y="128587"/>
            <a:ext cx="3074479" cy="953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74734C2F-6931-4393-6831-A2D09BD187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" y="90158"/>
            <a:ext cx="1648015" cy="51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28" y="3797574"/>
            <a:ext cx="6296025" cy="1827699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Module 6 - Responsive UI &amp; Adaptive Layouts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Contents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044" y="1157170"/>
            <a:ext cx="9138161" cy="5531497"/>
          </a:xfrm>
        </p:spPr>
        <p:txBody>
          <a:bodyPr/>
          <a:lstStyle/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What Responsive UI means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Screen sizes, device types, and safe areas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MediaQuery for screen information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LayoutBuilder for constraint-based rendering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OrientationBuilder for rotation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Responsive widgets (Expanded, Wrap, Flexible)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Building a real case study: Movie Genre Screen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How to test responsive UI on multiple devices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Why Responsive UI Matters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4357" y="1585053"/>
            <a:ext cx="4176887" cy="3777169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Flutter runs on:</a:t>
            </a:r>
          </a:p>
          <a:p>
            <a:pPr lvl="1"/>
            <a:r>
              <a:rPr lang="en-US" sz="2400" b="0"/>
              <a:t>Small phones</a:t>
            </a:r>
          </a:p>
          <a:p>
            <a:pPr lvl="1"/>
            <a:r>
              <a:rPr lang="en-US" sz="2400" b="0"/>
              <a:t>Large phones</a:t>
            </a:r>
          </a:p>
          <a:p>
            <a:pPr lvl="1"/>
            <a:r>
              <a:rPr lang="en-US" sz="2400" b="0"/>
              <a:t>Tablets</a:t>
            </a:r>
          </a:p>
          <a:p>
            <a:pPr lvl="1"/>
            <a:r>
              <a:rPr lang="en-US" sz="2400" b="0"/>
              <a:t>Foldables</a:t>
            </a:r>
          </a:p>
          <a:p>
            <a:pPr lvl="1"/>
            <a:r>
              <a:rPr lang="en-US" sz="2400" b="0"/>
              <a:t>Desktop browsers</a:t>
            </a:r>
          </a:p>
          <a:p>
            <a:pPr marL="0" indent="0">
              <a:buNone/>
            </a:pPr>
            <a:endParaRPr lang="en-US" sz="18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072B61-8925-3008-73E7-709D65A8631D}"/>
              </a:ext>
            </a:extLst>
          </p:cNvPr>
          <p:cNvSpPr txBox="1">
            <a:spLocks/>
          </p:cNvSpPr>
          <p:nvPr/>
        </p:nvSpPr>
        <p:spPr bwMode="auto">
          <a:xfrm>
            <a:off x="6287911" y="1612239"/>
            <a:ext cx="4176887" cy="4002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Without responsive design:</a:t>
            </a:r>
          </a:p>
          <a:p>
            <a:pPr lvl="1"/>
            <a:r>
              <a:rPr lang="en-US" sz="2400"/>
              <a:t>Overflow errors</a:t>
            </a:r>
          </a:p>
          <a:p>
            <a:pPr lvl="1"/>
            <a:r>
              <a:rPr lang="en-US" sz="2400"/>
              <a:t>Misaligned widgets</a:t>
            </a:r>
          </a:p>
          <a:p>
            <a:pPr lvl="1"/>
            <a:r>
              <a:rPr lang="en-US" sz="2400"/>
              <a:t>Text clipping</a:t>
            </a:r>
          </a:p>
          <a:p>
            <a:pPr lvl="1"/>
            <a:r>
              <a:rPr lang="en-US" sz="2400"/>
              <a:t>Bad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Responsive vs Adaptive UI</a:t>
            </a:r>
            <a:endParaRPr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7EFC6A-81A6-BA13-EE84-991020FC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867" y="1326503"/>
            <a:ext cx="9179983" cy="537909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Responsive UI: </a:t>
            </a:r>
            <a:r>
              <a:rPr lang="en-US" b="0"/>
              <a:t>Layout changes depending on available space.</a:t>
            </a:r>
            <a:br>
              <a:rPr lang="en-US" b="0"/>
            </a:br>
            <a:r>
              <a:rPr lang="en-US" b="0"/>
              <a:t>Examples:</a:t>
            </a:r>
          </a:p>
          <a:p>
            <a:pPr lvl="1"/>
            <a:r>
              <a:rPr lang="en-US" b="0"/>
              <a:t>Column → Row</a:t>
            </a:r>
          </a:p>
          <a:p>
            <a:pPr lvl="1"/>
            <a:r>
              <a:rPr lang="en-US" b="0"/>
              <a:t>Grid 2 columns → 4 columns</a:t>
            </a:r>
          </a:p>
          <a:p>
            <a:pPr lvl="1"/>
            <a:r>
              <a:rPr lang="en-US"/>
              <a:t>Padding automatically adjusts based on screen width.</a:t>
            </a:r>
          </a:p>
          <a:p>
            <a:pPr lvl="1"/>
            <a:r>
              <a:rPr lang="en-US"/>
              <a:t>Adaptive UI: </a:t>
            </a:r>
            <a:r>
              <a:rPr lang="en-US" b="0"/>
              <a:t>Layout changes depending on device type.</a:t>
            </a:r>
            <a:br>
              <a:rPr lang="en-US" b="0"/>
            </a:br>
            <a:r>
              <a:rPr lang="en-US" b="0"/>
              <a:t>Examples:</a:t>
            </a:r>
          </a:p>
          <a:p>
            <a:pPr lvl="2"/>
            <a:r>
              <a:rPr lang="en-US" b="0"/>
              <a:t>Bottom Nav → NavigationRail on tablet</a:t>
            </a:r>
          </a:p>
          <a:p>
            <a:pPr lvl="2"/>
            <a:r>
              <a:rPr lang="en-US" b="0"/>
              <a:t>Drawer → Sidebar on desktop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2200"/>
              <a:t>Code Snippet</a:t>
            </a:r>
          </a:p>
          <a:p>
            <a:pPr marL="456712" lvl="1" indent="0">
              <a:buNone/>
            </a:pPr>
            <a:r>
              <a:rPr lang="en-US"/>
              <a:t>		if (width &lt; 600) return MobileView();</a:t>
            </a:r>
          </a:p>
          <a:p>
            <a:pPr marL="456712" lvl="1" indent="0">
              <a:buNone/>
            </a:pPr>
            <a:r>
              <a:rPr lang="en-US"/>
              <a:t>		return TabletView();</a:t>
            </a:r>
          </a:p>
          <a:p>
            <a:pPr marL="456712" lvl="1" indent="0">
              <a:buNone/>
            </a:pPr>
            <a:endParaRPr lang="en-US" b="0"/>
          </a:p>
          <a:p>
            <a:endParaRPr lang="en-US"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MediaQuery: Getting Screen Size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822" y="1524001"/>
            <a:ext cx="9731021" cy="443653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MediaQuery allows you to access device and screen information, such as:</a:t>
            </a:r>
          </a:p>
          <a:p>
            <a:pPr>
              <a:lnSpc>
                <a:spcPct val="150000"/>
              </a:lnSpc>
            </a:pPr>
            <a:r>
              <a:rPr lang="en-US" b="0"/>
              <a:t>Screen width</a:t>
            </a:r>
          </a:p>
          <a:p>
            <a:pPr>
              <a:lnSpc>
                <a:spcPct val="150000"/>
              </a:lnSpc>
            </a:pPr>
            <a:r>
              <a:rPr lang="en-US" b="0"/>
              <a:t>Height</a:t>
            </a:r>
          </a:p>
          <a:p>
            <a:pPr>
              <a:lnSpc>
                <a:spcPct val="150000"/>
              </a:lnSpc>
            </a:pPr>
            <a:r>
              <a:rPr lang="en-US" b="0"/>
              <a:t>Orientation</a:t>
            </a:r>
          </a:p>
          <a:p>
            <a:pPr>
              <a:lnSpc>
                <a:spcPct val="150000"/>
              </a:lnSpc>
            </a:pPr>
            <a:r>
              <a:rPr lang="en-US" b="0"/>
              <a:t>Safe area padding</a:t>
            </a:r>
          </a:p>
          <a:p>
            <a:pPr>
              <a:lnSpc>
                <a:spcPct val="150000"/>
              </a:lnSpc>
            </a:pPr>
            <a:r>
              <a:rPr lang="en-US" b="0"/>
              <a:t>Pixel density</a:t>
            </a:r>
          </a:p>
          <a:p>
            <a:pPr marL="456712" lvl="1" indent="0">
              <a:buNone/>
            </a:pPr>
            <a:endParaRPr lang="en-US" b="0"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D4D23-56B3-A831-BD4E-4EC1C4880C27}"/>
              </a:ext>
            </a:extLst>
          </p:cNvPr>
          <p:cNvSpPr txBox="1"/>
          <p:nvPr/>
        </p:nvSpPr>
        <p:spPr>
          <a:xfrm>
            <a:off x="4707467" y="2908068"/>
            <a:ext cx="6084711" cy="24607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6712" lvl="1">
              <a:lnSpc>
                <a:spcPct val="200000"/>
              </a:lnSpc>
            </a:pPr>
            <a:r>
              <a:rPr 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Code demo: </a:t>
            </a:r>
          </a:p>
          <a:p>
            <a:pPr marL="456712" lvl="1">
              <a:lnSpc>
                <a:spcPct val="20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final width = MediaQuery.of(context).size.width;</a:t>
            </a:r>
          </a:p>
          <a:p>
            <a:pPr marL="456712" lvl="1">
              <a:lnSpc>
                <a:spcPct val="20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final height = MediaQuery.of(context).size.height;</a:t>
            </a:r>
          </a:p>
          <a:p>
            <a:pPr marL="456712" lvl="1">
              <a:lnSpc>
                <a:spcPct val="200000"/>
              </a:lnSpc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Using Breakpoints</a:t>
            </a:r>
            <a:endParaRPr sz="32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47DA60-69EB-ADD8-DAB9-18D8E2757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011" y="1639455"/>
            <a:ext cx="4770967" cy="266646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Breakpoints help define layout logic.</a:t>
            </a:r>
          </a:p>
          <a:p>
            <a:r>
              <a:rPr lang="en-US" b="0"/>
              <a:t>Example Rule:</a:t>
            </a:r>
          </a:p>
          <a:p>
            <a:pPr lvl="1"/>
            <a:r>
              <a:rPr lang="en-US" b="0"/>
              <a:t>&lt; 400px → Small layout</a:t>
            </a:r>
          </a:p>
          <a:p>
            <a:pPr lvl="1"/>
            <a:r>
              <a:rPr lang="en-US" b="0"/>
              <a:t>400–800px → Medium layout</a:t>
            </a:r>
          </a:p>
          <a:p>
            <a:pPr lvl="1"/>
            <a:r>
              <a:rPr lang="en-US" b="0"/>
              <a:t>800px → Large layout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068F3-478D-71D5-1454-5030C074C7DA}"/>
              </a:ext>
            </a:extLst>
          </p:cNvPr>
          <p:cNvSpPr txBox="1"/>
          <p:nvPr/>
        </p:nvSpPr>
        <p:spPr>
          <a:xfrm>
            <a:off x="1456268" y="4498865"/>
            <a:ext cx="4560710" cy="1697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if (width &lt; 400) return SmallLayout();</a:t>
            </a:r>
          </a:p>
          <a:p>
            <a:pPr>
              <a:lnSpc>
                <a:spcPct val="150000"/>
              </a:lnSpc>
            </a:pPr>
            <a:r>
              <a:rPr lang="en-US"/>
              <a:t>else if (width &lt; 800) return MediumLayout();</a:t>
            </a:r>
          </a:p>
          <a:p>
            <a:pPr>
              <a:lnSpc>
                <a:spcPct val="150000"/>
              </a:lnSpc>
            </a:pPr>
            <a:r>
              <a:rPr lang="en-US"/>
              <a:t>return LargeLayout();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095D59-4BC9-7809-A8E8-0E4152747974}"/>
              </a:ext>
            </a:extLst>
          </p:cNvPr>
          <p:cNvSpPr txBox="1"/>
          <p:nvPr/>
        </p:nvSpPr>
        <p:spPr>
          <a:xfrm>
            <a:off x="6528505" y="2023293"/>
            <a:ext cx="4417483" cy="4377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/>
              <a:t>Widget build(BuildContext context) {</a:t>
            </a:r>
          </a:p>
          <a:p>
            <a:pPr>
              <a:lnSpc>
                <a:spcPct val="120000"/>
              </a:lnSpc>
            </a:pPr>
            <a:r>
              <a:rPr lang="en-US"/>
              <a:t>  final w = MediaQuery.of(context).size.width;</a:t>
            </a:r>
          </a:p>
          <a:p>
            <a:pPr>
              <a:lnSpc>
                <a:spcPct val="120000"/>
              </a:lnSpc>
            </a:pPr>
            <a:r>
              <a:rPr lang="en-US"/>
              <a:t>  return Scaffold(</a:t>
            </a:r>
          </a:p>
          <a:p>
            <a:pPr>
              <a:lnSpc>
                <a:spcPct val="120000"/>
              </a:lnSpc>
            </a:pPr>
            <a:r>
              <a:rPr lang="en-US"/>
              <a:t>    body: Center(</a:t>
            </a:r>
          </a:p>
          <a:p>
            <a:pPr>
              <a:lnSpc>
                <a:spcPct val="120000"/>
              </a:lnSpc>
            </a:pPr>
            <a:r>
              <a:rPr lang="en-US"/>
              <a:t>      child: Text(</a:t>
            </a:r>
          </a:p>
          <a:p>
            <a:pPr>
              <a:lnSpc>
                <a:spcPct val="120000"/>
              </a:lnSpc>
            </a:pPr>
            <a:r>
              <a:rPr lang="en-US"/>
              <a:t>        w &lt; 600 ? "Mobile Layout" : "Tablet Layout",</a:t>
            </a:r>
          </a:p>
          <a:p>
            <a:pPr>
              <a:lnSpc>
                <a:spcPct val="120000"/>
              </a:lnSpc>
            </a:pPr>
            <a:r>
              <a:rPr lang="en-US"/>
              <a:t>        style: TextStyle(fontSize: 24),</a:t>
            </a:r>
          </a:p>
          <a:p>
            <a:pPr>
              <a:lnSpc>
                <a:spcPct val="120000"/>
              </a:lnSpc>
            </a:pPr>
            <a:r>
              <a:rPr lang="en-US"/>
              <a:t>      ),</a:t>
            </a:r>
          </a:p>
          <a:p>
            <a:pPr>
              <a:lnSpc>
                <a:spcPct val="120000"/>
              </a:lnSpc>
            </a:pPr>
            <a:r>
              <a:rPr lang="en-US"/>
              <a:t>    ),</a:t>
            </a:r>
          </a:p>
          <a:p>
            <a:pPr>
              <a:lnSpc>
                <a:spcPct val="120000"/>
              </a:lnSpc>
            </a:pPr>
            <a:r>
              <a:rPr lang="en-US"/>
              <a:t>  );</a:t>
            </a:r>
          </a:p>
          <a:p>
            <a:pPr>
              <a:lnSpc>
                <a:spcPct val="120000"/>
              </a:lnSpc>
            </a:pPr>
            <a:r>
              <a:rPr lang="en-US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2CC09-801C-7FC2-3701-C1E7E82CDD5F}"/>
              </a:ext>
            </a:extLst>
          </p:cNvPr>
          <p:cNvSpPr txBox="1"/>
          <p:nvPr/>
        </p:nvSpPr>
        <p:spPr>
          <a:xfrm>
            <a:off x="6528505" y="1600731"/>
            <a:ext cx="4455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Demo (Runnable):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LayoutBuilder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6B8DC-96C6-F88D-58B4-D0637D199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446" y="1600731"/>
            <a:ext cx="8415666" cy="566736"/>
          </a:xfrm>
        </p:spPr>
        <p:txBody>
          <a:bodyPr/>
          <a:lstStyle/>
          <a:p>
            <a:r>
              <a:rPr lang="en-US"/>
              <a:t>LayoutBuilder gives parent constraints, not full screen size.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6B89B-988C-9501-E7EF-04AD42C358F5}"/>
              </a:ext>
            </a:extLst>
          </p:cNvPr>
          <p:cNvSpPr txBox="1"/>
          <p:nvPr/>
        </p:nvSpPr>
        <p:spPr>
          <a:xfrm>
            <a:off x="1586086" y="2864698"/>
            <a:ext cx="4572000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LayoutBuilder(</a:t>
            </a:r>
          </a:p>
          <a:p>
            <a:pPr>
              <a:lnSpc>
                <a:spcPct val="150000"/>
              </a:lnSpc>
            </a:pPr>
            <a:r>
              <a:rPr lang="en-US"/>
              <a:t>  builder: (context, c) {</a:t>
            </a:r>
          </a:p>
          <a:p>
            <a:pPr>
              <a:lnSpc>
                <a:spcPct val="150000"/>
              </a:lnSpc>
            </a:pPr>
            <a:r>
              <a:rPr lang="en-US"/>
              <a:t>    return c.maxWidth &gt; 500</a:t>
            </a:r>
          </a:p>
          <a:p>
            <a:pPr>
              <a:lnSpc>
                <a:spcPct val="150000"/>
              </a:lnSpc>
            </a:pPr>
            <a:r>
              <a:rPr lang="en-US"/>
              <a:t>      ? WideCard()</a:t>
            </a:r>
          </a:p>
          <a:p>
            <a:pPr>
              <a:lnSpc>
                <a:spcPct val="150000"/>
              </a:lnSpc>
            </a:pPr>
            <a:r>
              <a:rPr lang="en-US"/>
              <a:t>      : NarrowCard();</a:t>
            </a:r>
          </a:p>
          <a:p>
            <a:pPr>
              <a:lnSpc>
                <a:spcPct val="150000"/>
              </a:lnSpc>
            </a:pPr>
            <a:r>
              <a:rPr lang="en-US"/>
              <a:t>  },</a:t>
            </a:r>
          </a:p>
          <a:p>
            <a:pPr>
              <a:lnSpc>
                <a:spcPct val="150000"/>
              </a:lnSpc>
            </a:pPr>
            <a:r>
              <a:rPr lang="en-US"/>
              <a:t>);</a:t>
            </a:r>
          </a:p>
          <a:p>
            <a:pPr>
              <a:lnSpc>
                <a:spcPct val="150000"/>
              </a:lnSpc>
            </a:pPr>
            <a:endParaRPr lang="en-US"/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E1231-7C35-A534-DE01-1DC34F8CC366}"/>
              </a:ext>
            </a:extLst>
          </p:cNvPr>
          <p:cNvSpPr txBox="1"/>
          <p:nvPr/>
        </p:nvSpPr>
        <p:spPr>
          <a:xfrm>
            <a:off x="6683021" y="2819542"/>
            <a:ext cx="4718757" cy="3775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LayoutBuilder(</a:t>
            </a:r>
          </a:p>
          <a:p>
            <a:pPr>
              <a:lnSpc>
                <a:spcPct val="150000"/>
              </a:lnSpc>
            </a:pPr>
            <a:r>
              <a:rPr lang="en-US"/>
              <a:t>  builder: (context, c) {</a:t>
            </a:r>
          </a:p>
          <a:p>
            <a:pPr>
              <a:lnSpc>
                <a:spcPct val="150000"/>
              </a:lnSpc>
            </a:pPr>
            <a:r>
              <a:rPr lang="en-US"/>
              <a:t>    return Container(</a:t>
            </a:r>
          </a:p>
          <a:p>
            <a:pPr>
              <a:lnSpc>
                <a:spcPct val="150000"/>
              </a:lnSpc>
            </a:pPr>
            <a:r>
              <a:rPr lang="en-US"/>
              <a:t>      color: c.maxWidth &gt; 300 ? Colors.blue 	: Colors.red,</a:t>
            </a:r>
          </a:p>
          <a:p>
            <a:pPr>
              <a:lnSpc>
                <a:spcPct val="150000"/>
              </a:lnSpc>
            </a:pPr>
            <a:r>
              <a:rPr lang="en-US"/>
              <a:t>      height: 120,</a:t>
            </a:r>
          </a:p>
          <a:p>
            <a:pPr>
              <a:lnSpc>
                <a:spcPct val="150000"/>
              </a:lnSpc>
            </a:pPr>
            <a:r>
              <a:rPr lang="en-US"/>
              <a:t>    );</a:t>
            </a:r>
          </a:p>
          <a:p>
            <a:pPr>
              <a:lnSpc>
                <a:spcPct val="150000"/>
              </a:lnSpc>
            </a:pPr>
            <a:r>
              <a:rPr lang="en-US"/>
              <a:t>  },</a:t>
            </a:r>
          </a:p>
          <a:p>
            <a:pPr>
              <a:lnSpc>
                <a:spcPct val="150000"/>
              </a:lnSpc>
            </a:pPr>
            <a:r>
              <a:rPr lang="en-US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3F0B4-52E2-39EC-5BBE-3FD4E8E2E6DA}"/>
              </a:ext>
            </a:extLst>
          </p:cNvPr>
          <p:cNvSpPr txBox="1"/>
          <p:nvPr/>
        </p:nvSpPr>
        <p:spPr>
          <a:xfrm>
            <a:off x="6592710" y="244169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Code example: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1C79C-60D3-5601-333D-A390DC7B3D95}"/>
              </a:ext>
            </a:extLst>
          </p:cNvPr>
          <p:cNvSpPr txBox="1"/>
          <p:nvPr/>
        </p:nvSpPr>
        <p:spPr>
          <a:xfrm>
            <a:off x="1586086" y="24022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Code Example:</a:t>
            </a:r>
          </a:p>
        </p:txBody>
      </p:sp>
    </p:spTree>
    <p:extLst>
      <p:ext uri="{BB962C8B-B14F-4D97-AF65-F5344CB8AC3E}">
        <p14:creationId xmlns:p14="http://schemas.microsoft.com/office/powerpoint/2010/main" val="2682661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OrientationBuilder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844" y="1600731"/>
            <a:ext cx="10408356" cy="5116158"/>
          </a:xfrm>
        </p:spPr>
        <p:txBody>
          <a:bodyPr/>
          <a:lstStyle/>
          <a:p>
            <a:r>
              <a:rPr lang="en-US"/>
              <a:t>Detects device rotation.</a:t>
            </a:r>
          </a:p>
          <a:p>
            <a:endParaRPr lang="en-US"/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r>
              <a:rPr lang="en-US"/>
              <a:t>Demo:</a:t>
            </a:r>
          </a:p>
          <a:p>
            <a:pPr lvl="1"/>
            <a:r>
              <a:rPr lang="en-US" b="0"/>
              <a:t>Portrait: list</a:t>
            </a:r>
          </a:p>
          <a:p>
            <a:pPr lvl="1"/>
            <a:r>
              <a:rPr lang="en-US" b="0"/>
              <a:t>Landscape: two-column layout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BE231-7F9F-2C3F-678B-B32E48DDDBC3}"/>
              </a:ext>
            </a:extLst>
          </p:cNvPr>
          <p:cNvSpPr txBox="1"/>
          <p:nvPr/>
        </p:nvSpPr>
        <p:spPr>
          <a:xfrm>
            <a:off x="2746122" y="2387727"/>
            <a:ext cx="558507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OrientationBuilder(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builder: (context, orientation) {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orientation == Orientation.portrait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? PortraitUI()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: LandscapeUI();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},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7419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50" y="327379"/>
            <a:ext cx="8229600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Responsive Widgets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682C-BEE4-D001-B8E3-F6A41946F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402" y="1524001"/>
            <a:ext cx="8133442" cy="2856089"/>
          </a:xfrm>
        </p:spPr>
        <p:txBody>
          <a:bodyPr/>
          <a:lstStyle/>
          <a:p>
            <a:pPr marL="456712" lvl="1" indent="0">
              <a:buNone/>
            </a:pPr>
            <a:endParaRPr lang="en-US" b="0"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13D80-A0A3-EB70-8F07-A13456918A85}"/>
              </a:ext>
            </a:extLst>
          </p:cNvPr>
          <p:cNvSpPr txBox="1">
            <a:spLocks/>
          </p:cNvSpPr>
          <p:nvPr/>
        </p:nvSpPr>
        <p:spPr bwMode="auto">
          <a:xfrm>
            <a:off x="1591735" y="16764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Useful widgets:</a:t>
            </a:r>
          </a:p>
          <a:p>
            <a:pPr>
              <a:lnSpc>
                <a:spcPct val="150000"/>
              </a:lnSpc>
            </a:pPr>
            <a:r>
              <a:rPr lang="en-US" b="0"/>
              <a:t>Expanded – prevents overflow</a:t>
            </a:r>
          </a:p>
          <a:p>
            <a:pPr>
              <a:lnSpc>
                <a:spcPct val="150000"/>
              </a:lnSpc>
            </a:pPr>
            <a:r>
              <a:rPr lang="en-US" b="0"/>
              <a:t>Flexible – controls how a child flexes within a Row or Column</a:t>
            </a:r>
          </a:p>
          <a:p>
            <a:pPr>
              <a:lnSpc>
                <a:spcPct val="150000"/>
              </a:lnSpc>
            </a:pPr>
            <a:r>
              <a:rPr lang="en-US" b="0"/>
              <a:t>Wrap – auto line wrapping</a:t>
            </a:r>
          </a:p>
          <a:p>
            <a:pPr>
              <a:lnSpc>
                <a:spcPct val="150000"/>
              </a:lnSpc>
            </a:pPr>
            <a:r>
              <a:rPr lang="en-US" b="0"/>
              <a:t>AspectRatio – avoids image stretching</a:t>
            </a:r>
          </a:p>
          <a:p>
            <a:pPr>
              <a:lnSpc>
                <a:spcPct val="150000"/>
              </a:lnSpc>
            </a:pPr>
            <a:r>
              <a:rPr lang="en-US" b="0"/>
              <a:t>FractionallySizedBox – percent-based size</a:t>
            </a:r>
          </a:p>
          <a:p>
            <a:pPr>
              <a:lnSpc>
                <a:spcPct val="150000"/>
              </a:lnSpc>
            </a:pPr>
            <a:r>
              <a:rPr lang="en-US" b="0"/>
              <a:t>GridView – multi-column responsive layout</a:t>
            </a:r>
            <a:endParaRPr lang="en-US"/>
          </a:p>
          <a:p>
            <a:pPr lvl="1">
              <a:buFont typeface="Arial" pitchFamily="34" charset="0"/>
              <a:buChar char="•"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Responsive GridView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456268"/>
            <a:ext cx="9093005" cy="5159022"/>
          </a:xfrm>
        </p:spPr>
        <p:txBody>
          <a:bodyPr/>
          <a:lstStyle/>
          <a:p>
            <a:r>
              <a:rPr lang="en-US" sz="2400" b="0"/>
              <a:t>GridView allows building scrollable grids that automatically adapt to screen width by adjusting the number of columns.</a:t>
            </a:r>
          </a:p>
          <a:p>
            <a:r>
              <a:rPr lang="en-US" sz="2400" b="0"/>
              <a:t>Code Example: </a:t>
            </a:r>
          </a:p>
          <a:p>
            <a:pPr marL="800079" lvl="2" indent="0">
              <a:buNone/>
            </a:pPr>
            <a:r>
              <a:rPr lang="en-US" sz="2400" b="0"/>
              <a:t>GridView.count(</a:t>
            </a:r>
          </a:p>
          <a:p>
            <a:pPr marL="800079" lvl="2" indent="0">
              <a:buNone/>
            </a:pPr>
            <a:r>
              <a:rPr lang="en-US" sz="2400" b="0"/>
              <a:t>		crossAxisCount: width &lt; 600 ? 2 : 4,</a:t>
            </a:r>
          </a:p>
          <a:p>
            <a:pPr marL="800079" lvl="2" indent="0">
              <a:buNone/>
            </a:pPr>
            <a:r>
              <a:rPr lang="en-US" sz="2400" b="0"/>
              <a:t>);</a:t>
            </a:r>
          </a:p>
          <a:p>
            <a:r>
              <a:rPr lang="en-US" sz="2400" b="0"/>
              <a:t>Mobile: 2 columns</a:t>
            </a:r>
          </a:p>
          <a:p>
            <a:r>
              <a:rPr lang="en-US" sz="2400" b="0"/>
              <a:t>Tablet: 3–4 columns</a:t>
            </a:r>
          </a:p>
          <a:p>
            <a:r>
              <a:rPr lang="en-US" sz="2400" b="0"/>
              <a:t>Desktop: 5–6 columns</a:t>
            </a:r>
          </a:p>
          <a:p>
            <a:pPr marL="0" indent="0">
              <a:buNone/>
            </a:pPr>
            <a:r>
              <a:rPr lang="en-US" sz="2000" b="0"/>
              <a:t>	</a:t>
            </a:r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SafeArea &amp; Modern Devices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333" y="1609727"/>
            <a:ext cx="9290756" cy="4881384"/>
          </a:xfrm>
        </p:spPr>
        <p:txBody>
          <a:bodyPr/>
          <a:lstStyle/>
          <a:p>
            <a:r>
              <a:rPr lang="en-US" sz="2400" b="0"/>
              <a:t>Dynamic Island / notches / curved screens</a:t>
            </a:r>
            <a:br>
              <a:rPr lang="en-US" sz="2400" b="0"/>
            </a:br>
            <a:r>
              <a:rPr lang="en-US" sz="2400" b="0"/>
              <a:t>→ Some space cannot be used.</a:t>
            </a:r>
          </a:p>
          <a:p>
            <a:r>
              <a:rPr lang="en-US" sz="2400" b="0"/>
              <a:t>Use: </a:t>
            </a:r>
          </a:p>
          <a:p>
            <a:pPr marL="0" indent="0">
              <a:buNone/>
            </a:pPr>
            <a:r>
              <a:rPr lang="en-US" sz="2400" b="0"/>
              <a:t>	SafeArea(child: ...)</a:t>
            </a:r>
          </a:p>
          <a:p>
            <a:pPr>
              <a:defRPr sz="1800"/>
            </a:pPr>
            <a:endParaRPr lang="en-US" b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E5536-947B-8C38-ECE1-03DD8D42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734" y="3429001"/>
            <a:ext cx="3736623" cy="308295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F7337C-B491-C435-E3CB-8131E999B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756" y="3438172"/>
            <a:ext cx="3903476" cy="30529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Real Case Study: Genre Screen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1468" y="1408969"/>
            <a:ext cx="9163536" cy="5353226"/>
          </a:xfrm>
        </p:spPr>
        <p:txBody>
          <a:bodyPr/>
          <a:lstStyle/>
          <a:p>
            <a:r>
              <a:rPr lang="en-US"/>
              <a:t>We now apply all concepts to a real UI </a:t>
            </a:r>
            <a:r>
              <a:rPr lang="en-US" sz="2000" b="0"/>
              <a:t>		</a:t>
            </a:r>
          </a:p>
          <a:p>
            <a:endParaRPr lang="en-US" sz="2000" b="0"/>
          </a:p>
          <a:p>
            <a:endParaRPr lang="en-US" sz="2000" b="0"/>
          </a:p>
          <a:p>
            <a:pPr marL="0" indent="0">
              <a:buNone/>
              <a:defRPr sz="1800"/>
            </a:pPr>
            <a:endParaRPr b="0"/>
          </a:p>
        </p:txBody>
      </p:sp>
      <p:pic>
        <p:nvPicPr>
          <p:cNvPr id="5" name="Picture 4" descr="A diagram of a product&#10;&#10;AI-generated content may be incorrect.">
            <a:extLst>
              <a:ext uri="{FF2B5EF4-FFF2-40B4-BE49-F238E27FC236}">
                <a16:creationId xmlns:a16="http://schemas.microsoft.com/office/drawing/2014/main" id="{696AFD17-0021-B0F4-0B3D-24F0B167D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491" y="2110347"/>
            <a:ext cx="6539666" cy="46518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Responsive Search Bar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5669" y="1600730"/>
            <a:ext cx="3911398" cy="2214914"/>
          </a:xfrm>
        </p:spPr>
        <p:txBody>
          <a:bodyPr/>
          <a:lstStyle/>
          <a:p>
            <a:r>
              <a:rPr lang="en-US" sz="2400" b="0"/>
              <a:t>Key behaviors:</a:t>
            </a:r>
          </a:p>
          <a:p>
            <a:pPr lvl="1"/>
            <a:r>
              <a:rPr lang="en-US" b="0"/>
              <a:t>Full width</a:t>
            </a:r>
          </a:p>
          <a:p>
            <a:pPr lvl="1"/>
            <a:r>
              <a:rPr lang="en-US" b="0"/>
              <a:t>Padded for large screens</a:t>
            </a:r>
          </a:p>
          <a:p>
            <a:pPr lvl="1"/>
            <a:r>
              <a:rPr lang="en-US" b="0"/>
              <a:t>Wrapped in SafeArea</a:t>
            </a:r>
          </a:p>
          <a:p>
            <a:r>
              <a:rPr lang="en-US"/>
              <a:t>Mini Code:</a:t>
            </a:r>
            <a:endParaRPr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F7E8F-AE54-969D-AFF3-BC226595582E}"/>
              </a:ext>
            </a:extLst>
          </p:cNvPr>
          <p:cNvSpPr txBox="1"/>
          <p:nvPr/>
        </p:nvSpPr>
        <p:spPr>
          <a:xfrm>
            <a:off x="1693334" y="3965694"/>
            <a:ext cx="5915377" cy="187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Container(</a:t>
            </a:r>
          </a:p>
          <a:p>
            <a:pPr>
              <a:lnSpc>
                <a:spcPct val="150000"/>
              </a:lnSpc>
            </a:pPr>
            <a:r>
              <a:rPr lang="en-US" sz="2000"/>
              <a:t>  padding:  EdgeInsets.symmetric(horizontal: 16),</a:t>
            </a:r>
          </a:p>
          <a:p>
            <a:pPr>
              <a:lnSpc>
                <a:spcPct val="150000"/>
              </a:lnSpc>
            </a:pPr>
            <a:r>
              <a:rPr lang="en-US" sz="2000"/>
              <a:t>  child: TextField(...),</a:t>
            </a:r>
          </a:p>
          <a:p>
            <a:pPr>
              <a:lnSpc>
                <a:spcPct val="150000"/>
              </a:lnSpc>
            </a:pPr>
            <a:r>
              <a:rPr lang="en-US" sz="2000"/>
              <a:t>)</a:t>
            </a: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5C4D5080-AF13-CDC2-E9A9-8C3C79876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903" y="1326504"/>
            <a:ext cx="2578428" cy="50404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Genre Chips (Collapsed State)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531" y="1561279"/>
            <a:ext cx="5525710" cy="18140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Use the Wrap widget to ensure chips automatically flow to the next line when horizontal space is insufficient:</a:t>
            </a:r>
          </a:p>
          <a:p>
            <a:pPr>
              <a:lnSpc>
                <a:spcPct val="150000"/>
              </a:lnSpc>
              <a:defRPr sz="1800"/>
            </a:pPr>
            <a:endParaRPr lang="en-US" sz="24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30D51-B38B-E342-E7DA-9E94D697931C}"/>
              </a:ext>
            </a:extLst>
          </p:cNvPr>
          <p:cNvSpPr txBox="1"/>
          <p:nvPr/>
        </p:nvSpPr>
        <p:spPr>
          <a:xfrm>
            <a:off x="1755418" y="3598335"/>
            <a:ext cx="4995333" cy="21133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Wrap(</a:t>
            </a:r>
          </a:p>
          <a:p>
            <a:pPr>
              <a:lnSpc>
                <a:spcPct val="150000"/>
              </a:lnSpc>
            </a:pPr>
            <a:r>
              <a:rPr lang="en-US"/>
              <a:t>  spacing: 8,</a:t>
            </a:r>
          </a:p>
          <a:p>
            <a:pPr>
              <a:lnSpc>
                <a:spcPct val="150000"/>
              </a:lnSpc>
            </a:pPr>
            <a:r>
              <a:rPr lang="en-US"/>
              <a:t>  runSpacing: 8,</a:t>
            </a:r>
          </a:p>
          <a:p>
            <a:pPr>
              <a:lnSpc>
                <a:spcPct val="150000"/>
              </a:lnSpc>
            </a:pPr>
            <a:r>
              <a:rPr lang="en-US"/>
              <a:t>  children: genres.map(_buildChip).toList(),</a:t>
            </a:r>
          </a:p>
          <a:p>
            <a:pPr>
              <a:lnSpc>
                <a:spcPct val="150000"/>
              </a:lnSpc>
            </a:pPr>
            <a:r>
              <a:rPr lang="en-US"/>
              <a:t>)</a:t>
            </a:r>
          </a:p>
        </p:txBody>
      </p:sp>
      <p:pic>
        <p:nvPicPr>
          <p:cNvPr id="8" name="Picture 7" descr="A black cell phone with white screen&#10;&#10;AI-generated content may be incorrect.">
            <a:extLst>
              <a:ext uri="{FF2B5EF4-FFF2-40B4-BE49-F238E27FC236}">
                <a16:creationId xmlns:a16="http://schemas.microsoft.com/office/drawing/2014/main" id="{99831EC7-3EF4-0B45-2D9B-43C681050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399" y="1470319"/>
            <a:ext cx="2613579" cy="492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Genre Chips (Expanded State)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53BB-EFE2-D15F-5FCB-9DECDC5B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928" y="1815219"/>
            <a:ext cx="3894667" cy="4749270"/>
          </a:xfrm>
        </p:spPr>
        <p:txBody>
          <a:bodyPr/>
          <a:lstStyle/>
          <a:p>
            <a:pPr>
              <a:defRPr sz="1800"/>
            </a:pPr>
            <a:r>
              <a:rPr lang="en-US" sz="2400" b="0"/>
              <a:t>Chips wrap automatically</a:t>
            </a:r>
          </a:p>
          <a:p>
            <a:pPr>
              <a:defRPr sz="1800"/>
            </a:pPr>
            <a:r>
              <a:rPr lang="en-US" sz="2400" b="0"/>
              <a:t>More space → more chips per row</a:t>
            </a:r>
          </a:p>
          <a:p>
            <a:pPr>
              <a:defRPr sz="1800"/>
            </a:pPr>
            <a:r>
              <a:rPr lang="en-US" sz="2400" b="0"/>
              <a:t>Less space → fewer chips per row</a:t>
            </a:r>
          </a:p>
          <a:p>
            <a:pPr>
              <a:defRPr sz="1800"/>
            </a:pPr>
            <a:r>
              <a:rPr lang="en-US" sz="2400" b="0"/>
              <a:t>This behavior is achieved automatically by using Wrap, without conditional logic.</a:t>
            </a:r>
          </a:p>
        </p:txBody>
      </p:sp>
      <p:pic>
        <p:nvPicPr>
          <p:cNvPr id="8" name="Picture 7" descr="A black cell phone with a black screen&#10;&#10;AI-generated content may be incorrect.">
            <a:extLst>
              <a:ext uri="{FF2B5EF4-FFF2-40B4-BE49-F238E27FC236}">
                <a16:creationId xmlns:a16="http://schemas.microsoft.com/office/drawing/2014/main" id="{F45DD38F-B23A-F23A-4864-7888F599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1747485"/>
            <a:ext cx="2260051" cy="4769556"/>
          </a:xfrm>
          <a:prstGeom prst="rect">
            <a:avLst/>
          </a:prstGeom>
        </p:spPr>
      </p:pic>
      <p:pic>
        <p:nvPicPr>
          <p:cNvPr id="10" name="Picture 9" descr="A black cell phone with a black screen&#10;&#10;AI-generated content may be incorrect.">
            <a:extLst>
              <a:ext uri="{FF2B5EF4-FFF2-40B4-BE49-F238E27FC236}">
                <a16:creationId xmlns:a16="http://schemas.microsoft.com/office/drawing/2014/main" id="{81C98D3A-6F0C-0353-463B-BA02B6EBC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3326" y="1805076"/>
            <a:ext cx="2260052" cy="47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Sort Dropdown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520" y="1425633"/>
            <a:ext cx="5482457" cy="1385301"/>
          </a:xfrm>
        </p:spPr>
        <p:txBody>
          <a:bodyPr/>
          <a:lstStyle/>
          <a:p>
            <a:r>
              <a:rPr lang="en-US" sz="2400" b="0"/>
              <a:t>Sorting options include A–Z, Z–A, Rating, and Year.</a:t>
            </a:r>
          </a:p>
          <a:p>
            <a:r>
              <a:rPr lang="en-US" b="0"/>
              <a:t>Code Snippet:</a:t>
            </a:r>
          </a:p>
          <a:p>
            <a:endParaRPr lang="en-US" b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/>
              <a:t>	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D7DDA-83C8-A7FE-9DD2-30D983438EFE}"/>
              </a:ext>
            </a:extLst>
          </p:cNvPr>
          <p:cNvSpPr txBox="1"/>
          <p:nvPr/>
        </p:nvSpPr>
        <p:spPr>
          <a:xfrm>
            <a:off x="2111022" y="2910064"/>
            <a:ext cx="4667956" cy="2528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DropdownButton(</a:t>
            </a:r>
          </a:p>
          <a:p>
            <a:pPr>
              <a:lnSpc>
                <a:spcPct val="150000"/>
              </a:lnSpc>
            </a:pPr>
            <a:r>
              <a:rPr lang="en-US"/>
              <a:t>  value: selectedSort,</a:t>
            </a:r>
          </a:p>
          <a:p>
            <a:pPr>
              <a:lnSpc>
                <a:spcPct val="150000"/>
              </a:lnSpc>
            </a:pPr>
            <a:r>
              <a:rPr lang="en-US"/>
              <a:t>  items: [...],</a:t>
            </a:r>
          </a:p>
          <a:p>
            <a:pPr>
              <a:lnSpc>
                <a:spcPct val="150000"/>
              </a:lnSpc>
            </a:pPr>
            <a:r>
              <a:rPr lang="en-US"/>
              <a:t>  onChanged: (v) =&gt; setState(() =&gt; selectedSort = v!),</a:t>
            </a:r>
          </a:p>
          <a:p>
            <a:pPr>
              <a:lnSpc>
                <a:spcPct val="150000"/>
              </a:lnSpc>
            </a:pPr>
            <a:r>
              <a:rPr lang="en-US"/>
              <a:t>)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6AC7881A-6948-9CA1-7A52-1943BA7B3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423" y="1318328"/>
            <a:ext cx="2790056" cy="48993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Responsive Movie Card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29A1B08A-3E1F-E2B4-C2D6-2DBA14F21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503" y="1839836"/>
            <a:ext cx="2564674" cy="444211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B8FE2A-FAD4-9F6D-0813-759569A04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2" y="1567604"/>
            <a:ext cx="5491843" cy="487713"/>
          </a:xfrm>
        </p:spPr>
        <p:txBody>
          <a:bodyPr/>
          <a:lstStyle/>
          <a:p>
            <a:r>
              <a:rPr lang="en-US"/>
              <a:t>Code Snippet:</a:t>
            </a:r>
            <a:endParaRPr 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42992-C2AB-5BE0-34D4-EB16022545E8}"/>
              </a:ext>
            </a:extLst>
          </p:cNvPr>
          <p:cNvSpPr txBox="1"/>
          <p:nvPr/>
        </p:nvSpPr>
        <p:spPr>
          <a:xfrm>
            <a:off x="1591732" y="2197360"/>
            <a:ext cx="6299201" cy="40454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/>
              <a:t>LayoutBuilder(</a:t>
            </a:r>
          </a:p>
          <a:p>
            <a:pPr>
              <a:lnSpc>
                <a:spcPct val="120000"/>
              </a:lnSpc>
            </a:pPr>
            <a:r>
              <a:rPr lang="en-US"/>
              <a:t>  builder: (context, c) {</a:t>
            </a:r>
          </a:p>
          <a:p>
            <a:pPr>
              <a:lnSpc>
                <a:spcPct val="120000"/>
              </a:lnSpc>
            </a:pPr>
            <a:r>
              <a:rPr lang="en-US"/>
              <a:t>    final isWide = c.maxWidth &gt; 600;</a:t>
            </a:r>
          </a:p>
          <a:p>
            <a:pPr>
              <a:lnSpc>
                <a:spcPct val="120000"/>
              </a:lnSpc>
            </a:pPr>
            <a:r>
              <a:rPr lang="en-US"/>
              <a:t>    return Row(</a:t>
            </a:r>
          </a:p>
          <a:p>
            <a:pPr>
              <a:lnSpc>
                <a:spcPct val="120000"/>
              </a:lnSpc>
            </a:pPr>
            <a:r>
              <a:rPr lang="en-US"/>
              <a:t>      children: [</a:t>
            </a:r>
          </a:p>
          <a:p>
            <a:pPr>
              <a:lnSpc>
                <a:spcPct val="120000"/>
              </a:lnSpc>
            </a:pPr>
            <a:r>
              <a:rPr lang="en-US"/>
              <a:t>        Image.network(poster, width: isWide ? 150 : 100),</a:t>
            </a:r>
          </a:p>
          <a:p>
            <a:pPr>
              <a:lnSpc>
                <a:spcPct val="120000"/>
              </a:lnSpc>
            </a:pPr>
            <a:r>
              <a:rPr lang="en-US"/>
              <a:t>        SizedBox(width: 16),</a:t>
            </a:r>
          </a:p>
          <a:p>
            <a:pPr>
              <a:lnSpc>
                <a:spcPct val="120000"/>
              </a:lnSpc>
            </a:pPr>
            <a:r>
              <a:rPr lang="en-US"/>
              <a:t>        Expanded(child: Text(title))</a:t>
            </a:r>
          </a:p>
          <a:p>
            <a:pPr>
              <a:lnSpc>
                <a:spcPct val="120000"/>
              </a:lnSpc>
            </a:pPr>
            <a:r>
              <a:rPr lang="en-US"/>
              <a:t>      ],</a:t>
            </a:r>
          </a:p>
          <a:p>
            <a:pPr>
              <a:lnSpc>
                <a:spcPct val="120000"/>
              </a:lnSpc>
            </a:pPr>
            <a:r>
              <a:rPr lang="en-US"/>
              <a:t>    );</a:t>
            </a:r>
          </a:p>
          <a:p>
            <a:pPr>
              <a:lnSpc>
                <a:spcPct val="120000"/>
              </a:lnSpc>
            </a:pPr>
            <a:r>
              <a:rPr lang="en-US"/>
              <a:t>  },</a:t>
            </a:r>
          </a:p>
          <a:p>
            <a:pPr>
              <a:lnSpc>
                <a:spcPct val="120000"/>
              </a:lnSpc>
            </a:pP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CFC63-9EBC-77CA-3E9E-AEE0D27E1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Completed Responsive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77EB2-8B33-B823-2103-CA4C1BA37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022" y="1600731"/>
            <a:ext cx="5429957" cy="4525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Elements included: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Responsive search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Dynamic chips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Sort menu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Responsive movie list</a:t>
            </a:r>
          </a:p>
        </p:txBody>
      </p:sp>
      <p:pic>
        <p:nvPicPr>
          <p:cNvPr id="6" name="Picture 5" descr="A screen shot of a phone&#10;&#10;AI-generated content may be incorrect.">
            <a:extLst>
              <a:ext uri="{FF2B5EF4-FFF2-40B4-BE49-F238E27FC236}">
                <a16:creationId xmlns:a16="http://schemas.microsoft.com/office/drawing/2014/main" id="{B8685569-AA69-2B61-ED5C-7A6F717B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829" y="1600730"/>
            <a:ext cx="2654771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14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654C-14A1-DE6E-8ADF-BACDBAC2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A302-035C-247F-5A91-35772209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Lab 6.1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3C77-F5E3-B086-7632-D950A40F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756" y="1442687"/>
            <a:ext cx="8559095" cy="4525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Responsive Hero Section</a:t>
            </a:r>
          </a:p>
          <a:p>
            <a:pPr>
              <a:lnSpc>
                <a:spcPct val="150000"/>
              </a:lnSpc>
            </a:pPr>
            <a:r>
              <a:rPr lang="en-US" b="0"/>
              <a:t>Students must create a responsive home banner.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Width scaling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Height scaling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Breakpoints</a:t>
            </a:r>
          </a:p>
          <a:p>
            <a:pPr lvl="1">
              <a:lnSpc>
                <a:spcPct val="150000"/>
              </a:lnSpc>
            </a:pPr>
            <a:r>
              <a:rPr lang="en-US" sz="2200" b="0"/>
              <a:t>Buttons adapt size</a:t>
            </a:r>
          </a:p>
        </p:txBody>
      </p:sp>
    </p:spTree>
    <p:extLst>
      <p:ext uri="{BB962C8B-B14F-4D97-AF65-F5344CB8AC3E}">
        <p14:creationId xmlns:p14="http://schemas.microsoft.com/office/powerpoint/2010/main" val="2398032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D7ED-7A5D-DF3E-99EB-C8C28DA0C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5DCA-1D27-B859-AE12-545AE94D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Lab 6.2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9989-5CD7-DE8B-A630-34484F7EA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648" y="1442687"/>
            <a:ext cx="8229203" cy="4525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Rebuild the Genre Screen (Figures 6.1–6.9)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/>
              <a:t>Requirements: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Responsive search bar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Wrap-based chips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Sort dropdown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Movie list responsive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Test on phone + tablet sizes</a:t>
            </a:r>
          </a:p>
        </p:txBody>
      </p:sp>
    </p:spTree>
    <p:extLst>
      <p:ext uri="{BB962C8B-B14F-4D97-AF65-F5344CB8AC3E}">
        <p14:creationId xmlns:p14="http://schemas.microsoft.com/office/powerpoint/2010/main" val="2951569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3181-3476-3253-AF85-ED463342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3FD8-C99B-865C-5163-02061625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Lab 6.3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49563-1BD5-0EC7-C28D-CA0C83C7D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022" y="1442687"/>
            <a:ext cx="8626829" cy="452569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Tablet Layout Enhancement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0"/>
              <a:t>For screens &gt; 800px: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Add sidebar filter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2-column movie list</a:t>
            </a:r>
          </a:p>
          <a:p>
            <a:pPr marL="742940" lvl="1" indent="-342900">
              <a:lnSpc>
                <a:spcPct val="150000"/>
              </a:lnSpc>
            </a:pPr>
            <a:r>
              <a:rPr lang="en-US" sz="2200" b="0"/>
              <a:t>Increased spacin</a:t>
            </a:r>
          </a:p>
        </p:txBody>
      </p:sp>
    </p:spTree>
    <p:extLst>
      <p:ext uri="{BB962C8B-B14F-4D97-AF65-F5344CB8AC3E}">
        <p14:creationId xmlns:p14="http://schemas.microsoft.com/office/powerpoint/2010/main" val="510743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710D4-378D-F2C4-26E6-CFDB9B85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E096-0A2C-9266-A15C-6EA8360B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sz="3200"/>
            </a:br>
            <a:r>
              <a:rPr lang="en-US" sz="3200"/>
              <a:t>Best Practices</a:t>
            </a:r>
            <a:br>
              <a:rPr lang="en-US" sz="3200"/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08CF3-78E8-8F18-BD36-EA0BFF57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0"/>
              <a:t>Avoid fixed values</a:t>
            </a:r>
          </a:p>
          <a:p>
            <a:pPr>
              <a:lnSpc>
                <a:spcPct val="150000"/>
              </a:lnSpc>
            </a:pPr>
            <a:r>
              <a:rPr lang="en-US" b="0"/>
              <a:t>Use constraints-aware components</a:t>
            </a:r>
          </a:p>
          <a:p>
            <a:pPr>
              <a:lnSpc>
                <a:spcPct val="150000"/>
              </a:lnSpc>
            </a:pPr>
            <a:r>
              <a:rPr lang="en-US" b="0"/>
              <a:t>Prefer Wrap over Row for long chip lists</a:t>
            </a:r>
          </a:p>
          <a:p>
            <a:pPr>
              <a:lnSpc>
                <a:spcPct val="150000"/>
              </a:lnSpc>
            </a:pPr>
            <a:r>
              <a:rPr lang="en-US" b="0"/>
              <a:t>Test often on multiple screen sizes</a:t>
            </a:r>
          </a:p>
          <a:p>
            <a:pPr>
              <a:lnSpc>
                <a:spcPct val="150000"/>
              </a:lnSpc>
            </a:pPr>
            <a:r>
              <a:rPr lang="en-US" b="0"/>
              <a:t>Use Flutter Inspector’s “Layout Explorer”</a:t>
            </a:r>
          </a:p>
        </p:txBody>
      </p:sp>
    </p:spTree>
    <p:extLst>
      <p:ext uri="{BB962C8B-B14F-4D97-AF65-F5344CB8AC3E}">
        <p14:creationId xmlns:p14="http://schemas.microsoft.com/office/powerpoint/2010/main" val="1316081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622" y="1600731"/>
            <a:ext cx="10385518" cy="45256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/>
              <a:t>Responsive vs Adaptive</a:t>
            </a:r>
          </a:p>
          <a:p>
            <a:pPr>
              <a:lnSpc>
                <a:spcPct val="150000"/>
              </a:lnSpc>
            </a:pPr>
            <a:r>
              <a:rPr lang="en-US" b="0"/>
              <a:t>MediaQuery / LayoutBuilder / OrientationBuilder</a:t>
            </a:r>
          </a:p>
          <a:p>
            <a:pPr>
              <a:lnSpc>
                <a:spcPct val="150000"/>
              </a:lnSpc>
            </a:pPr>
            <a:r>
              <a:rPr lang="en-US" b="0"/>
              <a:t>Responsive Widgets</a:t>
            </a:r>
          </a:p>
          <a:p>
            <a:pPr>
              <a:lnSpc>
                <a:spcPct val="150000"/>
              </a:lnSpc>
            </a:pPr>
            <a:r>
              <a:rPr lang="en-US" b="0"/>
              <a:t>Implemented a full responsive Genre screen</a:t>
            </a:r>
          </a:p>
          <a:p>
            <a:pPr>
              <a:lnSpc>
                <a:spcPct val="150000"/>
              </a:lnSpc>
            </a:pPr>
            <a:r>
              <a:rPr lang="en-US" b="0"/>
              <a:t>Applied GridView and Wrap techniques</a:t>
            </a:r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244" y="1600731"/>
            <a:ext cx="10204896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000" b="0"/>
              <a:t>Mastering Flutter 2025 – Ch.</a:t>
            </a:r>
            <a:r>
              <a:rPr lang="en-US" sz="2000" b="0"/>
              <a:t>5, 6</a:t>
            </a:r>
            <a:endParaRPr sz="2000" b="0"/>
          </a:p>
          <a:p>
            <a:pPr>
              <a:lnSpc>
                <a:spcPct val="150000"/>
              </a:lnSpc>
              <a:defRPr sz="1800"/>
            </a:pPr>
            <a:r>
              <a:rPr sz="2000" b="0"/>
              <a:t>docs.flutter.dev</a:t>
            </a:r>
            <a:endParaRPr lang="en-US" sz="2000" b="0"/>
          </a:p>
          <a:p>
            <a:pPr>
              <a:lnSpc>
                <a:spcPct val="150000"/>
              </a:lnSpc>
              <a:defRPr sz="1800"/>
            </a:pPr>
            <a:r>
              <a:rPr lang="en-US" sz="2000">
                <a:hlinkClick r:id="rId3"/>
              </a:rPr>
              <a:t>https://dartpad.dev</a:t>
            </a:r>
            <a:endParaRPr lang="en-US" sz="20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5069</TotalTime>
  <Words>1278</Words>
  <Application>Microsoft Office PowerPoint</Application>
  <PresentationFormat>Widescreen</PresentationFormat>
  <Paragraphs>271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Myriad Pro</vt:lpstr>
      <vt:lpstr>Tahoma</vt:lpstr>
      <vt:lpstr>Times New Roman</vt:lpstr>
      <vt:lpstr>Wingdings</vt:lpstr>
      <vt:lpstr>Theme1</vt:lpstr>
      <vt:lpstr>Module 6 - Responsive UI &amp; Adaptive Layouts</vt:lpstr>
      <vt:lpstr>Contents</vt:lpstr>
      <vt:lpstr>Why Responsive UI Matters</vt:lpstr>
      <vt:lpstr>Responsive vs Adaptive UI</vt:lpstr>
      <vt:lpstr>MediaQuery: Getting Screen Size</vt:lpstr>
      <vt:lpstr>Using Breakpoints</vt:lpstr>
      <vt:lpstr>LayoutBuilder</vt:lpstr>
      <vt:lpstr>OrientationBuilder</vt:lpstr>
      <vt:lpstr>Responsive Widgets Overview</vt:lpstr>
      <vt:lpstr>Responsive GridView</vt:lpstr>
      <vt:lpstr>SafeArea &amp; Modern Devices</vt:lpstr>
      <vt:lpstr>Real Case Study: Genre Screen</vt:lpstr>
      <vt:lpstr>Responsive Search Bar</vt:lpstr>
      <vt:lpstr>Genre Chips (Collapsed State)</vt:lpstr>
      <vt:lpstr>Genre Chips (Expanded State)</vt:lpstr>
      <vt:lpstr>Sort Dropdown</vt:lpstr>
      <vt:lpstr>Responsive Movie Card</vt:lpstr>
      <vt:lpstr>Completed Responsive Screen</vt:lpstr>
      <vt:lpstr>Lab 6.1</vt:lpstr>
      <vt:lpstr>Lab 6.2</vt:lpstr>
      <vt:lpstr>Lab 6.3</vt:lpstr>
      <vt:lpstr> Best Practices 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24</cp:revision>
  <dcterms:created xsi:type="dcterms:W3CDTF">2013-01-27T09:14:16Z</dcterms:created>
  <dcterms:modified xsi:type="dcterms:W3CDTF">2025-12-11T06:14:16Z</dcterms:modified>
  <cp:category/>
</cp:coreProperties>
</file>