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6"/>
  </p:notesMasterIdLst>
  <p:sldIdLst>
    <p:sldId id="276" r:id="rId2"/>
    <p:sldId id="275" r:id="rId3"/>
    <p:sldId id="257" r:id="rId4"/>
    <p:sldId id="306" r:id="rId5"/>
    <p:sldId id="317" r:id="rId6"/>
    <p:sldId id="260" r:id="rId7"/>
    <p:sldId id="307" r:id="rId8"/>
    <p:sldId id="308" r:id="rId9"/>
    <p:sldId id="309" r:id="rId10"/>
    <p:sldId id="310" r:id="rId11"/>
    <p:sldId id="322" r:id="rId12"/>
    <p:sldId id="311" r:id="rId13"/>
    <p:sldId id="280" r:id="rId14"/>
    <p:sldId id="323" r:id="rId15"/>
    <p:sldId id="324" r:id="rId16"/>
    <p:sldId id="325" r:id="rId17"/>
    <p:sldId id="326" r:id="rId18"/>
    <p:sldId id="327" r:id="rId19"/>
    <p:sldId id="328" r:id="rId20"/>
    <p:sldId id="329" r:id="rId21"/>
    <p:sldId id="330" r:id="rId22"/>
    <p:sldId id="316" r:id="rId23"/>
    <p:sldId id="290" r:id="rId24"/>
    <p:sldId id="274" r:id="rId25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1" autoAdjust="0"/>
    <p:restoredTop sz="81290" autoAdjust="0"/>
  </p:normalViewPr>
  <p:slideViewPr>
    <p:cSldViewPr snapToGrid="0" snapToObjects="1">
      <p:cViewPr varScale="1">
        <p:scale>
          <a:sx n="68" d="100"/>
          <a:sy n="68" d="100"/>
        </p:scale>
        <p:origin x="1248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112553-EA1B-4B29-ADCC-3A47A68A6AD6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B56F68-4D1E-40C7-852D-6D05FEA8C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323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1805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Emphasize: performance &amp; deployment are essential for “real apps”.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737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/>
              <a:t>1. What is FPS?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/>
              <a:t>FPS = Frames Per Second → the number of frames drawn on the screen in 1 second.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/>
              <a:t>60 FPS = 60 frames per second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/>
              <a:t>120 FPS = 120 frames per second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/>
              <a:t>The higher the FPS → the smoother the application.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/>
              <a:t>Flutter must finish drawing each frame within the allowed time (16.6ms or 8ms).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/>
              <a:t>If a build, layout, or paint operation takes longer, the UI stutters because frames are dropped.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7946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F10F5-E92A-BB56-693C-B253FB7B7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77D1E7-DF7F-48E1-0CBE-99DADBF698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E49D2F-1628-FA49-FE3A-5E4DA01A7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This slide provides foundational theory before optimization techniques.</a:t>
            </a:r>
            <a:endParaRPr lang="en-US" sz="1200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8B3F1D-A5C1-8CA0-65AD-91B43C5C53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6929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92799-C0A8-37BA-F00F-62A2C2175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61F04C-4F21-B844-B1BA-878F70996C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FC5FF4-5413-0544-8C12-F247D95687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BF78E7-32AD-64AA-9840-53334D9AAE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3109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DevTools provides visibility into how your app performs.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0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1232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2765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61A93-6704-3F5F-86CC-6F8D97523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E9A452-9361-B1BE-0304-01F8AA94C2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5D05AF-2DAB-806D-A870-9464309375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E2D4B-AC35-8FA2-792D-EC0A613C62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7762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3865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032D3-6ED7-A506-687D-4DCEF789F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34CA57-F93F-1288-88AA-E9C9A438D2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7E3774-CA02-6023-8AA7-4B46980EC1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F2FAA1-93B1-EC65-1D82-AA996E53A6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5990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3FF74-C224-F4B2-2EA6-1AE653EA8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226A65-8182-2794-392A-255DA5F081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DE4B41-2557-E72F-00D0-137E248D9B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DB6CE6-2868-382C-44C2-5219BE6418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2267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5186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11D6B-1699-D51B-17B8-BA1E19889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CAD44E-F29D-6C57-0FAE-3692FBCA91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1C0946-362A-CF02-5613-0BA6D8993A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37F491-AE30-F414-18BC-3AA20FD151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113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301B9-0547-EF5E-1FB8-F2951F6AE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726E0F-DA33-2949-FC0E-7C244B46DC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9CCE84-DC47-F389-3BE1-1BA0060054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/>
              <a:t>Encourage students to inspect rebuild counts using debugPrint or DevTools Rebuild Profiling</a:t>
            </a:r>
          </a:p>
          <a:p>
            <a:r>
              <a:rPr lang="en-US" b="0"/>
              <a:t>Emphasize separation of concerns (static UI vs dynamic UI)</a:t>
            </a:r>
          </a:p>
          <a:p>
            <a:r>
              <a:rPr lang="en-US" b="0"/>
              <a:t>This optimization pattern applies to all real Flutter apps using lists</a:t>
            </a:r>
          </a:p>
          <a:p>
            <a:r>
              <a:rPr lang="en-US" b="0"/>
              <a:t>Use Demo 12.1 as the “model pattern” for later performance labs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A4AA7-A609-E4B5-402D-E4688E3387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0640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90B35-B076-B5BB-8EE0-0946A809E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92D373-E08C-C69F-6904-9E4094381E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A5E57D-6624-E67C-8062-8EC25807B8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/>
              <a:t>Although Taskly doesn't use images, this knowledge applies to all real-world Flutter apps (e-commerce, social apps, galleries, etc.).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E0C6AC-BB42-7043-F7D3-BF7B0C9C9F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4366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7EEF4-6333-A433-A2F2-25504FDB5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B0AE0B-5315-5BD4-D071-2C830E41AE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1578A8-C757-3200-E44A-718A17F3EA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/>
              <a:t>This demo helps students understand the app size when deploying it in practice.</a:t>
            </a:r>
          </a:p>
          <a:p>
            <a:r>
              <a:rPr lang="en-US" b="0"/>
              <a:t>Most student projects include unused assets → useful in real practice.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8B0FBC-C978-A659-051F-41225E639D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2501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39EE2-718A-A32B-E385-444F1C883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F95E87-B1AE-FAEF-11A2-CF5473EA69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06994C-0615-7D56-D882-B3C1EA16E4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76D229-417B-F2EE-ACCB-2F65A84BFC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4411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185CB-E5E9-C392-75FB-323A70894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1EC3A1-E15A-2667-9AD6-D16FF2B8F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1362BB-43C4-735C-76D9-17B0D9ACCB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27088F-3152-EBB4-0D77-D06AA12A4E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5576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43F8C-57AB-061E-F9E3-FC8507141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2E21C3-E4B9-BED1-7CD8-247ACFF42D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4F939C-4963-6FAD-836E-05CB70297B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A304F-F44F-F8C1-1B1D-71B4F1CFAA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0724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264A9-6D20-544D-6240-045AEAE1F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D5A552-6F6D-AED3-55CA-03BB4E749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74A928-9558-B097-5E35-FD28E401B7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  <a:defRPr sz="1800"/>
            </a:pPr>
            <a:r>
              <a:rPr lang="en-US" sz="2400"/>
              <a:t>Deployment Checklist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lang="en-US" sz="1800" b="0"/>
              <a:t>Remove debug statements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lang="en-US" sz="1800" b="0"/>
              <a:t> Check app icons &amp; splash screen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lang="en-US" sz="1800" b="0"/>
              <a:t>Clean unused assets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lang="en-US" sz="1800" b="0"/>
              <a:t>Ensure versionCode updated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lang="en-US" sz="1800" b="0"/>
              <a:t>Run performance test in Profile mode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lang="en-US" sz="1800" b="0"/>
              <a:t>Test release APK on a physical device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lang="en-US" sz="1800" b="0"/>
              <a:t>Review size report (--analyze-size)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lang="en-US" sz="1800" b="0"/>
              <a:t>Scan for crashes or errors</a:t>
            </a:r>
          </a:p>
          <a:p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911C0-997C-20AE-1939-A99210AD2F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4556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C0B95-DAF4-3F64-122E-0453BBD4D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402F60-2F42-BB13-0E38-E99E487003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8F52D6-1EC0-EA96-ACF3-FA1223C02D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47C06-59EB-E530-57F6-70F65489EB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4917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347DE-B4D6-9270-6366-E375AB403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2EC3A7-7616-997E-68E2-64EC6F2FE5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EF2479-A35C-BA47-0B21-843F07F39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E1A2A-C6DF-E673-821D-84F85C65B6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1980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407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0" y="2747700"/>
            <a:ext cx="8890000" cy="4110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19503" y="3175003"/>
            <a:ext cx="8394700" cy="1827699"/>
          </a:xfrm>
        </p:spPr>
        <p:txBody>
          <a:bodyPr>
            <a:normAutofit/>
          </a:bodyPr>
          <a:lstStyle>
            <a:lvl1pPr>
              <a:defRPr sz="3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19500" y="5143500"/>
            <a:ext cx="8407400" cy="990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3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u="sng"/>
            </a:lvl1pPr>
          </a:lstStyle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Trường Đại học FPT - Trang thông tin chính thức của Trường Đại học FPT">
            <a:extLst>
              <a:ext uri="{FF2B5EF4-FFF2-40B4-BE49-F238E27FC236}">
                <a16:creationId xmlns:a16="http://schemas.microsoft.com/office/drawing/2014/main" id="{8EE50640-AF74-A913-BB80-DF3DD30D37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7" y="64580"/>
            <a:ext cx="3044952" cy="944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525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508000"/>
            <a:ext cx="10972800" cy="818503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050" name="Picture 2" descr="Trường Đại học FPT - Trang thông tin chính thức của Trường Đại học FPT">
            <a:extLst>
              <a:ext uri="{FF2B5EF4-FFF2-40B4-BE49-F238E27FC236}">
                <a16:creationId xmlns:a16="http://schemas.microsoft.com/office/drawing/2014/main" id="{9A6F7BA3-D51F-AAC4-FB14-45E993C3386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45" y="71871"/>
            <a:ext cx="1757743" cy="545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9807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spcBef>
                <a:spcPts val="450"/>
              </a:spcBef>
              <a:spcAft>
                <a:spcPts val="450"/>
              </a:spcAft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spcBef>
                <a:spcPts val="450"/>
              </a:spcBef>
              <a:spcAft>
                <a:spcPts val="450"/>
              </a:spcAft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393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166" indent="0">
              <a:buNone/>
              <a:defRPr sz="2000" b="1"/>
            </a:lvl2pPr>
            <a:lvl3pPr marL="914331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29" indent="0">
              <a:buNone/>
              <a:defRPr sz="1600" b="1"/>
            </a:lvl6pPr>
            <a:lvl7pPr marL="2742995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spcBef>
                <a:spcPts val="450"/>
              </a:spcBef>
              <a:spcAft>
                <a:spcPts val="45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166" indent="0">
              <a:buNone/>
              <a:defRPr sz="2000" b="1"/>
            </a:lvl2pPr>
            <a:lvl3pPr marL="914331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29" indent="0">
              <a:buNone/>
              <a:defRPr sz="1600" b="1"/>
            </a:lvl6pPr>
            <a:lvl7pPr marL="2742995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000"/>
            </a:lvl2pPr>
            <a:lvl3pPr>
              <a:spcBef>
                <a:spcPts val="450"/>
              </a:spcBef>
              <a:spcAft>
                <a:spcPts val="450"/>
              </a:spcAft>
              <a:defRPr sz="1800"/>
            </a:lvl3pPr>
            <a:lvl4pPr>
              <a:spcBef>
                <a:spcPts val="450"/>
              </a:spcBef>
              <a:spcAft>
                <a:spcPts val="450"/>
              </a:spcAft>
              <a:defRPr sz="1600"/>
            </a:lvl4pPr>
            <a:lvl5pPr>
              <a:spcBef>
                <a:spcPts val="450"/>
              </a:spcBef>
              <a:spcAft>
                <a:spcPts val="450"/>
              </a:spcAft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29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487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964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66" indent="0">
              <a:buNone/>
              <a:defRPr sz="1200"/>
            </a:lvl2pPr>
            <a:lvl3pPr marL="914331" indent="0">
              <a:buNone/>
              <a:defRPr sz="1000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29" indent="0">
              <a:buNone/>
              <a:defRPr sz="900"/>
            </a:lvl6pPr>
            <a:lvl7pPr marL="2742995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122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66" indent="0">
              <a:buNone/>
              <a:defRPr sz="2800"/>
            </a:lvl2pPr>
            <a:lvl3pPr marL="914331" indent="0">
              <a:buNone/>
              <a:defRPr sz="2400"/>
            </a:lvl3pPr>
            <a:lvl4pPr marL="1371498" indent="0">
              <a:buNone/>
              <a:defRPr sz="2000"/>
            </a:lvl4pPr>
            <a:lvl5pPr marL="1828664" indent="0">
              <a:buNone/>
              <a:defRPr sz="2000"/>
            </a:lvl5pPr>
            <a:lvl6pPr marL="2285829" indent="0">
              <a:buNone/>
              <a:defRPr sz="2000"/>
            </a:lvl6pPr>
            <a:lvl7pPr marL="2742995" indent="0">
              <a:buNone/>
              <a:defRPr sz="2000"/>
            </a:lvl7pPr>
            <a:lvl8pPr marL="3200160" indent="0">
              <a:buNone/>
              <a:defRPr sz="2000"/>
            </a:lvl8pPr>
            <a:lvl9pPr marL="3657326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40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66" indent="0">
              <a:buNone/>
              <a:defRPr sz="1200"/>
            </a:lvl2pPr>
            <a:lvl3pPr marL="914331" indent="0">
              <a:buNone/>
              <a:defRPr sz="1000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29" indent="0">
              <a:buNone/>
              <a:defRPr sz="900"/>
            </a:lvl6pPr>
            <a:lvl7pPr marL="2742995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708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816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959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869" y="275167"/>
            <a:ext cx="1097227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869" y="1600731"/>
            <a:ext cx="10972271" cy="4525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15500" y="6350001"/>
            <a:ext cx="1143000" cy="317500"/>
          </a:xfrm>
          <a:prstGeom prst="rect">
            <a:avLst/>
          </a:prstGeom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Myriad Pro" pitchFamily="34" charset="0"/>
              </a:defRPr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5003" y="6350002"/>
            <a:ext cx="3860271" cy="365125"/>
          </a:xfrm>
          <a:prstGeom prst="rect">
            <a:avLst/>
          </a:prstGeom>
        </p:spPr>
        <p:txBody>
          <a:bodyPr vert="horz" lIns="91435" tIns="45718" rIns="91435" bIns="45718" rtlCol="0" anchor="ctr"/>
          <a:lstStyle>
            <a:lvl1pPr algn="l" defTabSz="914331" eaLnBrk="1" fontAlgn="auto" hangingPunct="1">
              <a:spcBef>
                <a:spcPts val="0"/>
              </a:spcBef>
              <a:spcAft>
                <a:spcPts val="0"/>
              </a:spcAft>
              <a:defRPr sz="1200" u="sng" smtClean="0">
                <a:solidFill>
                  <a:schemeClr val="tx1">
                    <a:tint val="75000"/>
                  </a:schemeClr>
                </a:solidFill>
                <a:latin typeface="Myriad Pro"/>
                <a:ea typeface="+mn-ea"/>
                <a:cs typeface="Myriad Pro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49003" y="6350003"/>
            <a:ext cx="596636" cy="310887"/>
          </a:xfrm>
          <a:prstGeom prst="rect">
            <a:avLst/>
          </a:prstGeom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Myriad Pro" pitchFamily="34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438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913425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1pPr>
      <a:lvl2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2pPr>
      <a:lvl3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3pPr>
      <a:lvl4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4pPr>
      <a:lvl5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5pPr>
      <a:lvl6pPr marL="320032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6pPr>
      <a:lvl7pPr marL="640064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7pPr>
      <a:lvl8pPr marL="960096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8pPr>
      <a:lvl9pPr marL="1280128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9pPr>
    </p:titleStyle>
    <p:bodyStyle>
      <a:lvl1pPr marL="342257" indent="-342257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200" b="1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1pPr>
      <a:lvl2pPr marL="742297" indent="-285585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2pPr>
      <a:lvl3pPr marL="1142336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3pPr>
      <a:lvl4pPr marL="1599049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i="1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4pPr>
      <a:lvl5pPr marL="2056873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5pPr>
      <a:lvl6pPr marL="2514411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7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09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1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29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5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6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api.flutter.dev/flutter/flutter_test/flutter_test-library.html" TargetMode="External"/><Relationship Id="rId3" Type="http://schemas.openxmlformats.org/officeDocument/2006/relationships/hyperlink" Target="https://docs.flutter.dev/perf/" TargetMode="External"/><Relationship Id="rId7" Type="http://schemas.openxmlformats.org/officeDocument/2006/relationships/hyperlink" Target="https://pub.dev/packages/provider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flutter.dev/deployment/android" TargetMode="External"/><Relationship Id="rId5" Type="http://schemas.openxmlformats.org/officeDocument/2006/relationships/hyperlink" Target="https://docs.flutter.dev/perf/app-size" TargetMode="External"/><Relationship Id="rId4" Type="http://schemas.openxmlformats.org/officeDocument/2006/relationships/hyperlink" Target="https://docs.flutter.dev/tools/devtools/overview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8B5F414-5C89-8AF0-685A-A02E88216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53543" y="3797574"/>
            <a:ext cx="8077200" cy="1827699"/>
          </a:xfrm>
        </p:spPr>
        <p:txBody>
          <a:bodyPr>
            <a:normAutofit/>
          </a:bodyPr>
          <a:lstStyle/>
          <a:p>
            <a:r>
              <a:rPr lang="en-US" sz="4000"/>
              <a:t>Module 12 - Performance Optimization &amp; App Deployment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1757101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604CB-0E6B-D061-0990-333BDC659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38667"/>
            <a:ext cx="8229600" cy="818503"/>
          </a:xfrm>
        </p:spPr>
        <p:txBody>
          <a:bodyPr/>
          <a:lstStyle/>
          <a:p>
            <a:pPr algn="ctr"/>
            <a:r>
              <a:rPr lang="en-US" sz="3200"/>
              <a:t>Learning Objectives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B415528-BB05-41C8-4355-5639D534B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2756" y="1012892"/>
            <a:ext cx="9766501" cy="4582365"/>
          </a:xfrm>
        </p:spPr>
        <p:txBody>
          <a:bodyPr/>
          <a:lstStyle/>
          <a:p>
            <a:pPr marL="0" indent="0" defTabSz="914400" ea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800"/>
              <a:t>Content:</a:t>
            </a:r>
          </a:p>
          <a:p>
            <a:pPr defTabSz="914400" ea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Explain how Flutter renders widgets and what causes performance overhead</a:t>
            </a:r>
          </a:p>
          <a:p>
            <a:pPr defTabSz="914400" ea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Identify common performance bottlenecks in Flutter UI</a:t>
            </a:r>
          </a:p>
          <a:p>
            <a:pPr defTabSz="914400" ea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Use DevTools to diagnose rebuilds, repaints, memory, and CPU load</a:t>
            </a:r>
          </a:p>
          <a:p>
            <a:pPr defTabSz="914400" ea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Apply best practices to optimize task lists, images, and widget trees</a:t>
            </a:r>
          </a:p>
          <a:p>
            <a:pPr defTabSz="914400" ea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Analyze and reduce app size before release</a:t>
            </a:r>
          </a:p>
          <a:p>
            <a:pPr defTabSz="914400" ea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Build a release APK / AppBundle suitable for distribution</a:t>
            </a:r>
            <a:endParaRPr lang="en-US" sz="2000" b="0"/>
          </a:p>
        </p:txBody>
      </p:sp>
    </p:spTree>
    <p:extLst>
      <p:ext uri="{BB962C8B-B14F-4D97-AF65-F5344CB8AC3E}">
        <p14:creationId xmlns:p14="http://schemas.microsoft.com/office/powerpoint/2010/main" val="851030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/>
              <a:t>Why Performance Matters in Flutter</a:t>
            </a:r>
            <a:endParaRPr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2538" y="1505744"/>
            <a:ext cx="5673203" cy="5027757"/>
          </a:xfrm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/>
              <a:t>Performance affects: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b="0"/>
              <a:t>Frame Rendering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/>
              <a:t>Flutter aims for 60 FPS → 16.6ms per frame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/>
              <a:t>New devices: 120 FPS → 8ms per frame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 startAt="2"/>
            </a:pPr>
            <a:r>
              <a:rPr lang="en-US" sz="2400" b="0"/>
              <a:t>User Experience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/>
              <a:t>Stutters, dropped frames, slow scrolling → feels cheap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/>
              <a:t>Poorly optimized lists = biggest cause of student app lag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4ADD8AC-2346-DD1A-A4B1-832FE73B6C96}"/>
              </a:ext>
            </a:extLst>
          </p:cNvPr>
          <p:cNvSpPr txBox="1">
            <a:spLocks/>
          </p:cNvSpPr>
          <p:nvPr/>
        </p:nvSpPr>
        <p:spPr bwMode="auto">
          <a:xfrm>
            <a:off x="6562341" y="2008041"/>
            <a:ext cx="5466374" cy="4437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marL="342257" indent="-342257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200" b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1pPr>
            <a:lvl2pPr marL="742297" indent="-285585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2pPr>
            <a:lvl3pPr marL="1142336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3pPr>
            <a:lvl4pPr marL="1599049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i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4pPr>
            <a:lvl5pPr marL="2056873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5pPr>
            <a:lvl6pPr marL="2514411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7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09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 startAt="3"/>
            </a:pPr>
            <a:r>
              <a:rPr lang="en-US" sz="2400" b="0"/>
              <a:t>Device Constraints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/>
              <a:t>Limited CPU/GPU (especially mid-range Android devices)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/>
              <a:t>Flutter rebuilds are cheap but not free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 startAt="4"/>
            </a:pPr>
            <a:r>
              <a:rPr lang="en-US" sz="2400" b="0"/>
              <a:t>Real-world publishing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/>
              <a:t>Store policies require reasonable size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/>
              <a:t>Large apps increase uninstall probab</a:t>
            </a:r>
            <a:r>
              <a:rPr lang="en-US" sz="2400" b="0"/>
              <a:t>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70CC8-CEDD-6810-0941-1D7204093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6B884-E386-4703-7412-7956A18AF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00"/>
              <a:t>How Flutter Builds the UI (Render Pipeline)</a:t>
            </a:r>
            <a:endParaRPr lang="en-US" sz="3200" b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50779C7-7D21-21A0-0104-B1BD26D21574}"/>
              </a:ext>
            </a:extLst>
          </p:cNvPr>
          <p:cNvSpPr txBox="1">
            <a:spLocks/>
          </p:cNvSpPr>
          <p:nvPr/>
        </p:nvSpPr>
        <p:spPr bwMode="auto">
          <a:xfrm>
            <a:off x="750174" y="1457709"/>
            <a:ext cx="5345826" cy="5027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marL="342257" indent="-342257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200" b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1pPr>
            <a:lvl2pPr marL="742297" indent="-285585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2pPr>
            <a:lvl3pPr marL="1142336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3pPr>
            <a:lvl4pPr marL="1599049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i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4pPr>
            <a:lvl5pPr marL="2056873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5pPr>
            <a:lvl6pPr marL="2514411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7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09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/>
              <a:t>Key Concepts: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b="0"/>
              <a:t>Widgets are immutable blueprints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b="0"/>
              <a:t>Elements handle lifecycle &amp; state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b="0"/>
              <a:t>RenderObjects perform layout, painting, compositing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/>
              <a:t>Performance Principle: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b="0"/>
              <a:t>Avoid extra work in build(), reduce unnecessary rebuilds.</a:t>
            </a:r>
          </a:p>
        </p:txBody>
      </p:sp>
      <p:pic>
        <p:nvPicPr>
          <p:cNvPr id="1026" name="Picture 2" descr="Understanding Keys, Elements, RenderObjects and their interplay in ...">
            <a:extLst>
              <a:ext uri="{FF2B5EF4-FFF2-40B4-BE49-F238E27FC236}">
                <a16:creationId xmlns:a16="http://schemas.microsoft.com/office/drawing/2014/main" id="{3A1E4919-B409-1C84-6799-A168957619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6289" y="1765477"/>
            <a:ext cx="6096000" cy="416242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5911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B797A-1BB3-96AE-211D-32B1EA32C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307F4-FE89-D34B-AEAB-AEDEAA9F5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00"/>
              <a:t>What Causes Performance Problems?</a:t>
            </a:r>
            <a:endParaRPr lang="en-US" sz="3200" b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1588BB18-8643-1C5E-C3C6-4889CBBD66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5000" y="1599656"/>
            <a:ext cx="5562600" cy="4917994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Common issues:</a:t>
            </a:r>
          </a:p>
          <a:p>
            <a:r>
              <a:rPr lang="en-US" b="0"/>
              <a:t>Too many widget rebuilds</a:t>
            </a:r>
          </a:p>
          <a:p>
            <a:r>
              <a:rPr lang="en-US" b="0"/>
              <a:t>Re-running heavy logic inside build()</a:t>
            </a:r>
          </a:p>
          <a:p>
            <a:r>
              <a:rPr lang="en-US" b="0"/>
              <a:t>Large images decoded at full resolution</a:t>
            </a:r>
          </a:p>
          <a:p>
            <a:r>
              <a:rPr lang="en-US" b="0"/>
              <a:t>Overly deep widget trees</a:t>
            </a:r>
          </a:p>
          <a:p>
            <a:r>
              <a:rPr lang="en-US" b="0"/>
              <a:t>Incorrect use of setState or Provider listeners</a:t>
            </a:r>
          </a:p>
          <a:p>
            <a:r>
              <a:rPr lang="en-US" b="0"/>
              <a:t>Inefficient list rendering</a:t>
            </a:r>
          </a:p>
          <a:p>
            <a:r>
              <a:rPr lang="en-US" b="0"/>
              <a:t>Expensive synchronous operations in the UI thread</a:t>
            </a:r>
          </a:p>
          <a:p>
            <a:r>
              <a:rPr lang="en-US" b="0"/>
              <a:t>Use of GlobalKey everywhere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A669803B-73A5-A797-9794-13583392DE55}"/>
              </a:ext>
            </a:extLst>
          </p:cNvPr>
          <p:cNvSpPr txBox="1">
            <a:spLocks/>
          </p:cNvSpPr>
          <p:nvPr/>
        </p:nvSpPr>
        <p:spPr bwMode="auto">
          <a:xfrm>
            <a:off x="6445955" y="1603618"/>
            <a:ext cx="5562600" cy="4917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marL="342257" indent="-342257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200" b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1pPr>
            <a:lvl2pPr marL="742297" indent="-285585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2pPr>
            <a:lvl3pPr marL="1142336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3pPr>
            <a:lvl4pPr marL="1599049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i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4pPr>
            <a:lvl5pPr marL="2056873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5pPr>
            <a:lvl6pPr marL="2514411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7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09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Example issues in student apps:</a:t>
            </a:r>
          </a:p>
          <a:p>
            <a:r>
              <a:rPr lang="en-US" b="0"/>
              <a:t>ListView lag with many items</a:t>
            </a:r>
          </a:p>
          <a:p>
            <a:r>
              <a:rPr lang="en-US" b="0"/>
              <a:t>Constant rebuild of whole screens</a:t>
            </a:r>
          </a:p>
          <a:p>
            <a:r>
              <a:rPr lang="en-US" b="0"/>
              <a:t>Loading full-resolution images from network</a:t>
            </a:r>
          </a:p>
        </p:txBody>
      </p:sp>
    </p:spTree>
    <p:extLst>
      <p:ext uri="{BB962C8B-B14F-4D97-AF65-F5344CB8AC3E}">
        <p14:creationId xmlns:p14="http://schemas.microsoft.com/office/powerpoint/2010/main" val="3984601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Flutter DevTools Overview</a:t>
            </a:r>
            <a:endParaRPr sz="320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1EA307E-67D3-8B2F-52BE-9FF886D7E6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17562" y="1355431"/>
            <a:ext cx="8753725" cy="5073650"/>
          </a:xfrm>
        </p:spPr>
        <p:txBody>
          <a:bodyPr wrap="square" anchor="t">
            <a:normAutofit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/>
              <a:t>Key Tools:</a:t>
            </a:r>
          </a:p>
          <a:p>
            <a:pPr>
              <a:lnSpc>
                <a:spcPct val="120000"/>
              </a:lnSpc>
            </a:pPr>
            <a:r>
              <a:rPr lang="en-US" sz="2000" b="0"/>
              <a:t>Performance: FPS timeline, frame rendering cost</a:t>
            </a:r>
          </a:p>
          <a:p>
            <a:pPr>
              <a:lnSpc>
                <a:spcPct val="120000"/>
              </a:lnSpc>
            </a:pPr>
            <a:r>
              <a:rPr lang="en-US" sz="2000" b="0"/>
              <a:t>CPU Profiler: execute-time hotspots</a:t>
            </a:r>
          </a:p>
          <a:p>
            <a:pPr>
              <a:lnSpc>
                <a:spcPct val="120000"/>
              </a:lnSpc>
            </a:pPr>
            <a:r>
              <a:rPr lang="en-US" sz="2000" b="0"/>
              <a:t>Memory: leaks &amp; allocations</a:t>
            </a:r>
          </a:p>
          <a:p>
            <a:pPr>
              <a:lnSpc>
                <a:spcPct val="120000"/>
              </a:lnSpc>
            </a:pPr>
            <a:r>
              <a:rPr lang="en-US" sz="2000" b="0"/>
              <a:t>Widget Inspector: identify rebuild sources</a:t>
            </a:r>
          </a:p>
          <a:p>
            <a:pPr>
              <a:lnSpc>
                <a:spcPct val="120000"/>
              </a:lnSpc>
            </a:pPr>
            <a:r>
              <a:rPr lang="en-US" sz="2000" b="0"/>
              <a:t>Repaint Rainbow: highlight repaint operations</a:t>
            </a:r>
          </a:p>
          <a:p>
            <a:pPr>
              <a:lnSpc>
                <a:spcPct val="120000"/>
              </a:lnSpc>
            </a:pPr>
            <a:r>
              <a:rPr lang="en-US" sz="2000" b="0"/>
              <a:t>Rebuild Tracker (extensions): count widget rebuilds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/>
              <a:t>DevTools Usage Tips:</a:t>
            </a:r>
          </a:p>
          <a:p>
            <a:pPr>
              <a:lnSpc>
                <a:spcPct val="120000"/>
              </a:lnSpc>
            </a:pPr>
            <a:r>
              <a:rPr lang="en-US" sz="2000" b="0"/>
              <a:t>Run app in Profile Mode for accurate data</a:t>
            </a:r>
          </a:p>
          <a:p>
            <a:pPr>
              <a:lnSpc>
                <a:spcPct val="120000"/>
              </a:lnSpc>
            </a:pPr>
            <a:r>
              <a:rPr lang="en-US" sz="2000" b="0"/>
              <a:t>Avoid measuring performance in Debug mode.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800" b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A2CED-89DB-4BFD-3863-D96B71690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Identifying Rebuild Issues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321D38-5B04-BC46-1489-CF651C5DD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133" y="2096293"/>
            <a:ext cx="5153781" cy="3923508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0"/>
              <a:t>State misplacement:</a:t>
            </a:r>
          </a:p>
          <a:p>
            <a:pPr>
              <a:lnSpc>
                <a:spcPct val="150000"/>
              </a:lnSpc>
            </a:pPr>
            <a:r>
              <a:rPr lang="en-US" sz="2000" b="0"/>
              <a:t>If state lives too high → entire UI rebuilds</a:t>
            </a:r>
          </a:p>
          <a:p>
            <a:pPr>
              <a:lnSpc>
                <a:spcPct val="150000"/>
              </a:lnSpc>
            </a:pPr>
            <a:r>
              <a:rPr lang="en-US" sz="2000" b="0"/>
              <a:t>If state lives too low → data not propagated properly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2"/>
            </a:pPr>
            <a:r>
              <a:rPr lang="en-US" sz="2400" b="0"/>
              <a:t>Missing const constructors:</a:t>
            </a:r>
          </a:p>
          <a:p>
            <a:pPr>
              <a:lnSpc>
                <a:spcPct val="150000"/>
              </a:lnSpc>
            </a:pPr>
            <a:r>
              <a:rPr lang="en-US" sz="2000" b="0"/>
              <a:t>const lets Flutter skip rebuilding widgets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058BC005-FB17-BD92-1172-9E3C709BFD7C}"/>
              </a:ext>
            </a:extLst>
          </p:cNvPr>
          <p:cNvSpPr txBox="1">
            <a:spLocks/>
          </p:cNvSpPr>
          <p:nvPr/>
        </p:nvSpPr>
        <p:spPr bwMode="auto">
          <a:xfrm>
            <a:off x="6000448" y="2108732"/>
            <a:ext cx="5825067" cy="4324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marL="342257" indent="-342257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200" b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1pPr>
            <a:lvl2pPr marL="742297" indent="-285585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2pPr>
            <a:lvl3pPr marL="1142336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3pPr>
            <a:lvl4pPr marL="1599049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i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4pPr>
            <a:lvl5pPr marL="2056873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5pPr>
            <a:lvl6pPr marL="2514411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7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09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Font typeface="+mj-lt"/>
              <a:buAutoNum type="arabicPeriod" startAt="3"/>
            </a:pPr>
            <a:r>
              <a:rPr lang="en-US" sz="2400" b="0"/>
              <a:t>Overuse of setState:</a:t>
            </a:r>
          </a:p>
          <a:p>
            <a:pPr>
              <a:lnSpc>
                <a:spcPct val="150000"/>
              </a:lnSpc>
            </a:pPr>
            <a:r>
              <a:rPr lang="en-US" sz="2000" b="0"/>
              <a:t>Calling setState() on large widgets triggers mass rebuilds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4"/>
            </a:pPr>
            <a:r>
              <a:rPr lang="en-US" sz="2400" b="0"/>
              <a:t>Provider misconfiguration:</a:t>
            </a:r>
          </a:p>
          <a:p>
            <a:pPr>
              <a:lnSpc>
                <a:spcPct val="150000"/>
              </a:lnSpc>
            </a:pPr>
            <a:r>
              <a:rPr lang="en-US" sz="2000" b="0"/>
              <a:t>Using context.watch&lt;T&gt;() instead of Selector&lt;T&gt;() leads to redundant rebuilds</a:t>
            </a:r>
            <a:endParaRPr lang="en-US" sz="1600" b="0"/>
          </a:p>
          <a:p>
            <a:pPr marL="0" indent="0">
              <a:lnSpc>
                <a:spcPct val="150000"/>
              </a:lnSpc>
              <a:buFont typeface="Arial" pitchFamily="34" charset="0"/>
              <a:buNone/>
            </a:pPr>
            <a:endParaRPr lang="en-US" sz="2400" b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239F27-1EDE-D45D-B9AF-2E6049EAB3D8}"/>
              </a:ext>
            </a:extLst>
          </p:cNvPr>
          <p:cNvSpPr txBox="1"/>
          <p:nvPr/>
        </p:nvSpPr>
        <p:spPr>
          <a:xfrm>
            <a:off x="474133" y="1479476"/>
            <a:ext cx="10705496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Flutter rebuild issues typically come from:</a:t>
            </a:r>
          </a:p>
        </p:txBody>
      </p:sp>
    </p:spTree>
    <p:extLst>
      <p:ext uri="{BB962C8B-B14F-4D97-AF65-F5344CB8AC3E}">
        <p14:creationId xmlns:p14="http://schemas.microsoft.com/office/powerpoint/2010/main" val="3966499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07468-B109-8BB1-918E-B7B80A767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079" y="417513"/>
            <a:ext cx="10972800" cy="818503"/>
          </a:xfrm>
        </p:spPr>
        <p:txBody>
          <a:bodyPr/>
          <a:lstStyle/>
          <a:p>
            <a:pPr algn="ctr"/>
            <a:r>
              <a:rPr lang="en-US" sz="3200"/>
              <a:t>Optimization Technique 1: Use const Effectively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2F1B936-6559-E12A-04DC-921474462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629" y="1497235"/>
            <a:ext cx="4724401" cy="4446365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/>
              <a:t>Why const matters:</a:t>
            </a:r>
          </a:p>
          <a:p>
            <a:pPr>
              <a:lnSpc>
                <a:spcPct val="150000"/>
              </a:lnSpc>
            </a:pPr>
            <a:r>
              <a:rPr lang="en-US" sz="2400" b="0"/>
              <a:t>Reduces rebuilds</a:t>
            </a:r>
          </a:p>
          <a:p>
            <a:pPr>
              <a:lnSpc>
                <a:spcPct val="150000"/>
              </a:lnSpc>
            </a:pPr>
            <a:r>
              <a:rPr lang="en-US" sz="2400" b="0"/>
              <a:t>Saves memory</a:t>
            </a:r>
          </a:p>
          <a:p>
            <a:pPr>
              <a:lnSpc>
                <a:spcPct val="150000"/>
              </a:lnSpc>
            </a:pPr>
            <a:r>
              <a:rPr lang="en-US" sz="2400" b="0"/>
              <a:t>Helps Flutter tree diffing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/>
              <a:t>Note:</a:t>
            </a:r>
          </a:p>
          <a:p>
            <a:pPr>
              <a:lnSpc>
                <a:spcPct val="150000"/>
              </a:lnSpc>
            </a:pPr>
            <a:r>
              <a:rPr lang="en-US" sz="2400" b="0"/>
              <a:t>If the widget never changes → use const</a:t>
            </a:r>
            <a:r>
              <a:rPr lang="en-US" sz="2000" b="0"/>
              <a:t>.</a:t>
            </a:r>
          </a:p>
          <a:p>
            <a:pPr>
              <a:lnSpc>
                <a:spcPct val="150000"/>
              </a:lnSpc>
            </a:pPr>
            <a:endParaRPr lang="en-US" sz="2000" b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CBDFF5-21BF-1261-B303-2C9393107942}"/>
              </a:ext>
            </a:extLst>
          </p:cNvPr>
          <p:cNvSpPr txBox="1"/>
          <p:nvPr/>
        </p:nvSpPr>
        <p:spPr>
          <a:xfrm>
            <a:off x="6096000" y="2625022"/>
            <a:ext cx="5034508" cy="2345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Before:</a:t>
            </a:r>
          </a:p>
          <a:p>
            <a:pPr>
              <a:lnSpc>
                <a:spcPct val="150000"/>
              </a:lnSpc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	Text("Task Title")</a:t>
            </a:r>
          </a:p>
          <a:p>
            <a:pPr>
              <a:lnSpc>
                <a:spcPct val="150000"/>
              </a:lnSpc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After:</a:t>
            </a:r>
          </a:p>
          <a:p>
            <a:pPr>
              <a:lnSpc>
                <a:spcPct val="150000"/>
              </a:lnSpc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	const Text("Task Title")</a:t>
            </a:r>
          </a:p>
        </p:txBody>
      </p:sp>
    </p:spTree>
    <p:extLst>
      <p:ext uri="{BB962C8B-B14F-4D97-AF65-F5344CB8AC3E}">
        <p14:creationId xmlns:p14="http://schemas.microsoft.com/office/powerpoint/2010/main" val="1585821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FCC3D-CC73-7774-3B02-5B9255009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3D6E9-F984-5EEF-87B4-D9E6AD781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1507" y="228541"/>
            <a:ext cx="10972800" cy="818503"/>
          </a:xfrm>
        </p:spPr>
        <p:txBody>
          <a:bodyPr/>
          <a:lstStyle/>
          <a:p>
            <a:pPr algn="ctr"/>
            <a:r>
              <a:rPr lang="en-US" sz="3200"/>
              <a:t>Optimization Technique 2: Extract Widgets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B711EA92-4D31-DD87-2D4A-745990205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864" y="1306286"/>
            <a:ext cx="11135822" cy="4933244"/>
          </a:xfrm>
        </p:spPr>
        <p:txBody>
          <a:bodyPr/>
          <a:lstStyle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Large widgets rebuilding unnecessarily = lag.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Benefits:</a:t>
            </a:r>
          </a:p>
          <a:p>
            <a:r>
              <a:rPr lang="en-US" b="0"/>
              <a:t>Only TaskTile rebuilds</a:t>
            </a:r>
          </a:p>
          <a:p>
            <a:r>
              <a:rPr lang="en-US" b="0"/>
              <a:t>Parent ListView stays untouched</a:t>
            </a:r>
          </a:p>
          <a:p>
            <a:r>
              <a:rPr lang="en-US" b="0"/>
              <a:t>Cleaner code structure</a:t>
            </a:r>
          </a:p>
          <a:p>
            <a:pPr marL="0" indent="0">
              <a:buNone/>
            </a:pPr>
            <a:r>
              <a:rPr lang="en-US" b="0"/>
              <a:t>Note:</a:t>
            </a:r>
          </a:p>
          <a:p>
            <a:r>
              <a:rPr lang="en-US" b="0"/>
              <a:t>Use extraction + const for maximal effect.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042772-A681-4B1B-4FCE-785548BD53BC}"/>
              </a:ext>
            </a:extLst>
          </p:cNvPr>
          <p:cNvSpPr txBox="1"/>
          <p:nvPr/>
        </p:nvSpPr>
        <p:spPr>
          <a:xfrm>
            <a:off x="6694714" y="1687010"/>
            <a:ext cx="5050971" cy="44371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 (Taskly):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Before: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ListTile(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title: Text(task.title),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trailing: Checkbox(...),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After: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	TaskTile(task: task) // separate widget</a:t>
            </a:r>
          </a:p>
        </p:txBody>
      </p:sp>
    </p:spTree>
    <p:extLst>
      <p:ext uri="{BB962C8B-B14F-4D97-AF65-F5344CB8AC3E}">
        <p14:creationId xmlns:p14="http://schemas.microsoft.com/office/powerpoint/2010/main" val="50131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DDAE1-16E0-5E36-1177-0F5990DF7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Optimization Technique 3: Avoid Heavy Work in build()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AD117-6CCB-94C9-C577-E21292D2D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115" y="1584996"/>
            <a:ext cx="5675489" cy="450294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/>
              <a:t>Absolutely do not do it inside the build() function.</a:t>
            </a:r>
          </a:p>
          <a:p>
            <a:pPr>
              <a:lnSpc>
                <a:spcPct val="150000"/>
              </a:lnSpc>
            </a:pPr>
            <a:r>
              <a:rPr lang="en-US" sz="2400" b="0"/>
              <a:t>Sorting</a:t>
            </a:r>
          </a:p>
          <a:p>
            <a:pPr>
              <a:lnSpc>
                <a:spcPct val="150000"/>
              </a:lnSpc>
            </a:pPr>
            <a:r>
              <a:rPr lang="en-US" sz="2400" b="0"/>
              <a:t>Parsing JSON</a:t>
            </a:r>
          </a:p>
          <a:p>
            <a:pPr>
              <a:lnSpc>
                <a:spcPct val="150000"/>
              </a:lnSpc>
            </a:pPr>
            <a:r>
              <a:rPr lang="en-US" sz="2400" b="0"/>
              <a:t>Complex calculations</a:t>
            </a:r>
          </a:p>
          <a:p>
            <a:pPr>
              <a:lnSpc>
                <a:spcPct val="150000"/>
              </a:lnSpc>
            </a:pPr>
            <a:r>
              <a:rPr lang="en-US" sz="2400" b="0"/>
              <a:t>Database reads</a:t>
            </a:r>
          </a:p>
          <a:p>
            <a:pPr>
              <a:lnSpc>
                <a:spcPct val="150000"/>
              </a:lnSpc>
            </a:pPr>
            <a:r>
              <a:rPr lang="en-US" sz="2400" b="0"/>
              <a:t>API calls</a:t>
            </a:r>
            <a:endParaRPr lang="en-US" sz="20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6803D0-1D7B-2BC4-1114-1765A7F7D29F}"/>
              </a:ext>
            </a:extLst>
          </p:cNvPr>
          <p:cNvSpPr txBox="1"/>
          <p:nvPr/>
        </p:nvSpPr>
        <p:spPr>
          <a:xfrm>
            <a:off x="6426604" y="2413421"/>
            <a:ext cx="5029201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 Anti-pattern:</a:t>
            </a:r>
          </a:p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Widget build(context) {</a:t>
            </a:r>
          </a:p>
          <a:p>
            <a:pPr lvl="1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final sorted = tasks..sort(); // NO</a:t>
            </a:r>
          </a:p>
          <a:p>
            <a:pPr lvl="1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Correct:</a:t>
            </a:r>
          </a:p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	sortTasks(); // call once</a:t>
            </a:r>
          </a:p>
        </p:txBody>
      </p:sp>
    </p:spTree>
    <p:extLst>
      <p:ext uri="{BB962C8B-B14F-4D97-AF65-F5344CB8AC3E}">
        <p14:creationId xmlns:p14="http://schemas.microsoft.com/office/powerpoint/2010/main" val="2586573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06CDA-2D6F-B5B9-A32E-AB4F3F8D5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6C00B-6E43-6B29-C95C-1143562EC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Optimization Technique 4: Using Keys Properly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02C4E-DD85-24F9-B274-92850EBEE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115" y="1584996"/>
            <a:ext cx="5675489" cy="4502940"/>
          </a:xfrm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/>
              <a:t>When to use keys: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0"/>
              <a:t>Preserving state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0"/>
              <a:t>Animations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0"/>
              <a:t>Reordering lists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0"/>
              <a:t>Improving diffing performance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/>
              <a:t>GlobalKey Warning: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0"/>
              <a:t>Powerful but slow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0"/>
              <a:t>Avoid unless needed for navigation or accessing widget state</a:t>
            </a:r>
            <a:endParaRPr lang="en-US" sz="1800" b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C0B8DF-DC34-77B0-371B-14E6614AC385}"/>
              </a:ext>
            </a:extLst>
          </p:cNvPr>
          <p:cNvSpPr txBox="1"/>
          <p:nvPr/>
        </p:nvSpPr>
        <p:spPr>
          <a:xfrm>
            <a:off x="5987141" y="1985990"/>
            <a:ext cx="5453744" cy="18836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Good: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	ValueKey(task.id)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Bad: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	UniqueKey()  // forces rebuild every frame</a:t>
            </a:r>
          </a:p>
        </p:txBody>
      </p:sp>
    </p:spTree>
    <p:extLst>
      <p:ext uri="{BB962C8B-B14F-4D97-AF65-F5344CB8AC3E}">
        <p14:creationId xmlns:p14="http://schemas.microsoft.com/office/powerpoint/2010/main" val="2922680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795D9-A437-44AC-FCC9-94E04CB4A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E4786-6AC0-ECC0-118C-33FCB1E37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Taskly Optimization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9E6E7-0C04-750F-C832-87BA4BA9B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2196" y="1968947"/>
            <a:ext cx="6027058" cy="4523089"/>
          </a:xfrm>
        </p:spPr>
        <p:txBody>
          <a:bodyPr/>
          <a:lstStyle/>
          <a:p>
            <a:pPr marL="0" indent="0">
              <a:buNone/>
            </a:pPr>
            <a:r>
              <a:rPr lang="en-US" sz="2000"/>
              <a:t>Why Taskly?</a:t>
            </a:r>
          </a:p>
          <a:p>
            <a:r>
              <a:rPr lang="en-US" sz="2000" b="0"/>
              <a:t>Small enough to understand quickly</a:t>
            </a:r>
          </a:p>
          <a:p>
            <a:r>
              <a:rPr lang="en-US" sz="2000" b="0"/>
              <a:t>Complex enough to reveal real performance issues</a:t>
            </a:r>
          </a:p>
          <a:p>
            <a:r>
              <a:rPr lang="en-US" sz="2000" b="0"/>
              <a:t>Perfect for demonstrating measurable improvements</a:t>
            </a:r>
          </a:p>
          <a:p>
            <a:pPr marL="0" indent="0">
              <a:buNone/>
            </a:pPr>
            <a:r>
              <a:rPr lang="en-US" sz="2000"/>
              <a:t>Focus Areas</a:t>
            </a:r>
          </a:p>
          <a:p>
            <a:r>
              <a:rPr lang="en-US" sz="2000" b="0"/>
              <a:t>UI Optimization</a:t>
            </a:r>
          </a:p>
          <a:p>
            <a:r>
              <a:rPr lang="en-US" sz="2000" b="0"/>
              <a:t>List Performance</a:t>
            </a:r>
          </a:p>
          <a:p>
            <a:r>
              <a:rPr lang="en-US" sz="2000" b="0"/>
              <a:t>Resource Efficiency</a:t>
            </a:r>
          </a:p>
          <a:p>
            <a:r>
              <a:rPr lang="en-US" sz="2000" b="0"/>
              <a:t>App Size Analysis</a:t>
            </a:r>
          </a:p>
          <a:p>
            <a:r>
              <a:rPr lang="en-US" sz="2000" b="0"/>
              <a:t>Deployment Prep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A7C80E-4AD9-17B4-1A37-C9A65003D8E7}"/>
              </a:ext>
            </a:extLst>
          </p:cNvPr>
          <p:cNvSpPr txBox="1"/>
          <p:nvPr/>
        </p:nvSpPr>
        <p:spPr>
          <a:xfrm>
            <a:off x="969625" y="1458426"/>
            <a:ext cx="104793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We will apply the module’s performance techniques to optimize and deploy the Taskly app</a:t>
            </a:r>
            <a:endParaRPr lang="en-US" b="1"/>
          </a:p>
        </p:txBody>
      </p:sp>
      <p:pic>
        <p:nvPicPr>
          <p:cNvPr id="6" name="Picture 5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0E474434-E060-BA8C-AAAE-720CC092F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6276" y="1968947"/>
            <a:ext cx="2749439" cy="476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049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9822D-57C8-17C7-48C4-DB31DA7EB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8F89A-9CCB-8B7E-3AA6-4619C2AD2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8171" y="88026"/>
            <a:ext cx="10678886" cy="1099457"/>
          </a:xfrm>
        </p:spPr>
        <p:txBody>
          <a:bodyPr/>
          <a:lstStyle/>
          <a:p>
            <a:pPr algn="ctr"/>
            <a:br>
              <a:rPr lang="en-US" sz="3200"/>
            </a:br>
            <a:r>
              <a:rPr lang="en-US" sz="3200"/>
              <a:t>Demo 12.1 - Optimize List &amp; UI Rebuilds (Taskly)</a:t>
            </a:r>
            <a:br>
              <a:rPr lang="en-US" sz="3200"/>
            </a:br>
            <a:r>
              <a:rPr lang="en-US" sz="2400" b="0"/>
              <a:t>Improve performance by reducing unnecessary widget rebuilds</a:t>
            </a:r>
            <a:br>
              <a:rPr lang="en-US" sz="3200"/>
            </a:br>
            <a:endParaRPr sz="3200" b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5811ADE-81E2-52A5-6497-280B8B5F0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62923"/>
            <a:ext cx="5965371" cy="464745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  <a:defRPr sz="1800"/>
            </a:pPr>
            <a:r>
              <a:rPr lang="en-US" sz="2000"/>
              <a:t>Objectives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000" b="0"/>
              <a:t>Understand why the old Taskly implementation caused full-screen rebuilds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000" b="0"/>
              <a:t>Apply widget extraction (TaskTile)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000" b="0"/>
              <a:t>Use Selector to minimize rebuild scope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000" b="0"/>
              <a:t>Add const where possible for stable widgets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000" b="0"/>
              <a:t>Observe rebuild reduction using debug logs or DevTools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52AF8F1-F54C-FCEC-9AD2-64F5F9C26C08}"/>
              </a:ext>
            </a:extLst>
          </p:cNvPr>
          <p:cNvSpPr txBox="1">
            <a:spLocks/>
          </p:cNvSpPr>
          <p:nvPr/>
        </p:nvSpPr>
        <p:spPr bwMode="auto">
          <a:xfrm>
            <a:off x="6553201" y="1654834"/>
            <a:ext cx="5410200" cy="4647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marL="342257" indent="-342257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200" b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1pPr>
            <a:lvl2pPr marL="742297" indent="-285585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2pPr>
            <a:lvl3pPr marL="1142336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3pPr>
            <a:lvl4pPr marL="1599049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i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4pPr>
            <a:lvl5pPr marL="2056873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5pPr>
            <a:lvl6pPr marL="2514411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7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09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1800"/>
            </a:pPr>
            <a:r>
              <a:rPr lang="en-US" sz="1800"/>
              <a:t>The Problem (Before Optimization)</a:t>
            </a:r>
          </a:p>
          <a:p>
            <a:pPr marL="0" indent="0">
              <a:buNone/>
              <a:defRPr sz="1800"/>
            </a:pPr>
            <a:r>
              <a:rPr lang="en-US" sz="1800"/>
              <a:t>Issue:</a:t>
            </a:r>
            <a:r>
              <a:rPr lang="en-US" sz="1800" b="0"/>
              <a:t> The entire TaskListScreen rebuilds whenever tasks change.</a:t>
            </a:r>
          </a:p>
          <a:p>
            <a:pPr marL="0" indent="0">
              <a:buNone/>
              <a:defRPr sz="1800"/>
            </a:pPr>
            <a:r>
              <a:rPr lang="en-US" sz="1800"/>
              <a:t>Why it’s slow</a:t>
            </a:r>
          </a:p>
          <a:p>
            <a:pPr>
              <a:defRPr sz="1800"/>
            </a:pPr>
            <a:r>
              <a:rPr lang="en-US" sz="1800" b="0"/>
              <a:t>context.watch&lt;TaskProvider&gt;() used at the top of the widget</a:t>
            </a:r>
          </a:p>
          <a:p>
            <a:pPr>
              <a:defRPr sz="1800"/>
            </a:pPr>
            <a:r>
              <a:rPr lang="en-US" sz="1800" b="0"/>
              <a:t>List items rendered inline in itemBuilder</a:t>
            </a:r>
          </a:p>
          <a:p>
            <a:pPr>
              <a:defRPr sz="1800"/>
            </a:pPr>
            <a:r>
              <a:rPr lang="en-US" sz="1800" b="0"/>
              <a:t>No separation between static UI (input row) and dynamic UI (list)</a:t>
            </a:r>
          </a:p>
          <a:p>
            <a:pPr>
              <a:defRPr sz="1800"/>
            </a:pPr>
            <a:r>
              <a:rPr lang="en-US" sz="1800" b="0"/>
              <a:t>ListView rebuilds all items even when only one task changes</a:t>
            </a:r>
          </a:p>
        </p:txBody>
      </p:sp>
    </p:spTree>
    <p:extLst>
      <p:ext uri="{BB962C8B-B14F-4D97-AF65-F5344CB8AC3E}">
        <p14:creationId xmlns:p14="http://schemas.microsoft.com/office/powerpoint/2010/main" val="181589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B686C-E5FB-A364-BDE9-9BFDBB6C8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B9B1A-FCC6-59BB-61F1-AABC4B2C0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4199" y="56112"/>
            <a:ext cx="9316910" cy="818503"/>
          </a:xfrm>
        </p:spPr>
        <p:txBody>
          <a:bodyPr/>
          <a:lstStyle/>
          <a:p>
            <a:pPr algn="ctr"/>
            <a:r>
              <a:rPr lang="en-US" sz="3200"/>
              <a:t>Demo 12.1 - (continued)</a:t>
            </a:r>
            <a:endParaRPr sz="3200"/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61629E9-7CA4-FEAF-34A7-370ED8DA6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35" y="1338942"/>
            <a:ext cx="4345231" cy="494211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FD6C89-B9EC-929A-6FB3-1FE7E8357B3B}"/>
              </a:ext>
            </a:extLst>
          </p:cNvPr>
          <p:cNvSpPr txBox="1"/>
          <p:nvPr/>
        </p:nvSpPr>
        <p:spPr>
          <a:xfrm>
            <a:off x="722085" y="959115"/>
            <a:ext cx="40712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Before Code (Inefficient)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486319-9DCF-5CFC-073C-5C65B433824D}"/>
              </a:ext>
            </a:extLst>
          </p:cNvPr>
          <p:cNvSpPr txBox="1"/>
          <p:nvPr/>
        </p:nvSpPr>
        <p:spPr>
          <a:xfrm>
            <a:off x="112485" y="6365557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Full-screen rebuild → laggy scrolling, poor performance on long lists.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73AEA5-391F-E8CD-A678-78039C475A1A}"/>
              </a:ext>
            </a:extLst>
          </p:cNvPr>
          <p:cNvSpPr txBox="1"/>
          <p:nvPr/>
        </p:nvSpPr>
        <p:spPr>
          <a:xfrm>
            <a:off x="6001656" y="984291"/>
            <a:ext cx="5360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Solution (After Optimization)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We isolate list rebuilds and extract item UI.</a:t>
            </a:r>
          </a:p>
        </p:txBody>
      </p:sp>
      <p:pic>
        <p:nvPicPr>
          <p:cNvPr id="12" name="Picture 1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F54DAC3-A0C5-BFD1-FFB3-19671685BD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2085293"/>
            <a:ext cx="5075110" cy="27044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60120F0-4840-C0C7-B7A7-A02E9190F08F}"/>
              </a:ext>
            </a:extLst>
          </p:cNvPr>
          <p:cNvSpPr txBox="1"/>
          <p:nvPr/>
        </p:nvSpPr>
        <p:spPr>
          <a:xfrm>
            <a:off x="6095999" y="1669980"/>
            <a:ext cx="50800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1) Extract TaskTile widget</a:t>
            </a:r>
          </a:p>
        </p:txBody>
      </p:sp>
    </p:spTree>
    <p:extLst>
      <p:ext uri="{BB962C8B-B14F-4D97-AF65-F5344CB8AC3E}">
        <p14:creationId xmlns:p14="http://schemas.microsoft.com/office/powerpoint/2010/main" val="25827999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346D5-CEF6-6ACB-D5E3-948A22E88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9216F-233F-0FE0-C7FC-E64FA30A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085" y="222999"/>
            <a:ext cx="10972800" cy="818503"/>
          </a:xfrm>
        </p:spPr>
        <p:txBody>
          <a:bodyPr/>
          <a:lstStyle/>
          <a:p>
            <a:pPr algn="ctr"/>
            <a:r>
              <a:rPr lang="en-US" sz="3200"/>
              <a:t>Demo 12.1 - (continued)</a:t>
            </a:r>
            <a:endParaRPr sz="32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4BA0E4-C9C1-86C2-5194-CD0B03733F10}"/>
              </a:ext>
            </a:extLst>
          </p:cNvPr>
          <p:cNvSpPr txBox="1"/>
          <p:nvPr/>
        </p:nvSpPr>
        <p:spPr>
          <a:xfrm>
            <a:off x="239486" y="1273021"/>
            <a:ext cx="4484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2) Use Selector to rebuild ONLY the list</a:t>
            </a:r>
          </a:p>
        </p:txBody>
      </p:sp>
      <p:pic>
        <p:nvPicPr>
          <p:cNvPr id="6" name="Picture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26FB9995-C32C-88DB-4E04-C514E30E7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686" y="1662951"/>
            <a:ext cx="5334000" cy="49720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B89A9E1-F98F-9FEB-7985-064FE6E16EEE}"/>
              </a:ext>
            </a:extLst>
          </p:cNvPr>
          <p:cNvSpPr txBox="1"/>
          <p:nvPr/>
        </p:nvSpPr>
        <p:spPr>
          <a:xfrm>
            <a:off x="239486" y="9828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Solution (After Optimization)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3C3EDF-535A-2D96-1E5F-90CF422DE20F}"/>
              </a:ext>
            </a:extLst>
          </p:cNvPr>
          <p:cNvSpPr txBox="1"/>
          <p:nvPr/>
        </p:nvSpPr>
        <p:spPr>
          <a:xfrm>
            <a:off x="5856514" y="127302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3) Make input UI independent of task list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7FA45E4-E4E8-D039-5621-4B1ED776A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485" y="1801396"/>
            <a:ext cx="5855782" cy="495489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B62A9FE-4186-E8C7-843D-C82A57B88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433969"/>
            <a:ext cx="5791199" cy="4201032"/>
          </a:xfrm>
        </p:spPr>
        <p:txBody>
          <a:bodyPr/>
          <a:lstStyle/>
          <a:p>
            <a:pPr marL="0" indent="0">
              <a:buNone/>
              <a:defRPr sz="1800"/>
            </a:pPr>
            <a:r>
              <a:rPr lang="en-US" sz="1800"/>
              <a:t>Performance Result</a:t>
            </a:r>
          </a:p>
          <a:p>
            <a:pPr marL="0" indent="0">
              <a:buNone/>
              <a:defRPr sz="1800"/>
            </a:pPr>
            <a:r>
              <a:rPr lang="en-US" sz="1800" b="0"/>
              <a:t>Before:</a:t>
            </a:r>
          </a:p>
          <a:p>
            <a:pPr>
              <a:defRPr sz="1800"/>
            </a:pPr>
            <a:r>
              <a:rPr lang="en-US" sz="1800" b="0"/>
              <a:t>Entire screen rebuilds</a:t>
            </a:r>
          </a:p>
          <a:p>
            <a:pPr>
              <a:defRPr sz="1800"/>
            </a:pPr>
            <a:r>
              <a:rPr lang="en-US" sz="1800" b="0"/>
              <a:t>All list items rebuilt on every action</a:t>
            </a:r>
          </a:p>
          <a:p>
            <a:pPr marL="0" indent="0">
              <a:buNone/>
              <a:defRPr sz="1800"/>
            </a:pPr>
            <a:r>
              <a:rPr lang="en-US" sz="1800" b="0"/>
              <a:t>After:</a:t>
            </a:r>
          </a:p>
          <a:p>
            <a:pPr>
              <a:defRPr sz="1800"/>
            </a:pPr>
            <a:r>
              <a:rPr lang="en-US" sz="1800" b="0"/>
              <a:t>Only the list rebuilds</a:t>
            </a:r>
          </a:p>
          <a:p>
            <a:pPr>
              <a:defRPr sz="1800"/>
            </a:pPr>
            <a:r>
              <a:rPr lang="en-US" sz="1800" b="0"/>
              <a:t>Only the affected TaskTile rebuilds</a:t>
            </a:r>
          </a:p>
          <a:p>
            <a:pPr>
              <a:defRPr sz="1800"/>
            </a:pPr>
            <a:r>
              <a:rPr lang="en-US" sz="1800" b="0"/>
              <a:t>Smoother scrolling</a:t>
            </a:r>
          </a:p>
          <a:p>
            <a:pPr>
              <a:defRPr sz="1800"/>
            </a:pPr>
            <a:r>
              <a:rPr lang="en-US" sz="1800" b="0"/>
              <a:t>Cleaner, maintainable architecture</a:t>
            </a:r>
          </a:p>
        </p:txBody>
      </p:sp>
    </p:spTree>
    <p:extLst>
      <p:ext uri="{BB962C8B-B14F-4D97-AF65-F5344CB8AC3E}">
        <p14:creationId xmlns:p14="http://schemas.microsoft.com/office/powerpoint/2010/main" val="14031557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F0634-AD29-68B7-F6FA-49F41E196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E5518-9A33-8849-8E13-605A11771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085" y="250372"/>
            <a:ext cx="10972800" cy="997960"/>
          </a:xfrm>
        </p:spPr>
        <p:txBody>
          <a:bodyPr/>
          <a:lstStyle/>
          <a:p>
            <a:pPr algn="ctr"/>
            <a:br>
              <a:rPr lang="en-US" sz="3200"/>
            </a:br>
            <a:r>
              <a:rPr lang="en-US" sz="3200"/>
              <a:t>Demo 12.2 - Image Optimization </a:t>
            </a:r>
            <a:br>
              <a:rPr lang="en-US" sz="3200"/>
            </a:br>
            <a:r>
              <a:rPr lang="en-US" sz="2400" b="0"/>
              <a:t>Improve image loading performance and reduce layout cost.</a:t>
            </a:r>
            <a:br>
              <a:rPr lang="en-US" sz="3200"/>
            </a:br>
            <a:endParaRPr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A5699-5579-F187-A0A6-043493625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715" y="1422398"/>
            <a:ext cx="5410200" cy="5261431"/>
          </a:xfrm>
        </p:spPr>
        <p:txBody>
          <a:bodyPr/>
          <a:lstStyle/>
          <a:p>
            <a:pPr marL="0" indent="0">
              <a:buNone/>
              <a:defRPr sz="1800"/>
            </a:pPr>
            <a:r>
              <a:rPr lang="en-US" sz="1800"/>
              <a:t>Objectives</a:t>
            </a:r>
          </a:p>
          <a:p>
            <a:pPr>
              <a:defRPr sz="1800"/>
            </a:pPr>
            <a:r>
              <a:rPr lang="en-US" sz="1800" b="0"/>
              <a:t>Understand why large or uncompressed images affect performance</a:t>
            </a:r>
          </a:p>
          <a:p>
            <a:pPr>
              <a:defRPr sz="1800"/>
            </a:pPr>
            <a:r>
              <a:rPr lang="en-US" sz="1800" b="0"/>
              <a:t>Apply resizing, caching, and placeholders</a:t>
            </a:r>
          </a:p>
          <a:p>
            <a:pPr>
              <a:defRPr sz="1800"/>
            </a:pPr>
            <a:r>
              <a:rPr lang="en-US" sz="1800" b="0"/>
              <a:t>Avoid heavy work in build()</a:t>
            </a:r>
          </a:p>
          <a:p>
            <a:pPr marL="0" indent="0">
              <a:buNone/>
              <a:defRPr sz="1800"/>
            </a:pPr>
            <a:r>
              <a:rPr lang="en-US" sz="1800"/>
              <a:t>Key Optimization Techniques</a:t>
            </a:r>
          </a:p>
          <a:p>
            <a:pPr marL="457200" indent="-457200">
              <a:buFont typeface="+mj-lt"/>
              <a:buAutoNum type="arabicPeriod"/>
              <a:defRPr sz="1800"/>
            </a:pPr>
            <a:r>
              <a:rPr lang="en-US" sz="1800" b="0"/>
              <a:t>Resize images before use</a:t>
            </a:r>
          </a:p>
          <a:p>
            <a:pPr marL="400040" lvl="1" indent="0">
              <a:buNone/>
              <a:defRPr sz="1800"/>
            </a:pPr>
            <a:r>
              <a:rPr lang="en-US" sz="1800" b="0"/>
              <a:t>Avoid loading 2000px images for 50px thumbnails.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4BDDDD-D383-AA00-7095-B2CDF3A455C6}"/>
              </a:ext>
            </a:extLst>
          </p:cNvPr>
          <p:cNvSpPr txBox="1"/>
          <p:nvPr/>
        </p:nvSpPr>
        <p:spPr>
          <a:xfrm>
            <a:off x="1638300" y="4475593"/>
            <a:ext cx="2819400" cy="20928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Image.asset(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'assets/category.png',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width: 48,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height: 48,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E1831A1-5BBF-8350-79A9-47A8965134DE}"/>
              </a:ext>
            </a:extLst>
          </p:cNvPr>
          <p:cNvSpPr txBox="1">
            <a:spLocks/>
          </p:cNvSpPr>
          <p:nvPr/>
        </p:nvSpPr>
        <p:spPr bwMode="auto">
          <a:xfrm>
            <a:off x="6183087" y="1531255"/>
            <a:ext cx="5511798" cy="50763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marL="342257" indent="-342257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200" b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1pPr>
            <a:lvl2pPr marL="742297" indent="-285585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2pPr>
            <a:lvl3pPr marL="1142336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3pPr>
            <a:lvl4pPr marL="1599049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i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4pPr>
            <a:lvl5pPr marL="2056873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5pPr>
            <a:lvl6pPr marL="2514411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7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09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1800"/>
            </a:pPr>
            <a:r>
              <a:rPr lang="en-US" sz="1800" b="0"/>
              <a:t>2. Pre-cache frequently used images</a:t>
            </a:r>
          </a:p>
          <a:p>
            <a:pPr marL="742940" lvl="1" indent="-342900">
              <a:buFont typeface="Arial" panose="020B0604020202020204" pitchFamily="34" charset="0"/>
              <a:buChar char="•"/>
              <a:defRPr sz="1800"/>
            </a:pPr>
            <a:r>
              <a:rPr lang="en-US" sz="1600" b="0"/>
              <a:t>precacheImage(const AssetImage('assets/category.png'), context);</a:t>
            </a:r>
          </a:p>
          <a:p>
            <a:pPr marL="0" indent="0">
              <a:buNone/>
              <a:defRPr sz="1800"/>
            </a:pPr>
            <a:r>
              <a:rPr lang="en-US" sz="1800" b="0"/>
              <a:t>3. Use FadeInImage for remote images</a:t>
            </a:r>
          </a:p>
          <a:p>
            <a:pPr marL="0" indent="0">
              <a:buNone/>
              <a:defRPr sz="1800"/>
            </a:pPr>
            <a:endParaRPr lang="en-US" sz="1800" b="0"/>
          </a:p>
          <a:p>
            <a:pPr marL="0" indent="0">
              <a:buNone/>
              <a:defRPr sz="1800"/>
            </a:pPr>
            <a:endParaRPr lang="en-US" sz="1800" b="0"/>
          </a:p>
          <a:p>
            <a:pPr marL="0" indent="0">
              <a:buNone/>
              <a:defRPr sz="1800"/>
            </a:pPr>
            <a:endParaRPr lang="en-US" sz="1800" b="0"/>
          </a:p>
          <a:p>
            <a:pPr marL="0" indent="0">
              <a:buNone/>
              <a:defRPr sz="1800"/>
            </a:pPr>
            <a:endParaRPr lang="en-US" sz="1800" b="0"/>
          </a:p>
          <a:p>
            <a:pPr marL="0" indent="0">
              <a:buNone/>
              <a:defRPr sz="1800"/>
            </a:pPr>
            <a:r>
              <a:rPr lang="en-US" sz="1800" b="0"/>
              <a:t>4. Avoid decoding images in build()</a:t>
            </a:r>
          </a:p>
          <a:p>
            <a:pPr marL="0" indent="0">
              <a:buNone/>
              <a:defRPr sz="1800"/>
            </a:pPr>
            <a:r>
              <a:rPr lang="en-US" sz="1800" b="0"/>
              <a:t>➡ Decode once in initState if needed.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921ED0-E472-6635-879E-D666E3BBAA7A}"/>
              </a:ext>
            </a:extLst>
          </p:cNvPr>
          <p:cNvSpPr txBox="1"/>
          <p:nvPr/>
        </p:nvSpPr>
        <p:spPr>
          <a:xfrm>
            <a:off x="6836227" y="3110047"/>
            <a:ext cx="3450771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FadeInImage.assetNetwork(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placeholder: 'assets/loading.png',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image: task.imageUrl,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035424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30A2E-C505-E64A-26AB-0A116E7C2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DF96B-3CC1-C616-D1B6-ABF591429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085" y="250372"/>
            <a:ext cx="10972800" cy="794657"/>
          </a:xfrm>
        </p:spPr>
        <p:txBody>
          <a:bodyPr/>
          <a:lstStyle/>
          <a:p>
            <a:pPr algn="ctr"/>
            <a:br>
              <a:rPr lang="en-US" sz="3200"/>
            </a:br>
            <a:r>
              <a:rPr lang="en-US" sz="3200"/>
              <a:t>Demo 12.3 - App Size Analysis </a:t>
            </a:r>
            <a:br>
              <a:rPr lang="en-US" sz="3200"/>
            </a:br>
            <a:endParaRPr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E0858-063A-5941-1862-25FF6FF37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30" y="1074056"/>
            <a:ext cx="5410200" cy="5446487"/>
          </a:xfrm>
        </p:spPr>
        <p:txBody>
          <a:bodyPr/>
          <a:lstStyle/>
          <a:p>
            <a:pPr marL="0" indent="0">
              <a:buNone/>
              <a:defRPr sz="1800"/>
            </a:pPr>
            <a:r>
              <a:rPr lang="en-US" sz="1800"/>
              <a:t>Objectives</a:t>
            </a:r>
          </a:p>
          <a:p>
            <a:pPr>
              <a:defRPr sz="1800"/>
            </a:pPr>
            <a:r>
              <a:rPr lang="en-US" sz="1800" b="0"/>
              <a:t>Generate size analysis report using Flutter CLI</a:t>
            </a:r>
          </a:p>
          <a:p>
            <a:pPr>
              <a:defRPr sz="1800"/>
            </a:pPr>
            <a:r>
              <a:rPr lang="en-US" sz="1800" b="0"/>
              <a:t>Understand breakdown of: code size, assets, packages</a:t>
            </a:r>
          </a:p>
          <a:p>
            <a:pPr>
              <a:defRPr sz="1800"/>
            </a:pPr>
            <a:r>
              <a:rPr lang="en-US" sz="1800" b="0"/>
              <a:t>Identify unnecessary dependencies or large assets</a:t>
            </a:r>
          </a:p>
          <a:p>
            <a:pPr marL="0" indent="0">
              <a:buNone/>
              <a:defRPr sz="1800"/>
            </a:pPr>
            <a:r>
              <a:rPr lang="en-US" sz="1800"/>
              <a:t>1. Build debug vs release</a:t>
            </a:r>
          </a:p>
          <a:p>
            <a:pPr marL="400040" lvl="1" indent="0">
              <a:buNone/>
              <a:defRPr sz="1800"/>
            </a:pPr>
            <a:r>
              <a:rPr lang="en-US" sz="1600" b="0"/>
              <a:t>flutter build apk --debug</a:t>
            </a:r>
          </a:p>
          <a:p>
            <a:pPr marL="400040" lvl="1" indent="0">
              <a:buNone/>
              <a:defRPr sz="1800"/>
            </a:pPr>
            <a:r>
              <a:rPr lang="en-US" sz="1600" b="0"/>
              <a:t>flutter build apk --release</a:t>
            </a:r>
          </a:p>
          <a:p>
            <a:pPr marL="0" indent="0">
              <a:buNone/>
              <a:defRPr sz="1800"/>
            </a:pPr>
            <a:r>
              <a:rPr lang="en-US" sz="1800"/>
              <a:t>2. Analyze app size</a:t>
            </a:r>
          </a:p>
          <a:p>
            <a:pPr marL="400040" lvl="1" indent="0">
              <a:buNone/>
              <a:defRPr sz="1800"/>
            </a:pPr>
            <a:r>
              <a:rPr lang="en-US" sz="1600" b="0"/>
              <a:t>flutter build apk --analyze-size</a:t>
            </a:r>
          </a:p>
          <a:p>
            <a:pPr marL="0" indent="0">
              <a:buNone/>
              <a:defRPr sz="1800"/>
            </a:pPr>
            <a:r>
              <a:rPr lang="en-US" sz="1800" b="0"/>
              <a:t>Output: JSON + HTML tree map fileDart AOT code size</a:t>
            </a:r>
          </a:p>
          <a:p>
            <a:pPr>
              <a:defRPr sz="1800"/>
            </a:pPr>
            <a:r>
              <a:rPr lang="en-US" sz="1800" b="0"/>
              <a:t>Native libraries</a:t>
            </a:r>
          </a:p>
          <a:p>
            <a:pPr>
              <a:defRPr sz="1800"/>
            </a:pPr>
            <a:r>
              <a:rPr lang="en-US" sz="1800" b="0"/>
              <a:t>Assets folder breakdown</a:t>
            </a:r>
          </a:p>
          <a:p>
            <a:pPr>
              <a:defRPr sz="1800"/>
            </a:pPr>
            <a:r>
              <a:rPr lang="en-US" sz="1800" b="0"/>
              <a:t>Package contributions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0E7CA43-64B6-7879-7B2E-D9E2E59FDA18}"/>
              </a:ext>
            </a:extLst>
          </p:cNvPr>
          <p:cNvSpPr txBox="1">
            <a:spLocks/>
          </p:cNvSpPr>
          <p:nvPr/>
        </p:nvSpPr>
        <p:spPr bwMode="auto">
          <a:xfrm>
            <a:off x="6284685" y="1161141"/>
            <a:ext cx="5410200" cy="54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marL="342257" indent="-342257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200" b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1pPr>
            <a:lvl2pPr marL="742297" indent="-285585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2pPr>
            <a:lvl3pPr marL="1142336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3pPr>
            <a:lvl4pPr marL="1599049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i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4pPr>
            <a:lvl5pPr marL="2056873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5pPr>
            <a:lvl6pPr marL="2514411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7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09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1800"/>
            </a:pPr>
            <a:r>
              <a:rPr lang="en-US" sz="1800"/>
              <a:t>3. Common Size Optimization Tips</a:t>
            </a:r>
          </a:p>
          <a:p>
            <a:pPr>
              <a:defRPr sz="1800"/>
            </a:pPr>
            <a:r>
              <a:rPr lang="en-US" sz="1800" b="0"/>
              <a:t>Remove unused assets</a:t>
            </a:r>
          </a:p>
          <a:p>
            <a:pPr>
              <a:defRPr sz="1800"/>
            </a:pPr>
            <a:r>
              <a:rPr lang="en-US" sz="1800" b="0"/>
              <a:t>Compress large images</a:t>
            </a:r>
          </a:p>
          <a:p>
            <a:pPr>
              <a:defRPr sz="1800"/>
            </a:pPr>
            <a:r>
              <a:rPr lang="en-US" sz="1800" b="0"/>
              <a:t>Delete unused dependencies from pubspec.yaml</a:t>
            </a:r>
          </a:p>
          <a:p>
            <a:pPr>
              <a:defRPr sz="1800"/>
            </a:pPr>
            <a:r>
              <a:rPr lang="en-US" sz="1800" b="0"/>
              <a:t>Enable tree-shaking icons (Material icons off)</a:t>
            </a:r>
          </a:p>
        </p:txBody>
      </p:sp>
      <p:pic>
        <p:nvPicPr>
          <p:cNvPr id="11" name="Picture 10" descr="A close-up of a word&#10;&#10;AI-generated content may be incorrect.">
            <a:extLst>
              <a:ext uri="{FF2B5EF4-FFF2-40B4-BE49-F238E27FC236}">
                <a16:creationId xmlns:a16="http://schemas.microsoft.com/office/drawing/2014/main" id="{40104181-7412-1708-6CE8-C4E3B087F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6946" y="3282723"/>
            <a:ext cx="4622121" cy="7715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521755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D0554-0EBB-2FE2-85B5-04ACFFC4C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64858-99CA-4945-A12A-2F01576FC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5742" y="337457"/>
            <a:ext cx="10972800" cy="794657"/>
          </a:xfrm>
        </p:spPr>
        <p:txBody>
          <a:bodyPr/>
          <a:lstStyle/>
          <a:p>
            <a:pPr algn="ctr"/>
            <a:br>
              <a:rPr lang="en-US" sz="3200"/>
            </a:br>
            <a:r>
              <a:rPr lang="en-US" sz="3200"/>
              <a:t>Demo 12.4: Building &amp; Deploying The Release App (Taskly)</a:t>
            </a:r>
            <a:br>
              <a:rPr lang="en-US" sz="3200"/>
            </a:br>
            <a:endParaRPr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0A3D8-AA8D-4632-FE70-D6F64D6E6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287" y="1302656"/>
            <a:ext cx="5410200" cy="5446487"/>
          </a:xfrm>
        </p:spPr>
        <p:txBody>
          <a:bodyPr/>
          <a:lstStyle/>
          <a:p>
            <a:pPr marL="0" indent="0">
              <a:buNone/>
              <a:defRPr sz="1800"/>
            </a:pPr>
            <a:r>
              <a:rPr lang="en-US" sz="1800"/>
              <a:t>Objectives</a:t>
            </a:r>
          </a:p>
          <a:p>
            <a:pPr>
              <a:spcBef>
                <a:spcPts val="0"/>
              </a:spcBef>
              <a:defRPr sz="1800"/>
            </a:pPr>
            <a:r>
              <a:rPr lang="en-US" sz="1800" b="0"/>
              <a:t>Understanding Release vs Debug vs Profile modes</a:t>
            </a:r>
          </a:p>
          <a:p>
            <a:pPr>
              <a:spcBef>
                <a:spcPts val="0"/>
              </a:spcBef>
              <a:defRPr sz="1800"/>
            </a:pPr>
            <a:r>
              <a:rPr lang="en-US" sz="1800" b="0"/>
              <a:t>Build Release APK / AppBundle</a:t>
            </a:r>
          </a:p>
          <a:p>
            <a:pPr>
              <a:spcBef>
                <a:spcPts val="0"/>
              </a:spcBef>
              <a:defRPr sz="1800"/>
            </a:pPr>
            <a:r>
              <a:rPr lang="en-US" sz="1800" b="0"/>
              <a:t>Configure app version</a:t>
            </a:r>
          </a:p>
          <a:p>
            <a:pPr>
              <a:spcBef>
                <a:spcPts val="0"/>
              </a:spcBef>
              <a:defRPr sz="1800"/>
            </a:pPr>
            <a:r>
              <a:rPr lang="en-US" sz="1800" b="0"/>
              <a:t>(Optional) Sign the application for Google Play</a:t>
            </a:r>
          </a:p>
          <a:p>
            <a:pPr>
              <a:spcBef>
                <a:spcPts val="0"/>
              </a:spcBef>
              <a:defRPr sz="1800"/>
            </a:pPr>
            <a:r>
              <a:rPr lang="en-US" sz="1800" b="0"/>
              <a:t>Validate final build size and performance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 sz="1800"/>
            </a:pPr>
            <a:r>
              <a:rPr lang="en-US" sz="1800"/>
              <a:t>1. Preparing Project for Release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 sz="1800"/>
            </a:pPr>
            <a:r>
              <a:rPr lang="en-US" sz="1800"/>
              <a:t>Check versioning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 sz="1800"/>
            </a:pPr>
            <a:r>
              <a:rPr lang="en-US" sz="1800" b="0"/>
              <a:t>File: </a:t>
            </a:r>
            <a:r>
              <a:rPr lang="en-US" b="0"/>
              <a:t>android/app/build.gradle</a:t>
            </a:r>
            <a:endParaRPr lang="en-US" sz="1800" b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 sz="1800"/>
            </a:pPr>
            <a:endParaRPr lang="en-US" sz="1800" b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 sz="1800"/>
            </a:pPr>
            <a:endParaRPr lang="en-US" sz="1800" b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 sz="1800"/>
            </a:pPr>
            <a:endParaRPr lang="en-US" sz="1800" b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 sz="1800"/>
            </a:pPr>
            <a:endParaRPr lang="en-US" sz="1800" b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 sz="1800"/>
            </a:pPr>
            <a:r>
              <a:rPr lang="en-US" sz="1800"/>
              <a:t>Version rules: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/>
            </a:pPr>
            <a:r>
              <a:rPr lang="en-US" sz="1800" b="0"/>
              <a:t>versionCode = integer (must increase every release)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800"/>
            </a:pPr>
            <a:r>
              <a:rPr lang="en-US" sz="1800" b="0"/>
              <a:t>versionName = display version</a:t>
            </a:r>
          </a:p>
        </p:txBody>
      </p:sp>
      <p:pic>
        <p:nvPicPr>
          <p:cNvPr id="5" name="Picture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FC38776D-2E6D-2EF4-F41B-A3A476160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901" y="4251299"/>
            <a:ext cx="3143250" cy="109537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715D401-7A03-6768-25F0-C3DCD2FD6507}"/>
              </a:ext>
            </a:extLst>
          </p:cNvPr>
          <p:cNvSpPr txBox="1">
            <a:spLocks/>
          </p:cNvSpPr>
          <p:nvPr/>
        </p:nvSpPr>
        <p:spPr bwMode="auto">
          <a:xfrm>
            <a:off x="6096000" y="1277255"/>
            <a:ext cx="5410200" cy="54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marL="342257" indent="-342257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200" b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1pPr>
            <a:lvl2pPr marL="742297" indent="-285585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2pPr>
            <a:lvl3pPr marL="1142336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3pPr>
            <a:lvl4pPr marL="1599049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i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4pPr>
            <a:lvl5pPr marL="2056873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5pPr>
            <a:lvl6pPr marL="2514411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7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09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1800"/>
            </a:pPr>
            <a:r>
              <a:rPr lang="en-US" sz="2000"/>
              <a:t>2. Run App in Profile Mode</a:t>
            </a:r>
          </a:p>
          <a:p>
            <a:pPr marL="0" indent="0">
              <a:buNone/>
              <a:defRPr sz="1800"/>
            </a:pPr>
            <a:r>
              <a:rPr lang="en-US" sz="1800"/>
              <a:t>Command</a:t>
            </a:r>
          </a:p>
          <a:p>
            <a:pPr marL="400040" lvl="1" indent="0">
              <a:buNone/>
              <a:defRPr sz="1800"/>
            </a:pPr>
            <a:r>
              <a:rPr lang="en-US" sz="1800">
                <a:highlight>
                  <a:srgbClr val="C0C0C0"/>
                </a:highlight>
              </a:rPr>
              <a:t>flutter run --profile</a:t>
            </a:r>
          </a:p>
          <a:p>
            <a:pPr marL="0" indent="0">
              <a:buNone/>
              <a:defRPr sz="1800"/>
            </a:pPr>
            <a:r>
              <a:rPr lang="en-US" sz="1800"/>
              <a:t>Purpose</a:t>
            </a:r>
          </a:p>
          <a:p>
            <a:pPr lvl="1">
              <a:buFont typeface="Arial" panose="020B0604020202020204" pitchFamily="34" charset="0"/>
              <a:buChar char="•"/>
              <a:defRPr sz="1800"/>
            </a:pPr>
            <a:r>
              <a:rPr lang="en-US" sz="1800" b="0"/>
              <a:t>Runs the app with near-release performance</a:t>
            </a:r>
          </a:p>
          <a:p>
            <a:pPr lvl="1">
              <a:buFont typeface="Arial" panose="020B0604020202020204" pitchFamily="34" charset="0"/>
              <a:buChar char="•"/>
              <a:defRPr sz="1800"/>
            </a:pPr>
            <a:r>
              <a:rPr lang="en-US" sz="1800" b="0"/>
              <a:t>Removes debugging overhead</a:t>
            </a:r>
          </a:p>
          <a:p>
            <a:pPr lvl="1">
              <a:buFont typeface="Arial" panose="020B0604020202020204" pitchFamily="34" charset="0"/>
              <a:buChar char="•"/>
              <a:defRPr sz="1800"/>
            </a:pPr>
            <a:r>
              <a:rPr lang="en-US" sz="1800" b="0"/>
              <a:t>Helps you check smoothness, scrolling, and build/render cost</a:t>
            </a:r>
          </a:p>
          <a:p>
            <a:pPr marL="0" indent="0">
              <a:buNone/>
              <a:defRPr sz="1800"/>
            </a:pPr>
            <a:r>
              <a:rPr lang="en-US" sz="1800"/>
              <a:t>Notes</a:t>
            </a:r>
          </a:p>
          <a:p>
            <a:pPr lvl="1">
              <a:buFont typeface="Arial" panose="020B0604020202020204" pitchFamily="34" charset="0"/>
              <a:buChar char="•"/>
              <a:defRPr sz="1800"/>
            </a:pPr>
            <a:r>
              <a:rPr lang="en-US" sz="1800" b="0"/>
              <a:t>Profile mode is recommended before building the final Release APK</a:t>
            </a:r>
          </a:p>
          <a:p>
            <a:pPr lvl="1">
              <a:buFont typeface="Arial" panose="020B0604020202020204" pitchFamily="34" charset="0"/>
              <a:buChar char="•"/>
              <a:defRPr sz="1800"/>
            </a:pPr>
            <a:r>
              <a:rPr lang="en-US" sz="1800" b="0"/>
              <a:t>No code changes required, just run and observe the behavior</a:t>
            </a:r>
          </a:p>
        </p:txBody>
      </p:sp>
    </p:spTree>
    <p:extLst>
      <p:ext uri="{BB962C8B-B14F-4D97-AF65-F5344CB8AC3E}">
        <p14:creationId xmlns:p14="http://schemas.microsoft.com/office/powerpoint/2010/main" val="26122182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C71F4-474A-E200-9924-32602C929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CBC95-9CF1-1B26-8C34-878BE86C3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288" y="391482"/>
            <a:ext cx="10972800" cy="794657"/>
          </a:xfrm>
        </p:spPr>
        <p:txBody>
          <a:bodyPr/>
          <a:lstStyle/>
          <a:p>
            <a:pPr algn="ctr"/>
            <a:br>
              <a:rPr lang="en-US" sz="3200"/>
            </a:br>
            <a:r>
              <a:rPr lang="en-US" sz="3200"/>
              <a:t>Demo 12.4 (continued)</a:t>
            </a:r>
            <a:br>
              <a:rPr lang="en-US" sz="3200"/>
            </a:br>
            <a:endParaRPr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E5565-6FB1-D3CC-B48B-37AB746CA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288" y="1478844"/>
            <a:ext cx="5083627" cy="4775448"/>
          </a:xfrm>
        </p:spPr>
        <p:txBody>
          <a:bodyPr/>
          <a:lstStyle/>
          <a:p>
            <a:pPr marL="0" indent="0">
              <a:buNone/>
              <a:defRPr sz="1800"/>
            </a:pPr>
            <a:r>
              <a:rPr lang="en-US" sz="2000"/>
              <a:t>3. Build Release APK</a:t>
            </a:r>
          </a:p>
          <a:p>
            <a:pPr>
              <a:defRPr sz="1800"/>
            </a:pPr>
            <a:r>
              <a:rPr lang="en-US" sz="2000"/>
              <a:t>Command</a:t>
            </a:r>
          </a:p>
          <a:p>
            <a:pPr marL="400040" lvl="1" indent="0">
              <a:buNone/>
              <a:defRPr sz="1800"/>
            </a:pPr>
            <a:r>
              <a:rPr lang="en-US">
                <a:highlight>
                  <a:srgbClr val="C0C0C0"/>
                </a:highlight>
              </a:rPr>
              <a:t>flutter build apk --release</a:t>
            </a:r>
          </a:p>
          <a:p>
            <a:pPr>
              <a:defRPr sz="1800"/>
            </a:pPr>
            <a:r>
              <a:rPr lang="en-US" sz="2000"/>
              <a:t>Output location:</a:t>
            </a:r>
          </a:p>
          <a:p>
            <a:pPr marL="400040" lvl="1" indent="0">
              <a:buNone/>
              <a:defRPr sz="1800"/>
            </a:pPr>
            <a:r>
              <a:rPr lang="en-US" b="0">
                <a:highlight>
                  <a:srgbClr val="C0C0C0"/>
                </a:highlight>
              </a:rPr>
              <a:t>build/app/outputs/flutter-apk/app-release.apk</a:t>
            </a:r>
          </a:p>
          <a:p>
            <a:pPr>
              <a:defRPr sz="1800"/>
            </a:pPr>
            <a:r>
              <a:rPr lang="en-US" sz="2000"/>
              <a:t>What students should verify</a:t>
            </a:r>
            <a:r>
              <a:rPr lang="en-US" sz="2000" b="0"/>
              <a:t>:</a:t>
            </a:r>
          </a:p>
          <a:p>
            <a:pPr lvl="1">
              <a:buFont typeface="Courier New" panose="02070309020205020404" pitchFamily="49" charset="0"/>
              <a:buChar char="o"/>
              <a:defRPr sz="1800"/>
            </a:pPr>
            <a:r>
              <a:rPr lang="en-US" b="0"/>
              <a:t>App starts instantly</a:t>
            </a:r>
          </a:p>
          <a:p>
            <a:pPr lvl="1">
              <a:buFont typeface="Courier New" panose="02070309020205020404" pitchFamily="49" charset="0"/>
              <a:buChar char="o"/>
              <a:defRPr sz="1800"/>
            </a:pPr>
            <a:r>
              <a:rPr lang="en-US" b="0"/>
              <a:t>Performance smoother than Debug mode</a:t>
            </a:r>
          </a:p>
          <a:p>
            <a:pPr lvl="1">
              <a:buFont typeface="Courier New" panose="02070309020205020404" pitchFamily="49" charset="0"/>
              <a:buChar char="o"/>
              <a:defRPr sz="1800"/>
            </a:pPr>
            <a:r>
              <a:rPr lang="en-US" b="0"/>
              <a:t>No debug banners, no hot reload</a:t>
            </a:r>
            <a:endParaRPr lang="en-US" sz="1800" b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D3F67AE-2B1F-0A65-190A-5960AB1E2BA4}"/>
              </a:ext>
            </a:extLst>
          </p:cNvPr>
          <p:cNvSpPr txBox="1">
            <a:spLocks/>
          </p:cNvSpPr>
          <p:nvPr/>
        </p:nvSpPr>
        <p:spPr bwMode="auto">
          <a:xfrm>
            <a:off x="5725887" y="1478844"/>
            <a:ext cx="5889171" cy="4775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marL="342257" indent="-342257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200" b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1pPr>
            <a:lvl2pPr marL="742297" indent="-285585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2pPr>
            <a:lvl3pPr marL="1142336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3pPr>
            <a:lvl4pPr marL="1599049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i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4pPr>
            <a:lvl5pPr marL="2056873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5pPr>
            <a:lvl6pPr marL="2514411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7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09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1800"/>
            </a:pPr>
            <a:r>
              <a:rPr lang="en-US" sz="2000"/>
              <a:t>4. Build AppBundle (AAB) for Google Play</a:t>
            </a:r>
          </a:p>
          <a:p>
            <a:pPr>
              <a:defRPr sz="1800"/>
            </a:pPr>
            <a:r>
              <a:rPr lang="en-US" sz="2000"/>
              <a:t>Google Play requires .aab instead of .apk.</a:t>
            </a:r>
          </a:p>
          <a:p>
            <a:pPr marL="800079" lvl="2" indent="0">
              <a:buNone/>
              <a:defRPr sz="1800"/>
            </a:pPr>
            <a:r>
              <a:rPr lang="en-US" b="0"/>
              <a:t>flutter build appbundle --release</a:t>
            </a:r>
          </a:p>
          <a:p>
            <a:pPr>
              <a:defRPr sz="1800"/>
            </a:pPr>
            <a:r>
              <a:rPr lang="en-US" sz="2000"/>
              <a:t>Output:</a:t>
            </a:r>
          </a:p>
          <a:p>
            <a:pPr marL="800079" lvl="2" indent="0">
              <a:buNone/>
              <a:defRPr sz="1800"/>
            </a:pPr>
            <a:r>
              <a:rPr lang="en-US" b="0"/>
              <a:t>build/app/outputs/bundle/release/app-release.aab</a:t>
            </a:r>
          </a:p>
        </p:txBody>
      </p:sp>
    </p:spTree>
    <p:extLst>
      <p:ext uri="{BB962C8B-B14F-4D97-AF65-F5344CB8AC3E}">
        <p14:creationId xmlns:p14="http://schemas.microsoft.com/office/powerpoint/2010/main" val="26090018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9EF68-65EB-FB03-00F3-CD628E51B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7C396-EB66-F9BF-669A-E4292F473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5742" y="337457"/>
            <a:ext cx="10972800" cy="794657"/>
          </a:xfrm>
        </p:spPr>
        <p:txBody>
          <a:bodyPr/>
          <a:lstStyle/>
          <a:p>
            <a:pPr algn="ctr"/>
            <a:br>
              <a:rPr lang="en-US" sz="3200"/>
            </a:br>
            <a:r>
              <a:rPr lang="en-US" sz="3200"/>
              <a:t>Demo 12.4 (continued)</a:t>
            </a:r>
            <a:br>
              <a:rPr lang="en-US" sz="3200"/>
            </a:br>
            <a:endParaRPr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E3F87-2BA0-67A5-12A0-62D431E82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356" y="1074056"/>
            <a:ext cx="10299902" cy="5446487"/>
          </a:xfrm>
        </p:spPr>
        <p:txBody>
          <a:bodyPr/>
          <a:lstStyle/>
          <a:p>
            <a:pPr marL="0" indent="0">
              <a:buNone/>
              <a:defRPr sz="1800"/>
            </a:pPr>
            <a:r>
              <a:rPr lang="en-US" sz="2000"/>
              <a:t>5. Optional - App Signing Configuration</a:t>
            </a:r>
          </a:p>
          <a:p>
            <a:pPr>
              <a:defRPr sz="1800"/>
            </a:pPr>
            <a:r>
              <a:rPr lang="en-US" sz="2000" b="0"/>
              <a:t>If publishing to Google Play, generate a keystore:</a:t>
            </a:r>
          </a:p>
          <a:p>
            <a:pPr marL="0" indent="0">
              <a:buNone/>
              <a:defRPr sz="1800"/>
            </a:pPr>
            <a:endParaRPr lang="en-US" sz="2000" b="0"/>
          </a:p>
          <a:p>
            <a:pPr>
              <a:defRPr sz="1800"/>
            </a:pPr>
            <a:r>
              <a:rPr lang="en-US" sz="2000" b="0"/>
              <a:t>Add file: android/key.properties</a:t>
            </a:r>
          </a:p>
          <a:p>
            <a:pPr marL="0" indent="0">
              <a:buNone/>
              <a:defRPr sz="1800"/>
            </a:pPr>
            <a:r>
              <a:rPr lang="en-US" sz="2000" b="0"/>
              <a:t>	</a:t>
            </a:r>
          </a:p>
          <a:p>
            <a:pPr marL="0" indent="0">
              <a:buNone/>
              <a:defRPr sz="1800"/>
            </a:pPr>
            <a:endParaRPr lang="en-US" sz="2000" b="0"/>
          </a:p>
          <a:p>
            <a:pPr marL="0" indent="0">
              <a:buNone/>
              <a:defRPr sz="1800"/>
            </a:pPr>
            <a:endParaRPr lang="en-US" sz="2000" b="0"/>
          </a:p>
          <a:p>
            <a:pPr>
              <a:defRPr sz="1800"/>
            </a:pPr>
            <a:r>
              <a:rPr lang="en-US" sz="1800" b="0"/>
              <a:t>Update build.gradle: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39FB68-5FB2-891B-B542-110FE5451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962" y="1933016"/>
            <a:ext cx="6858000" cy="4364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1D8803F8-39BA-FE05-C263-8B631BE029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6962" y="2806349"/>
            <a:ext cx="2930979" cy="12576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EFC0CDBE-12C7-A77F-7680-77CD5937A3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6962" y="4522411"/>
            <a:ext cx="4886325" cy="21336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786480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6BF28-EF54-43EA-7998-5AB29129E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FF5C8-9198-492C-218D-791122CF2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5742" y="337457"/>
            <a:ext cx="10972800" cy="794657"/>
          </a:xfrm>
        </p:spPr>
        <p:txBody>
          <a:bodyPr/>
          <a:lstStyle/>
          <a:p>
            <a:pPr algn="ctr"/>
            <a:br>
              <a:rPr lang="en-US" sz="3200"/>
            </a:br>
            <a:r>
              <a:rPr lang="en-US" sz="3200"/>
              <a:t>Demo 12.4 (Completed)</a:t>
            </a:r>
            <a:br>
              <a:rPr lang="en-US" sz="3200"/>
            </a:br>
            <a:endParaRPr sz="320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73E63CE-F4C9-4394-C9C5-106B79D8DD0C}"/>
              </a:ext>
            </a:extLst>
          </p:cNvPr>
          <p:cNvSpPr txBox="1">
            <a:spLocks/>
          </p:cNvSpPr>
          <p:nvPr/>
        </p:nvSpPr>
        <p:spPr bwMode="auto">
          <a:xfrm>
            <a:off x="885641" y="1259113"/>
            <a:ext cx="9815016" cy="4844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marL="342257" indent="-342257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200" b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1pPr>
            <a:lvl2pPr marL="742297" indent="-285585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2pPr>
            <a:lvl3pPr marL="1142336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3pPr>
            <a:lvl4pPr marL="1599049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i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4pPr>
            <a:lvl5pPr marL="2056873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5pPr>
            <a:lvl6pPr marL="2514411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7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09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 sz="1800"/>
            </a:pPr>
            <a:r>
              <a:rPr lang="en-US" sz="2400"/>
              <a:t>After completing Demo 12.4, you will have: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400" b="0"/>
              <a:t>A fully optimized Release build of Taskly (APK/AAB)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400" b="0"/>
              <a:t>A verified performance-checked version using Profile mode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400" b="0"/>
              <a:t>A project configured and ready for real deployment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400" b="0"/>
              <a:t>→ Your app is now production-ready.</a:t>
            </a:r>
            <a:endParaRPr lang="nb-NO" sz="2000" b="0"/>
          </a:p>
        </p:txBody>
      </p:sp>
    </p:spTree>
    <p:extLst>
      <p:ext uri="{BB962C8B-B14F-4D97-AF65-F5344CB8AC3E}">
        <p14:creationId xmlns:p14="http://schemas.microsoft.com/office/powerpoint/2010/main" val="31261184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F79CD-F32E-C730-0DC6-ED94FDEDF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9D665-2809-D9CA-CA5D-A8FC19909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514" y="241042"/>
            <a:ext cx="10972800" cy="818503"/>
          </a:xfrm>
        </p:spPr>
        <p:txBody>
          <a:bodyPr/>
          <a:lstStyle/>
          <a:p>
            <a:pPr algn="ctr"/>
            <a:r>
              <a:rPr lang="en-US" sz="3200"/>
              <a:t>Best Practices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DCA17C4-2BC6-64C9-01AE-9BA564C15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185" y="1326503"/>
            <a:ext cx="4263301" cy="5319484"/>
          </a:xfrm>
        </p:spPr>
        <p:txBody>
          <a:bodyPr/>
          <a:lstStyle/>
          <a:p>
            <a:pPr marL="0" indent="0">
              <a:buNone/>
              <a:defRPr sz="1800"/>
            </a:pPr>
            <a:r>
              <a:rPr lang="en-US" sz="2000"/>
              <a:t>1. Rendering</a:t>
            </a:r>
          </a:p>
          <a:p>
            <a:pPr>
              <a:defRPr sz="1800"/>
            </a:pPr>
            <a:r>
              <a:rPr lang="en-US" sz="2000" b="0"/>
              <a:t>Use const</a:t>
            </a:r>
          </a:p>
          <a:p>
            <a:pPr>
              <a:defRPr sz="1800"/>
            </a:pPr>
            <a:r>
              <a:rPr lang="en-US" sz="2000" b="0"/>
              <a:t>Extract widgets</a:t>
            </a:r>
          </a:p>
          <a:p>
            <a:pPr>
              <a:defRPr sz="1800"/>
            </a:pPr>
            <a:r>
              <a:rPr lang="en-US" sz="2000" b="0"/>
              <a:t>Avoid heavy work in build()</a:t>
            </a:r>
          </a:p>
          <a:p>
            <a:pPr marL="0" indent="0">
              <a:buNone/>
              <a:defRPr sz="1800"/>
            </a:pPr>
            <a:r>
              <a:rPr lang="en-US" sz="2000"/>
              <a:t>2. State &amp; Rebuilds</a:t>
            </a:r>
          </a:p>
          <a:p>
            <a:pPr>
              <a:defRPr sz="1800"/>
            </a:pPr>
            <a:r>
              <a:rPr lang="en-US" sz="2000" b="0"/>
              <a:t>Use Selector / fine-grained updates</a:t>
            </a:r>
          </a:p>
          <a:p>
            <a:pPr>
              <a:defRPr sz="1800"/>
            </a:pPr>
            <a:r>
              <a:rPr lang="en-US" sz="2000" b="0"/>
              <a:t>Keep state close to where it’s used</a:t>
            </a:r>
          </a:p>
          <a:p>
            <a:pPr marL="0" indent="0">
              <a:buNone/>
              <a:defRPr sz="1800"/>
            </a:pPr>
            <a:r>
              <a:rPr lang="en-US" sz="2000"/>
              <a:t>3. Lists</a:t>
            </a:r>
          </a:p>
          <a:p>
            <a:pPr>
              <a:defRPr sz="1800"/>
            </a:pPr>
            <a:r>
              <a:rPr lang="en-US" sz="2000" b="0"/>
              <a:t>Use ListView.builder</a:t>
            </a:r>
          </a:p>
          <a:p>
            <a:pPr>
              <a:defRPr sz="1800"/>
            </a:pPr>
            <a:r>
              <a:rPr lang="en-US" sz="2000" b="0"/>
              <a:t>Extract list items</a:t>
            </a:r>
          </a:p>
          <a:p>
            <a:pPr>
              <a:defRPr sz="1800"/>
            </a:pPr>
            <a:r>
              <a:rPr lang="en-US" sz="2000" b="0"/>
              <a:t>Use stable keys (ValueKey)</a:t>
            </a:r>
            <a:endParaRPr lang="nb-NO" sz="2000" b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F96A6-818C-F814-011C-0606661C7DE9}"/>
              </a:ext>
            </a:extLst>
          </p:cNvPr>
          <p:cNvSpPr txBox="1">
            <a:spLocks/>
          </p:cNvSpPr>
          <p:nvPr/>
        </p:nvSpPr>
        <p:spPr bwMode="auto">
          <a:xfrm>
            <a:off x="6433458" y="1326503"/>
            <a:ext cx="5464628" cy="5052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marL="342257" indent="-342257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200" b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1pPr>
            <a:lvl2pPr marL="742297" indent="-285585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2pPr>
            <a:lvl3pPr marL="1142336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3pPr>
            <a:lvl4pPr marL="1599049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i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4pPr>
            <a:lvl5pPr marL="2056873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5pPr>
            <a:lvl6pPr marL="2514411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7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09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1800"/>
            </a:pPr>
            <a:r>
              <a:rPr lang="nb-NO" sz="2000"/>
              <a:t>4. Images</a:t>
            </a:r>
          </a:p>
          <a:p>
            <a:pPr>
              <a:defRPr sz="1800"/>
            </a:pPr>
            <a:r>
              <a:rPr lang="nb-NO" sz="2000" b="0"/>
              <a:t>Resize &amp; compress</a:t>
            </a:r>
          </a:p>
          <a:p>
            <a:pPr>
              <a:defRPr sz="1800"/>
            </a:pPr>
            <a:r>
              <a:rPr lang="nb-NO" sz="2000" b="0"/>
              <a:t>Pre-cache</a:t>
            </a:r>
          </a:p>
          <a:p>
            <a:pPr>
              <a:defRPr sz="1800"/>
            </a:pPr>
            <a:r>
              <a:rPr lang="nb-NO" sz="2000" b="0"/>
              <a:t>Avoid decoding in build()</a:t>
            </a:r>
          </a:p>
          <a:p>
            <a:pPr marL="0" indent="0">
              <a:buNone/>
              <a:defRPr sz="1800"/>
            </a:pPr>
            <a:r>
              <a:rPr lang="nb-NO" sz="2000"/>
              <a:t>5. App Size</a:t>
            </a:r>
          </a:p>
          <a:p>
            <a:pPr>
              <a:defRPr sz="1800"/>
            </a:pPr>
            <a:r>
              <a:rPr lang="nb-NO" sz="2000" b="0"/>
              <a:t>Remove unused assets/deps</a:t>
            </a:r>
          </a:p>
          <a:p>
            <a:pPr>
              <a:defRPr sz="1800"/>
            </a:pPr>
            <a:r>
              <a:rPr lang="nb-NO" sz="2000" b="0"/>
              <a:t>Enable icon tree-shaking</a:t>
            </a:r>
          </a:p>
          <a:p>
            <a:pPr marL="0" indent="0">
              <a:buNone/>
              <a:defRPr sz="1800"/>
            </a:pPr>
            <a:r>
              <a:rPr lang="nb-NO" sz="2000"/>
              <a:t>6. DevTools &amp; Deployment</a:t>
            </a:r>
          </a:p>
          <a:p>
            <a:pPr>
              <a:defRPr sz="1800"/>
            </a:pPr>
            <a:r>
              <a:rPr lang="nb-NO" sz="2000" b="0"/>
              <a:t>Test in Profile mode</a:t>
            </a:r>
          </a:p>
          <a:p>
            <a:pPr>
              <a:defRPr sz="1800"/>
            </a:pPr>
            <a:r>
              <a:rPr lang="nb-NO" sz="2000" b="0"/>
              <a:t>Fix jank/rebuild hotspots</a:t>
            </a:r>
          </a:p>
          <a:p>
            <a:pPr>
              <a:defRPr sz="1800"/>
            </a:pPr>
            <a:r>
              <a:rPr lang="nb-NO" sz="2000" b="0"/>
              <a:t>Build Release APK/AAB and update versioning</a:t>
            </a:r>
          </a:p>
        </p:txBody>
      </p:sp>
    </p:spTree>
    <p:extLst>
      <p:ext uri="{BB962C8B-B14F-4D97-AF65-F5344CB8AC3E}">
        <p14:creationId xmlns:p14="http://schemas.microsoft.com/office/powerpoint/2010/main" val="18307971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94F37-1B9C-2421-DDB6-C6AA320CD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88F06-E657-9371-C4DA-7F147F6B2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203200"/>
            <a:ext cx="10972800" cy="818503"/>
          </a:xfrm>
        </p:spPr>
        <p:txBody>
          <a:bodyPr/>
          <a:lstStyle/>
          <a:p>
            <a:pPr algn="ctr"/>
            <a:r>
              <a:rPr lang="en-US" sz="320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882C1-55BA-F0EB-6E98-573CB14D4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930" y="1066313"/>
            <a:ext cx="10855869" cy="5066161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In Module 12, students learned to:</a:t>
            </a:r>
            <a:endParaRPr lang="en-US" b="0"/>
          </a:p>
          <a:p>
            <a:r>
              <a:rPr lang="en-US" b="0"/>
              <a:t>Understand Flutter’s rendering pipeline and common performance bottlenecks</a:t>
            </a:r>
          </a:p>
          <a:p>
            <a:r>
              <a:rPr lang="en-US" b="0"/>
              <a:t>Identify issues such as unnecessary rebuilds, heavy image decoding, inefficient lists</a:t>
            </a:r>
          </a:p>
          <a:p>
            <a:r>
              <a:rPr lang="en-US" b="0"/>
              <a:t>Use DevTools for profiling FPS, memory, rebuilds, and CPU</a:t>
            </a:r>
          </a:p>
          <a:p>
            <a:r>
              <a:rPr lang="en-US" b="0"/>
              <a:t>Apply practical optimizations: const, widget extraction, Selector, list tuning</a:t>
            </a:r>
          </a:p>
          <a:p>
            <a:r>
              <a:rPr lang="en-US" b="0"/>
              <a:t>Analyze and reduce app size using Flutter’s size tools</a:t>
            </a:r>
          </a:p>
          <a:p>
            <a:r>
              <a:rPr lang="en-US" b="0"/>
              <a:t>Build Release APK/AAB, verify performance in Profile mode, and prepare the app for deployment</a:t>
            </a:r>
          </a:p>
          <a:p>
            <a:r>
              <a:rPr lang="en-US" b="0"/>
              <a:t>Optimize the Taskly app and produce a production-ready release build</a:t>
            </a:r>
          </a:p>
          <a:p>
            <a:pPr>
              <a:lnSpc>
                <a:spcPct val="150000"/>
              </a:lnSpc>
            </a:pPr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2960344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6000" y="1560285"/>
            <a:ext cx="9826170" cy="4844143"/>
          </a:xfrm>
        </p:spPr>
        <p:txBody>
          <a:bodyPr/>
          <a:lstStyle/>
          <a:p>
            <a:pPr>
              <a:lnSpc>
                <a:spcPct val="150000"/>
              </a:lnSpc>
              <a:defRPr sz="1800"/>
            </a:pPr>
            <a:r>
              <a:rPr lang="en-US" sz="2000" b="0"/>
              <a:t>Kevin Moore, </a:t>
            </a:r>
            <a:r>
              <a:rPr lang="en-US" sz="2000" b="0" i="1"/>
              <a:t>Mastering Flutter 2025: Learn to Develop Flutter Apps</a:t>
            </a:r>
            <a:r>
              <a:rPr lang="en-US" sz="2000" b="0"/>
              <a:t>, Packt Publishing.</a:t>
            </a:r>
            <a:br>
              <a:rPr lang="en-US" sz="2000" b="0"/>
            </a:br>
            <a:r>
              <a:rPr lang="en-US" sz="2000" b="0"/>
              <a:t>→ Relevant chapters: Ch. 13 – Performance, Ch. 14 – DevTools, Ch. 15 – Deployment</a:t>
            </a:r>
            <a:endParaRPr lang="nb-NO" sz="2000" b="0"/>
          </a:p>
          <a:p>
            <a:r>
              <a:rPr lang="en-US" sz="2000" b="0"/>
              <a:t>Flutter Docs</a:t>
            </a:r>
          </a:p>
          <a:p>
            <a:pPr lvl="1"/>
            <a:r>
              <a:rPr lang="en-US" sz="1800" b="0"/>
              <a:t>Rendering &amp; Performance: </a:t>
            </a:r>
            <a:r>
              <a:rPr lang="en-US" sz="1800" b="0">
                <a:hlinkClick r:id="rId3"/>
              </a:rPr>
              <a:t>https://docs.flutter.dev/perf/</a:t>
            </a:r>
            <a:endParaRPr lang="en-US" sz="1800" b="0"/>
          </a:p>
          <a:p>
            <a:pPr lvl="1"/>
            <a:r>
              <a:rPr lang="en-US" sz="1800" b="0"/>
              <a:t>DevTools: </a:t>
            </a:r>
            <a:r>
              <a:rPr lang="en-US" sz="1800" b="0">
                <a:hlinkClick r:id="rId4"/>
              </a:rPr>
              <a:t>https://docs.flutter.dev/tools/devtools/overview</a:t>
            </a:r>
            <a:endParaRPr lang="en-US" sz="1800" b="0"/>
          </a:p>
          <a:p>
            <a:pPr lvl="1"/>
            <a:r>
              <a:rPr lang="en-US" sz="1800" b="0"/>
              <a:t>App Size: </a:t>
            </a:r>
            <a:r>
              <a:rPr lang="en-US" sz="1800" b="0">
                <a:hlinkClick r:id="rId5"/>
              </a:rPr>
              <a:t>https://docs.flutter.dev/perf/app-size</a:t>
            </a:r>
            <a:endParaRPr lang="en-US" sz="1800" b="0"/>
          </a:p>
          <a:p>
            <a:pPr lvl="1"/>
            <a:r>
              <a:rPr lang="en-US" sz="1800" b="0"/>
              <a:t>Deployment (Android): </a:t>
            </a:r>
            <a:r>
              <a:rPr lang="en-US" sz="1800" b="0">
                <a:hlinkClick r:id="rId6"/>
              </a:rPr>
              <a:t>https://docs.flutter.dev/deployment/android</a:t>
            </a:r>
            <a:endParaRPr lang="en-US" sz="1800" b="0"/>
          </a:p>
          <a:p>
            <a:r>
              <a:rPr lang="en-US" sz="2000" b="0"/>
              <a:t>Packages</a:t>
            </a:r>
          </a:p>
          <a:p>
            <a:pPr lvl="1"/>
            <a:r>
              <a:rPr lang="en-US" sz="1800" b="0"/>
              <a:t>Provider: </a:t>
            </a:r>
            <a:r>
              <a:rPr lang="en-US" sz="1800" b="0">
                <a:hlinkClick r:id="rId7"/>
              </a:rPr>
              <a:t>https://pub.dev/packages/provider</a:t>
            </a:r>
            <a:endParaRPr lang="en-US" sz="1800" b="0"/>
          </a:p>
          <a:p>
            <a:pPr lvl="1"/>
            <a:r>
              <a:rPr lang="en-US" sz="1800" b="0"/>
              <a:t>Flutter Test API: </a:t>
            </a:r>
            <a:r>
              <a:rPr lang="en-US" sz="1800" b="0">
                <a:hlinkClick r:id="rId8"/>
              </a:rPr>
              <a:t>https://api.flutter.dev/flutter/flutter_test/flutter_test-library.html</a:t>
            </a:r>
            <a:endParaRPr lang="en-US" sz="180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16333</TotalTime>
  <Words>2057</Words>
  <Application>Microsoft Office PowerPoint</Application>
  <PresentationFormat>Widescreen</PresentationFormat>
  <Paragraphs>365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Arial</vt:lpstr>
      <vt:lpstr>Courier New</vt:lpstr>
      <vt:lpstr>Myriad Pro</vt:lpstr>
      <vt:lpstr>Tahoma</vt:lpstr>
      <vt:lpstr>Times New Roman</vt:lpstr>
      <vt:lpstr>Theme1</vt:lpstr>
      <vt:lpstr>Module 12 - Performance Optimization &amp; App Deployment</vt:lpstr>
      <vt:lpstr>Learning Objectives</vt:lpstr>
      <vt:lpstr>Why Performance Matters in Flutter</vt:lpstr>
      <vt:lpstr>How Flutter Builds the UI (Render Pipeline)</vt:lpstr>
      <vt:lpstr>What Causes Performance Problems?</vt:lpstr>
      <vt:lpstr>Flutter DevTools Overview</vt:lpstr>
      <vt:lpstr>Identifying Rebuild Issues</vt:lpstr>
      <vt:lpstr>Optimization Technique 1: Use const Effectively</vt:lpstr>
      <vt:lpstr>Optimization Technique 2: Extract Widgets</vt:lpstr>
      <vt:lpstr>Optimization Technique 3: Avoid Heavy Work in build()</vt:lpstr>
      <vt:lpstr>Optimization Technique 4: Using Keys Properly</vt:lpstr>
      <vt:lpstr>Taskly Optimization Overview</vt:lpstr>
      <vt:lpstr> Demo 12.1 - Optimize List &amp; UI Rebuilds (Taskly) Improve performance by reducing unnecessary widget rebuilds </vt:lpstr>
      <vt:lpstr>Demo 12.1 - (continued)</vt:lpstr>
      <vt:lpstr>Demo 12.1 - (continued)</vt:lpstr>
      <vt:lpstr> Demo 12.2 - Image Optimization  Improve image loading performance and reduce layout cost. </vt:lpstr>
      <vt:lpstr> Demo 12.3 - App Size Analysis  </vt:lpstr>
      <vt:lpstr> Demo 12.4: Building &amp; Deploying The Release App (Taskly) </vt:lpstr>
      <vt:lpstr> Demo 12.4 (continued) </vt:lpstr>
      <vt:lpstr> Demo 12.4 (continued) </vt:lpstr>
      <vt:lpstr> Demo 12.4 (Completed) </vt:lpstr>
      <vt:lpstr>Best Practices</vt:lpstr>
      <vt:lpstr>Summary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Thanh Nguyen</dc:creator>
  <cp:keywords/>
  <dc:description>generated using python-pptx</dc:description>
  <cp:lastModifiedBy>Thanh Nguyen</cp:lastModifiedBy>
  <cp:revision>54</cp:revision>
  <dcterms:created xsi:type="dcterms:W3CDTF">2013-01-27T09:14:16Z</dcterms:created>
  <dcterms:modified xsi:type="dcterms:W3CDTF">2025-12-11T06:49:10Z</dcterms:modified>
  <cp:category/>
</cp:coreProperties>
</file>