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88" r:id="rId2"/>
    <p:sldId id="256" r:id="rId3"/>
    <p:sldId id="257" r:id="rId4"/>
    <p:sldId id="258" r:id="rId5"/>
    <p:sldId id="260" r:id="rId6"/>
    <p:sldId id="284" r:id="rId7"/>
    <p:sldId id="286" r:id="rId8"/>
    <p:sldId id="259" r:id="rId9"/>
    <p:sldId id="261" r:id="rId10"/>
    <p:sldId id="262" r:id="rId11"/>
    <p:sldId id="263" r:id="rId12"/>
    <p:sldId id="265" r:id="rId13"/>
    <p:sldId id="267" r:id="rId14"/>
    <p:sldId id="269" r:id="rId15"/>
    <p:sldId id="270" r:id="rId16"/>
    <p:sldId id="285" r:id="rId17"/>
    <p:sldId id="271" r:id="rId18"/>
    <p:sldId id="272" r:id="rId19"/>
    <p:sldId id="274" r:id="rId20"/>
    <p:sldId id="275" r:id="rId21"/>
    <p:sldId id="276" r:id="rId22"/>
    <p:sldId id="277" r:id="rId23"/>
    <p:sldId id="287" r:id="rId24"/>
    <p:sldId id="279" r:id="rId25"/>
    <p:sldId id="282" r:id="rId26"/>
    <p:sldId id="283" r:id="rId27"/>
  </p:sldIdLst>
  <p:sldSz cx="12188825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677" autoAdjust="0"/>
  </p:normalViewPr>
  <p:slideViewPr>
    <p:cSldViewPr snapToGrid="0" snapToObjects="1">
      <p:cViewPr>
        <p:scale>
          <a:sx n="70" d="100"/>
          <a:sy n="70" d="100"/>
        </p:scale>
        <p:origin x="1138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9934D-6278-4ECE-A8B3-4D46B54A63CB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A03D5-4687-4568-81B6-B6DE01803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95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DartPad to run; stress semicolons and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AF630-9EAA-8036-F088-AB03CA70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7EBCA-45E0-42D4-1C56-A39ABF82D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D4C03-3DF6-0804-9E07-776F1F1D5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1C1A3-897D-6028-2D44-2AEB7E424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03586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explain: when to choose final vs const.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Remind: string methods like .length, .toUpperCase().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set uniqueness; discuss map access &amp; missing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000000"/>
                </a:solidFill>
                <a:latin typeface="Consolas"/>
              </a:rPr>
              <a:t>1
2
3
1
2
3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A03D5-4687-4568-81B6-B6DE01803A6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49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A03D5-4687-4568-81B6-B6DE01803A6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55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80C55-E6A8-DB86-D70D-04971F36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670F1-9E1C-DE6F-2F65-43755F8EC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C4BCE-42ED-E1F2-8BB8-71CE8861D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53BDB-8179-9DF6-AEA6-605CDDC3C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66979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srgbClr val="000000"/>
                </a:solidFill>
                <a:latin typeface="Segoe UI"/>
              </a:rPr>
              <a:t>null</a:t>
            </a:r>
          </a:p>
          <a:p>
            <a:r>
              <a:rPr lang="en-US" sz="1200">
                <a:solidFill>
                  <a:srgbClr val="000000"/>
                </a:solidFill>
                <a:latin typeface="Segoe UI"/>
              </a:rPr>
              <a:t>Guest</a:t>
            </a:r>
          </a:p>
          <a:p>
            <a:r>
              <a:rPr lang="en-US" sz="1200">
                <a:solidFill>
                  <a:srgbClr val="000000"/>
                </a:solidFill>
                <a:latin typeface="Segoe UI"/>
              </a:rPr>
              <a:t>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A03D5-4687-4568-81B6-B6DE01803A6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12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[2, 4, 6, 8, 10]</a:t>
            </a:r>
          </a:p>
          <a:p>
            <a:r>
              <a:rPr lang="pt-BR"/>
              <a:t>[2, 4]</a:t>
            </a:r>
          </a:p>
          <a:p>
            <a:r>
              <a:rPr lang="pt-BR"/>
              <a:t>[6, 8, 10]</a:t>
            </a:r>
          </a:p>
          <a:p>
            <a:r>
              <a:rPr lang="pt-BR"/>
              <a:t>[Item 1, Item 2, Item 3, Item 4, Item 5]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A03D5-4687-4568-81B6-B6DE01803A6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59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12</a:t>
            </a:r>
          </a:p>
          <a:p>
            <a:r>
              <a:rPr lang="en-US"/>
              <a:t>Argument error: Must be &gt;= 0</a:t>
            </a:r>
          </a:p>
          <a:p>
            <a:r>
              <a:rPr lang="en-US"/>
              <a:t>Done parsing.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A03D5-4687-4568-81B6-B6DE01803A6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9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event loop and microtasks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A03D5-4687-4568-81B6-B6DE01803A6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32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000000"/>
                </a:solidFill>
                <a:latin typeface="Consolas"/>
              </a:rPr>
              <a:t>An
Binh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A03D5-4687-4568-81B6-B6DE01803A6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52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Common Pitfalls: </a:t>
            </a:r>
            <a:r>
              <a:rPr lang="en-US" sz="1200">
                <a:solidFill>
                  <a:srgbClr val="000000"/>
                </a:solidFill>
                <a:latin typeface="Segoe UI"/>
              </a:rPr>
              <a:t>Forgetting semicolons , Ignoring null-safety warnings, Mixing sync/async incorrectly</a:t>
            </a:r>
          </a:p>
          <a:p>
            <a:r>
              <a:rPr lang="en-US" sz="1200">
                <a:solidFill>
                  <a:srgbClr val="000000"/>
                </a:solidFill>
                <a:latin typeface="Segoe UI"/>
              </a:rPr>
              <a:t>Prefer final over var when possible, Type your variables, Handle nulls with ??, Use async/await instead of callbacks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A03D5-4687-4568-81B6-B6DE01803A6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02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140" y="2747699"/>
            <a:ext cx="8887685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8559" y="3175002"/>
            <a:ext cx="8392514" cy="1827699"/>
          </a:xfrm>
        </p:spPr>
        <p:txBody>
          <a:bodyPr>
            <a:normAutofit/>
          </a:bodyPr>
          <a:lstStyle>
            <a:lvl1pPr>
              <a:defRPr sz="4532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8557" y="5143500"/>
            <a:ext cx="8405211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6093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1165049F-875E-6AB2-8D06-E8A8930F51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4" y="90044"/>
            <a:ext cx="4063302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1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834" y="508000"/>
            <a:ext cx="10969943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1165049F-875E-6AB2-8D06-E8A8930F51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38" y="92637"/>
            <a:ext cx="1768158" cy="472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691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2"/>
            <a:ext cx="5383398" cy="4525963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sz="3732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3199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2666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2399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2399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2"/>
            <a:ext cx="5383398" cy="4525963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sz="3732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3199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2666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2399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2399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4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535114"/>
            <a:ext cx="5385514" cy="639763"/>
          </a:xfrm>
        </p:spPr>
        <p:txBody>
          <a:bodyPr anchor="b"/>
          <a:lstStyle>
            <a:lvl1pPr marL="0" indent="0">
              <a:buNone/>
              <a:defRPr sz="3199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9371" indent="0">
              <a:buNone/>
              <a:defRPr sz="2666" b="1"/>
            </a:lvl2pPr>
            <a:lvl3pPr marL="1218742" indent="0">
              <a:buNone/>
              <a:defRPr sz="2399" b="1"/>
            </a:lvl3pPr>
            <a:lvl4pPr marL="1828115" indent="0">
              <a:buNone/>
              <a:defRPr sz="2132" b="1"/>
            </a:lvl4pPr>
            <a:lvl5pPr marL="2437487" indent="0">
              <a:buNone/>
              <a:defRPr sz="2132" b="1"/>
            </a:lvl5pPr>
            <a:lvl6pPr marL="3046858" indent="0">
              <a:buNone/>
              <a:defRPr sz="2132" b="1"/>
            </a:lvl6pPr>
            <a:lvl7pPr marL="3656229" indent="0">
              <a:buNone/>
              <a:defRPr sz="2132" b="1"/>
            </a:lvl7pPr>
            <a:lvl8pPr marL="4265600" indent="0">
              <a:buNone/>
              <a:defRPr sz="2132" b="1"/>
            </a:lvl8pPr>
            <a:lvl9pPr marL="4874971" indent="0">
              <a:buNone/>
              <a:defRPr sz="21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2" y="2174875"/>
            <a:ext cx="5385514" cy="3951288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sz="3199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2666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2399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2132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2132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132"/>
            </a:lvl6pPr>
            <a:lvl7pPr>
              <a:defRPr sz="2132"/>
            </a:lvl7pPr>
            <a:lvl8pPr>
              <a:defRPr sz="2132"/>
            </a:lvl8pPr>
            <a:lvl9pPr>
              <a:defRPr sz="21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4"/>
            <a:ext cx="5387630" cy="639763"/>
          </a:xfrm>
        </p:spPr>
        <p:txBody>
          <a:bodyPr anchor="b"/>
          <a:lstStyle>
            <a:lvl1pPr marL="0" indent="0">
              <a:buNone/>
              <a:defRPr sz="3199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9371" indent="0">
              <a:buNone/>
              <a:defRPr sz="2666" b="1"/>
            </a:lvl2pPr>
            <a:lvl3pPr marL="1218742" indent="0">
              <a:buNone/>
              <a:defRPr sz="2399" b="1"/>
            </a:lvl3pPr>
            <a:lvl4pPr marL="1828115" indent="0">
              <a:buNone/>
              <a:defRPr sz="2132" b="1"/>
            </a:lvl4pPr>
            <a:lvl5pPr marL="2437487" indent="0">
              <a:buNone/>
              <a:defRPr sz="2132" b="1"/>
            </a:lvl5pPr>
            <a:lvl6pPr marL="3046858" indent="0">
              <a:buNone/>
              <a:defRPr sz="2132" b="1"/>
            </a:lvl6pPr>
            <a:lvl7pPr marL="3656229" indent="0">
              <a:buNone/>
              <a:defRPr sz="2132" b="1"/>
            </a:lvl7pPr>
            <a:lvl8pPr marL="4265600" indent="0">
              <a:buNone/>
              <a:defRPr sz="2132" b="1"/>
            </a:lvl8pPr>
            <a:lvl9pPr marL="4874971" indent="0">
              <a:buNone/>
              <a:defRPr sz="21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199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2666"/>
            </a:lvl2pPr>
            <a:lvl3pPr>
              <a:spcBef>
                <a:spcPts val="600"/>
              </a:spcBef>
              <a:spcAft>
                <a:spcPts val="600"/>
              </a:spcAft>
              <a:defRPr sz="2399"/>
            </a:lvl3pPr>
            <a:lvl4pPr>
              <a:spcBef>
                <a:spcPts val="600"/>
              </a:spcBef>
              <a:spcAft>
                <a:spcPts val="600"/>
              </a:spcAft>
              <a:defRPr sz="2132"/>
            </a:lvl4pPr>
            <a:lvl5pPr>
              <a:spcBef>
                <a:spcPts val="600"/>
              </a:spcBef>
              <a:spcAft>
                <a:spcPts val="600"/>
              </a:spcAft>
              <a:defRPr sz="2132"/>
            </a:lvl5pPr>
            <a:lvl6pPr>
              <a:defRPr sz="2132"/>
            </a:lvl6pPr>
            <a:lvl7pPr>
              <a:defRPr sz="2132"/>
            </a:lvl7pPr>
            <a:lvl8pPr>
              <a:defRPr sz="2132"/>
            </a:lvl8pPr>
            <a:lvl9pPr>
              <a:defRPr sz="21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7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89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16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4" y="273050"/>
            <a:ext cx="4010039" cy="1162051"/>
          </a:xfrm>
        </p:spPr>
        <p:txBody>
          <a:bodyPr anchor="b"/>
          <a:lstStyle>
            <a:lvl1pPr algn="l">
              <a:defRPr sz="2666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3"/>
            <a:ext cx="6813892" cy="5853113"/>
          </a:xfrm>
        </p:spPr>
        <p:txBody>
          <a:bodyPr/>
          <a:lstStyle>
            <a:lvl1pPr>
              <a:defRPr sz="4266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3732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3199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2666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2666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4" y="1435103"/>
            <a:ext cx="4010039" cy="4691063"/>
          </a:xfrm>
        </p:spPr>
        <p:txBody>
          <a:bodyPr/>
          <a:lstStyle>
            <a:lvl1pPr marL="0" indent="0">
              <a:buNone/>
              <a:defRPr sz="1866"/>
            </a:lvl1pPr>
            <a:lvl2pPr marL="609371" indent="0">
              <a:buNone/>
              <a:defRPr sz="1600"/>
            </a:lvl2pPr>
            <a:lvl3pPr marL="1218742" indent="0">
              <a:buNone/>
              <a:defRPr sz="1333"/>
            </a:lvl3pPr>
            <a:lvl4pPr marL="1828115" indent="0">
              <a:buNone/>
              <a:defRPr sz="1200"/>
            </a:lvl4pPr>
            <a:lvl5pPr marL="2437487" indent="0">
              <a:buNone/>
              <a:defRPr sz="1200"/>
            </a:lvl5pPr>
            <a:lvl6pPr marL="3046858" indent="0">
              <a:buNone/>
              <a:defRPr sz="1200"/>
            </a:lvl6pPr>
            <a:lvl7pPr marL="3656229" indent="0">
              <a:buNone/>
              <a:defRPr sz="1200"/>
            </a:lvl7pPr>
            <a:lvl8pPr marL="4265600" indent="0">
              <a:buNone/>
              <a:defRPr sz="1200"/>
            </a:lvl8pPr>
            <a:lvl9pPr marL="487497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9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1"/>
            <a:ext cx="7313295" cy="566739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6"/>
            </a:lvl1pPr>
            <a:lvl2pPr marL="609371" indent="0">
              <a:buNone/>
              <a:defRPr sz="3732"/>
            </a:lvl2pPr>
            <a:lvl3pPr marL="1218742" indent="0">
              <a:buNone/>
              <a:defRPr sz="3199"/>
            </a:lvl3pPr>
            <a:lvl4pPr marL="1828115" indent="0">
              <a:buNone/>
              <a:defRPr sz="2666"/>
            </a:lvl4pPr>
            <a:lvl5pPr marL="2437487" indent="0">
              <a:buNone/>
              <a:defRPr sz="2666"/>
            </a:lvl5pPr>
            <a:lvl6pPr marL="3046858" indent="0">
              <a:buNone/>
              <a:defRPr sz="2666"/>
            </a:lvl6pPr>
            <a:lvl7pPr marL="3656229" indent="0">
              <a:buNone/>
              <a:defRPr sz="2666"/>
            </a:lvl7pPr>
            <a:lvl8pPr marL="4265600" indent="0">
              <a:buNone/>
              <a:defRPr sz="2666"/>
            </a:lvl8pPr>
            <a:lvl9pPr marL="4874971" indent="0">
              <a:buNone/>
              <a:defRPr sz="2666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9"/>
            <a:ext cx="7313295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371" indent="0">
              <a:buNone/>
              <a:defRPr sz="1600"/>
            </a:lvl2pPr>
            <a:lvl3pPr marL="1218742" indent="0">
              <a:buNone/>
              <a:defRPr sz="1333"/>
            </a:lvl3pPr>
            <a:lvl4pPr marL="1828115" indent="0">
              <a:buNone/>
              <a:defRPr sz="1200"/>
            </a:lvl4pPr>
            <a:lvl5pPr marL="2437487" indent="0">
              <a:buNone/>
              <a:defRPr sz="1200"/>
            </a:lvl5pPr>
            <a:lvl6pPr marL="3046858" indent="0">
              <a:buNone/>
              <a:defRPr sz="1200"/>
            </a:lvl6pPr>
            <a:lvl7pPr marL="3656229" indent="0">
              <a:buNone/>
              <a:defRPr sz="1200"/>
            </a:lvl7pPr>
            <a:lvl8pPr marL="4265600" indent="0">
              <a:buNone/>
              <a:defRPr sz="1200"/>
            </a:lvl8pPr>
            <a:lvl9pPr marL="487497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6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38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0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0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9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708" y="275167"/>
            <a:ext cx="1096941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708" y="1600730"/>
            <a:ext cx="10969414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1218742" eaLnBrk="1" fontAlgn="auto" hangingPunct="1">
              <a:spcBef>
                <a:spcPts val="0"/>
              </a:spcBef>
              <a:spcAft>
                <a:spcPts val="0"/>
              </a:spcAft>
              <a:defRPr sz="16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26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1217535" rtl="0" eaLnBrk="1" fontAlgn="base" hangingPunct="1">
        <a:spcBef>
          <a:spcPct val="0"/>
        </a:spcBef>
        <a:spcAft>
          <a:spcPct val="0"/>
        </a:spcAft>
        <a:defRPr sz="3732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1217535" rtl="0" eaLnBrk="1" fontAlgn="base" hangingPunct="1">
        <a:spcBef>
          <a:spcPct val="0"/>
        </a:spcBef>
        <a:spcAft>
          <a:spcPct val="0"/>
        </a:spcAft>
        <a:defRPr sz="3732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1217535" rtl="0" eaLnBrk="1" fontAlgn="base" hangingPunct="1">
        <a:spcBef>
          <a:spcPct val="0"/>
        </a:spcBef>
        <a:spcAft>
          <a:spcPct val="0"/>
        </a:spcAft>
        <a:defRPr sz="3732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1217535" rtl="0" eaLnBrk="1" fontAlgn="base" hangingPunct="1">
        <a:spcBef>
          <a:spcPct val="0"/>
        </a:spcBef>
        <a:spcAft>
          <a:spcPct val="0"/>
        </a:spcAft>
        <a:defRPr sz="3732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1217535" rtl="0" eaLnBrk="1" fontAlgn="base" hangingPunct="1">
        <a:spcBef>
          <a:spcPct val="0"/>
        </a:spcBef>
        <a:spcAft>
          <a:spcPct val="0"/>
        </a:spcAft>
        <a:defRPr sz="3732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426581" algn="ctr" defTabSz="1217535" rtl="0" eaLnBrk="1" fontAlgn="base" hangingPunct="1">
        <a:spcBef>
          <a:spcPct val="0"/>
        </a:spcBef>
        <a:spcAft>
          <a:spcPct val="0"/>
        </a:spcAft>
        <a:defRPr sz="3732" b="1">
          <a:solidFill>
            <a:schemeClr val="tx1"/>
          </a:solidFill>
          <a:latin typeface="Tahoma" panose="020B0604030504040204" pitchFamily="34" charset="0"/>
        </a:defRPr>
      </a:lvl6pPr>
      <a:lvl7pPr marL="853163" algn="ctr" defTabSz="1217535" rtl="0" eaLnBrk="1" fontAlgn="base" hangingPunct="1">
        <a:spcBef>
          <a:spcPct val="0"/>
        </a:spcBef>
        <a:spcAft>
          <a:spcPct val="0"/>
        </a:spcAft>
        <a:defRPr sz="3732" b="1">
          <a:solidFill>
            <a:schemeClr val="tx1"/>
          </a:solidFill>
          <a:latin typeface="Tahoma" panose="020B0604030504040204" pitchFamily="34" charset="0"/>
        </a:defRPr>
      </a:lvl7pPr>
      <a:lvl8pPr marL="1279744" algn="ctr" defTabSz="1217535" rtl="0" eaLnBrk="1" fontAlgn="base" hangingPunct="1">
        <a:spcBef>
          <a:spcPct val="0"/>
        </a:spcBef>
        <a:spcAft>
          <a:spcPct val="0"/>
        </a:spcAft>
        <a:defRPr sz="3732" b="1">
          <a:solidFill>
            <a:schemeClr val="tx1"/>
          </a:solidFill>
          <a:latin typeface="Tahoma" panose="020B0604030504040204" pitchFamily="34" charset="0"/>
        </a:defRPr>
      </a:lvl8pPr>
      <a:lvl9pPr marL="1706325" algn="ctr" defTabSz="1217535" rtl="0" eaLnBrk="1" fontAlgn="base" hangingPunct="1">
        <a:spcBef>
          <a:spcPct val="0"/>
        </a:spcBef>
        <a:spcAft>
          <a:spcPct val="0"/>
        </a:spcAft>
        <a:defRPr sz="3732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456205" indent="-456205" algn="l" defTabSz="121753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932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989432" indent="-380666" algn="l" defTabSz="121753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666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522658" indent="-303644" algn="l" defTabSz="121753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666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2131425" indent="-303644" algn="l" defTabSz="121753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666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741674" indent="-303644" algn="l" defTabSz="121753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666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3351542" indent="-304687" algn="l" defTabSz="1218742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0913" indent="-304687" algn="l" defTabSz="1218742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287" indent="-304687" algn="l" defTabSz="1218742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79658" indent="-304687" algn="l" defTabSz="1218742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74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371" algn="l" defTabSz="121874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742" algn="l" defTabSz="121874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115" algn="l" defTabSz="121874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487" algn="l" defTabSz="121874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6858" algn="l" defTabSz="121874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229" algn="l" defTabSz="121874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600" algn="l" defTabSz="121874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4971" algn="l" defTabSz="121874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EE170D9-53FF-CBE9-C8C0-A07E6897B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8559" y="3906522"/>
            <a:ext cx="8392514" cy="1827699"/>
          </a:xfrm>
        </p:spPr>
        <p:txBody>
          <a:bodyPr/>
          <a:lstStyle/>
          <a:p>
            <a:r>
              <a:rPr lang="en-US"/>
              <a:t>Module 2 - Dart Essentials</a:t>
            </a:r>
          </a:p>
        </p:txBody>
      </p:sp>
    </p:spTree>
    <p:extLst>
      <p:ext uri="{BB962C8B-B14F-4D97-AF65-F5344CB8AC3E}">
        <p14:creationId xmlns:p14="http://schemas.microsoft.com/office/powerpoint/2010/main" val="4271834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rPr lang="en-US" sz="4000"/>
              <a:t>Contents</a:t>
            </a:r>
            <a:endParaRPr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1580" y="1600200"/>
            <a:ext cx="8229600" cy="4525963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sz="2400" b="1">
                <a:solidFill>
                  <a:srgbClr val="000000"/>
                </a:solidFill>
              </a:rPr>
              <a:t>Structure </a:t>
            </a:r>
            <a:endParaRPr lang="en-US" sz="2400" b="1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2400" b="1">
                <a:solidFill>
                  <a:srgbClr val="000000"/>
                </a:solidFill>
              </a:rPr>
              <a:t>Data types </a:t>
            </a:r>
            <a:endParaRPr lang="en-US" sz="2400" b="1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2400" b="1">
                <a:solidFill>
                  <a:srgbClr val="000000"/>
                </a:solidFill>
              </a:rPr>
              <a:t>Variables </a:t>
            </a:r>
            <a:endParaRPr lang="en-US" sz="2400" b="1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2400" b="1">
                <a:solidFill>
                  <a:srgbClr val="000000"/>
                </a:solidFill>
              </a:rPr>
              <a:t>Collections </a:t>
            </a:r>
            <a:endParaRPr lang="en-US" sz="2400" b="1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2400" b="1">
                <a:solidFill>
                  <a:srgbClr val="000000"/>
                </a:solidFill>
              </a:rPr>
              <a:t>Control Flow </a:t>
            </a:r>
            <a:endParaRPr lang="en-US" sz="2400" b="1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2400" b="1">
                <a:solidFill>
                  <a:srgbClr val="000000"/>
                </a:solidFill>
              </a:rPr>
              <a:t>OOP </a:t>
            </a:r>
            <a:endParaRPr lang="en-US" sz="2400" b="1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2400" b="1">
                <a:solidFill>
                  <a:srgbClr val="000000"/>
                </a:solidFill>
              </a:rPr>
              <a:t>Null Safety </a:t>
            </a:r>
            <a:endParaRPr lang="en-US" sz="2400" b="1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2400" b="1">
                <a:solidFill>
                  <a:srgbClr val="000000"/>
                </a:solidFill>
              </a:rPr>
              <a:t>Async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What is Dart?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7007" y="1326503"/>
            <a:ext cx="10214810" cy="46923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0"/>
              <a:t>Concept</a:t>
            </a:r>
          </a:p>
          <a:p>
            <a:r>
              <a:rPr lang="en-US" sz="2400" b="0"/>
              <a:t>Dart is a client-optimized, class-based language by Google.</a:t>
            </a:r>
          </a:p>
          <a:p>
            <a:pPr marL="0" indent="0">
              <a:buNone/>
            </a:pPr>
            <a:r>
              <a:rPr lang="en-US" sz="2400" b="0"/>
              <a:t>Key Points</a:t>
            </a:r>
          </a:p>
          <a:p>
            <a:r>
              <a:rPr lang="en-US" sz="2400" b="0"/>
              <a:t>Designed for UI frameworks (Flutter)</a:t>
            </a:r>
          </a:p>
          <a:p>
            <a:r>
              <a:rPr lang="en-US" sz="2400" b="0"/>
              <a:t>Multi-platform: mobile (iOS/Android), web, and desktop applications</a:t>
            </a:r>
          </a:p>
          <a:p>
            <a:r>
              <a:rPr lang="en-US" sz="2400" b="0"/>
              <a:t>Fast development: JIT</a:t>
            </a:r>
          </a:p>
          <a:p>
            <a:r>
              <a:rPr lang="en-US" sz="2400" b="0"/>
              <a:t>Fast production: AOT</a:t>
            </a:r>
          </a:p>
          <a:p>
            <a:r>
              <a:rPr lang="en-US" sz="2400" b="0"/>
              <a:t>Modern asynchronous model (Futures, async/await, Streams)</a:t>
            </a:r>
          </a:p>
          <a:p>
            <a:pPr marL="0" indent="0">
              <a:buNone/>
            </a:pPr>
            <a:endParaRPr lang="en-US" sz="2400" b="0"/>
          </a:p>
          <a:p>
            <a:pPr marL="0" indent="0">
              <a:buNone/>
            </a:pPr>
            <a:r>
              <a:rPr lang="en-US" sz="2400" b="0"/>
              <a:t>Notes: Relate Dart vs JavaScript vs Kotlin for context</a:t>
            </a:r>
          </a:p>
          <a:p>
            <a:pPr marL="0" indent="0">
              <a:buNone/>
            </a:pPr>
            <a:endParaRPr lang="en-US" sz="2200">
              <a:solidFill>
                <a:srgbClr val="00000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Program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Every Dart program starts at the main() function.</a:t>
            </a:r>
          </a:p>
          <a:p>
            <a:r>
              <a:rPr sz="2400" b="0">
                <a:solidFill>
                  <a:srgbClr val="000000"/>
                </a:solidFill>
              </a:rPr>
              <a:t>print() writes a line to the console.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52339" y="2987357"/>
            <a:ext cx="649858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sz="2000">
                <a:solidFill>
                  <a:srgbClr val="0066CC"/>
                </a:solidFill>
                <a:latin typeface="Consolas"/>
              </a:rPr>
              <a:t>void</a:t>
            </a:r>
            <a:r>
              <a:rPr sz="2000">
                <a:solidFill>
                  <a:srgbClr val="000000"/>
                </a:solidFill>
                <a:latin typeface="Consolas"/>
              </a:rPr>
              <a:t> main() {
</a:t>
            </a:r>
          </a:p>
          <a:p>
            <a:r>
              <a:rPr sz="2000">
                <a:solidFill>
                  <a:srgbClr val="0066CC"/>
                </a:solidFill>
                <a:latin typeface="Consolas"/>
              </a:rPr>
              <a:t>  print</a:t>
            </a:r>
            <a:r>
              <a:rPr sz="2000">
                <a:solidFill>
                  <a:srgbClr val="000000"/>
                </a:solidFill>
                <a:latin typeface="Consolas"/>
              </a:rPr>
              <a:t>(</a:t>
            </a:r>
            <a:r>
              <a:rPr sz="2000">
                <a:solidFill>
                  <a:srgbClr val="B45500"/>
                </a:solidFill>
                <a:latin typeface="Consolas"/>
              </a:rPr>
              <a:t>"Hello Dart"</a:t>
            </a:r>
            <a:r>
              <a:rPr sz="2000">
                <a:solidFill>
                  <a:srgbClr val="000000"/>
                </a:solidFill>
                <a:latin typeface="Consolas"/>
              </a:rPr>
              <a:t>);</a:t>
            </a:r>
            <a:r>
              <a:rPr sz="1800">
                <a:solidFill>
                  <a:srgbClr val="000000"/>
                </a:solidFill>
                <a:latin typeface="Consolas"/>
              </a:rPr>
              <a:t>
</a:t>
            </a:r>
          </a:p>
          <a:p>
            <a:r>
              <a:rPr sz="18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80369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Consolas"/>
                <a:sym typeface="Wingdings" panose="05000000000000000000" pitchFamily="2" charset="2"/>
              </a:rPr>
              <a:t> </a:t>
            </a:r>
            <a:r>
              <a:rPr sz="1800">
                <a:solidFill>
                  <a:srgbClr val="000000"/>
                </a:solidFill>
                <a:latin typeface="Consolas"/>
              </a:rPr>
              <a:t>Hello Dart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0" y="0"/>
            <a:ext cx="5482046" cy="1143000"/>
          </a:xfrm>
        </p:spPr>
        <p:txBody>
          <a:bodyPr/>
          <a:lstStyle/>
          <a:p>
            <a:pPr>
              <a:defRPr sz="3400" b="1"/>
            </a:pPr>
            <a:r>
              <a:t>Data Types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4094207-EB3B-19E9-C940-C07A173A1A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373352"/>
              </p:ext>
            </p:extLst>
          </p:nvPr>
        </p:nvGraphicFramePr>
        <p:xfrm>
          <a:off x="1613852" y="1143000"/>
          <a:ext cx="8961120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671">
                  <a:extLst>
                    <a:ext uri="{9D8B030D-6E8A-4147-A177-3AD203B41FA5}">
                      <a16:colId xmlns:a16="http://schemas.microsoft.com/office/drawing/2014/main" val="2490878033"/>
                    </a:ext>
                  </a:extLst>
                </a:gridCol>
                <a:gridCol w="7210449">
                  <a:extLst>
                    <a:ext uri="{9D8B030D-6E8A-4147-A177-3AD203B41FA5}">
                      <a16:colId xmlns:a16="http://schemas.microsoft.com/office/drawing/2014/main" val="435661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82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 (whole numbers), double (fractional)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23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enclosed in single or double quotes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762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 value: true or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9676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Ordered collection of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512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Unordered collection of 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9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Key–value pairs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082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absence of a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826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class for all Dart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2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list of constant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75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collection type used in loops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508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functions that never return (always throw)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13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hold any type; resolved at 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32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no return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24291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FB959-57CA-A3FC-187C-380B7FDC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7432-FCC4-DF39-D447-C3810517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E36D3-3B8B-6241-CEB2-7E2DF68CC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Core types: int, double, String, bool, List, Set, Map</a:t>
            </a:r>
          </a:p>
          <a:p>
            <a:r>
              <a:rPr sz="2400" b="0">
                <a:solidFill>
                  <a:srgbClr val="000000"/>
                </a:solidFill>
              </a:rPr>
              <a:t>Strong typing with generics (List&lt;int&gt;, Map&lt;String, int&gt;)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D98DE-899E-CA40-454D-5F491A476DB0}"/>
              </a:ext>
            </a:extLst>
          </p:cNvPr>
          <p:cNvSpPr txBox="1"/>
          <p:nvPr/>
        </p:nvSpPr>
        <p:spPr>
          <a:xfrm>
            <a:off x="2001297" y="3200400"/>
            <a:ext cx="5489750" cy="18895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int</a:t>
            </a:r>
            <a:r>
              <a:rPr sz="2000">
                <a:solidFill>
                  <a:srgbClr val="000000"/>
                </a:solidFill>
                <a:latin typeface="Consolas"/>
              </a:rPr>
              <a:t> age = 20;</a:t>
            </a:r>
          </a:p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double</a:t>
            </a:r>
            <a:r>
              <a:rPr sz="2000">
                <a:solidFill>
                  <a:srgbClr val="000000"/>
                </a:solidFill>
                <a:latin typeface="Consolas"/>
              </a:rPr>
              <a:t> gpa = 3.75;</a:t>
            </a:r>
          </a:p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String</a:t>
            </a:r>
            <a:r>
              <a:rPr sz="2000">
                <a:solidFill>
                  <a:srgbClr val="000000"/>
                </a:solidFill>
                <a:latin typeface="Consolas"/>
              </a:rPr>
              <a:t> campus = </a:t>
            </a:r>
            <a:r>
              <a:rPr sz="2000">
                <a:solidFill>
                  <a:srgbClr val="B45500"/>
                </a:solidFill>
                <a:latin typeface="Consolas"/>
              </a:rPr>
              <a:t>"FPT HCM"</a:t>
            </a:r>
            <a:r>
              <a:rPr sz="200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bool</a:t>
            </a:r>
            <a:r>
              <a:rPr sz="2000">
                <a:solidFill>
                  <a:srgbClr val="000000"/>
                </a:solidFill>
                <a:latin typeface="Consolas"/>
              </a:rPr>
              <a:t> pass = true;</a:t>
            </a:r>
          </a:p>
        </p:txBody>
      </p:sp>
    </p:spTree>
    <p:extLst>
      <p:ext uri="{BB962C8B-B14F-4D97-AF65-F5344CB8AC3E}">
        <p14:creationId xmlns:p14="http://schemas.microsoft.com/office/powerpoint/2010/main" val="25494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B84D-00E3-7ADE-863E-39FE0855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/>
              <a:t>Operators</a:t>
            </a:r>
            <a:br>
              <a:rPr lang="en-US" b="1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33737-ABFF-0572-357D-2ACB0DEFF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268730"/>
            <a:ext cx="9966960" cy="4908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Concept</a:t>
            </a:r>
          </a:p>
          <a:p>
            <a:r>
              <a:rPr lang="en-US" sz="2400" b="0"/>
              <a:t>Operators allow you to perform mathematical, comparison, and logical operations.</a:t>
            </a:r>
          </a:p>
          <a:p>
            <a:pPr marL="0" indent="0">
              <a:buNone/>
            </a:pPr>
            <a:r>
              <a:rPr lang="en-US" sz="2400" b="1"/>
              <a:t>Explanation</a:t>
            </a:r>
          </a:p>
          <a:p>
            <a:r>
              <a:rPr lang="en-US" sz="2400" b="0"/>
              <a:t>Arithmetic: + - * / %</a:t>
            </a:r>
          </a:p>
          <a:p>
            <a:r>
              <a:rPr lang="en-US" sz="2400" b="0"/>
              <a:t>Comparison: &gt; &lt; &gt;= &lt;= ==</a:t>
            </a:r>
          </a:p>
          <a:p>
            <a:r>
              <a:rPr lang="en-US" sz="2400" b="0"/>
              <a:t>Logical: &amp;&amp; || !</a:t>
            </a:r>
          </a:p>
          <a:p>
            <a:endParaRPr lang="en-US" sz="2400"/>
          </a:p>
          <a:p>
            <a:pPr marL="0" indent="0">
              <a:buNone/>
            </a:pPr>
            <a:endParaRPr lang="en-US" sz="2400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4F25E-E900-B505-69D1-624DA35F0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330" y="4788984"/>
            <a:ext cx="5350828" cy="169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16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Variables &amp; Memory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509077"/>
            <a:ext cx="8229600" cy="4525963"/>
          </a:xfrm>
        </p:spPr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var = inferred type, dynamic = runtime type.</a:t>
            </a:r>
          </a:p>
          <a:p>
            <a:r>
              <a:rPr sz="2400" b="0">
                <a:solidFill>
                  <a:srgbClr val="000000"/>
                </a:solidFill>
              </a:rPr>
              <a:t>final = runtime-constant (assigned once)</a:t>
            </a:r>
          </a:p>
          <a:p>
            <a:r>
              <a:rPr sz="2400" b="0">
                <a:solidFill>
                  <a:srgbClr val="000000"/>
                </a:solidFill>
              </a:rPr>
              <a:t>const = compile-time constant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5510" y="3376246"/>
            <a:ext cx="6687136" cy="18895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var</a:t>
            </a:r>
            <a:r>
              <a:rPr sz="2000">
                <a:solidFill>
                  <a:srgbClr val="000000"/>
                </a:solidFill>
                <a:latin typeface="Consolas"/>
              </a:rPr>
              <a:t> name = </a:t>
            </a:r>
            <a:r>
              <a:rPr sz="2000">
                <a:solidFill>
                  <a:srgbClr val="B45500"/>
                </a:solidFill>
                <a:latin typeface="Consolas"/>
              </a:rPr>
              <a:t>"FPT University"</a:t>
            </a:r>
            <a:r>
              <a:rPr sz="200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final</a:t>
            </a:r>
            <a:r>
              <a:rPr sz="2000">
                <a:solidFill>
                  <a:srgbClr val="000000"/>
                </a:solidFill>
                <a:latin typeface="Consolas"/>
              </a:rPr>
              <a:t> year = 2024;</a:t>
            </a:r>
          </a:p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const</a:t>
            </a:r>
            <a:r>
              <a:rPr sz="2000">
                <a:solidFill>
                  <a:srgbClr val="000000"/>
                </a:solidFill>
                <a:latin typeface="Consolas"/>
              </a:rPr>
              <a:t> pi = 3.14159;</a:t>
            </a:r>
          </a:p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dynamic</a:t>
            </a:r>
            <a:r>
              <a:rPr sz="2000">
                <a:solidFill>
                  <a:srgbClr val="000000"/>
                </a:solidFill>
                <a:latin typeface="Consolas"/>
              </a:rPr>
              <a:t> x = 10; x = </a:t>
            </a:r>
            <a:r>
              <a:rPr sz="2000">
                <a:solidFill>
                  <a:srgbClr val="B45500"/>
                </a:solidFill>
                <a:latin typeface="Consolas"/>
              </a:rPr>
              <a:t>"Hello"</a:t>
            </a:r>
            <a:r>
              <a:rPr sz="2000">
                <a:solidFill>
                  <a:srgbClr val="000000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Strings &amp; Interpolation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000000"/>
                </a:solidFill>
                <a:latin typeface="Segoe UI"/>
              </a:rPr>
              <a:t>Use $var or ${expr} to interpolate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2375" y="2431644"/>
            <a:ext cx="6692363" cy="1675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800">
                <a:solidFill>
                  <a:srgbClr val="0066CC"/>
                </a:solidFill>
                <a:latin typeface="Consolas"/>
              </a:rPr>
              <a:t>String</a:t>
            </a:r>
            <a:r>
              <a:rPr sz="1800">
                <a:solidFill>
                  <a:srgbClr val="000000"/>
                </a:solidFill>
                <a:latin typeface="Consolas"/>
              </a:rPr>
              <a:t> name = </a:t>
            </a:r>
            <a:r>
              <a:rPr sz="1800">
                <a:solidFill>
                  <a:srgbClr val="B45500"/>
                </a:solidFill>
                <a:latin typeface="Consolas"/>
              </a:rPr>
              <a:t>"FPT University"</a:t>
            </a:r>
            <a:r>
              <a:rPr sz="180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lnSpc>
                <a:spcPct val="200000"/>
              </a:lnSpc>
            </a:pPr>
            <a:r>
              <a:rPr sz="1800">
                <a:solidFill>
                  <a:srgbClr val="0066CC"/>
                </a:solidFill>
                <a:latin typeface="Consolas"/>
              </a:rPr>
              <a:t>print</a:t>
            </a:r>
            <a:r>
              <a:rPr sz="1800">
                <a:solidFill>
                  <a:srgbClr val="000000"/>
                </a:solidFill>
                <a:latin typeface="Consolas"/>
              </a:rPr>
              <a:t>(</a:t>
            </a:r>
            <a:r>
              <a:rPr sz="1800">
                <a:solidFill>
                  <a:srgbClr val="B45500"/>
                </a:solidFill>
                <a:latin typeface="Consolas"/>
              </a:rPr>
              <a:t>"Hello $name"</a:t>
            </a:r>
            <a:r>
              <a:rPr sz="180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lnSpc>
                <a:spcPct val="200000"/>
              </a:lnSpc>
            </a:pPr>
            <a:r>
              <a:rPr sz="1800">
                <a:solidFill>
                  <a:srgbClr val="0066CC"/>
                </a:solidFill>
                <a:latin typeface="Consolas"/>
              </a:rPr>
              <a:t>print</a:t>
            </a:r>
            <a:r>
              <a:rPr sz="1800">
                <a:solidFill>
                  <a:srgbClr val="000000"/>
                </a:solidFill>
                <a:latin typeface="Consolas"/>
              </a:rPr>
              <a:t>(</a:t>
            </a:r>
            <a:r>
              <a:rPr sz="1800">
                <a:solidFill>
                  <a:srgbClr val="B45500"/>
                </a:solidFill>
                <a:latin typeface="Consolas"/>
              </a:rPr>
              <a:t>"Length: ${name.length}"</a:t>
            </a:r>
            <a:r>
              <a:rPr sz="1800">
                <a:solidFill>
                  <a:srgbClr val="000000"/>
                </a:solidFill>
                <a:latin typeface="Consolas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5545" y="4937760"/>
            <a:ext cx="9262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Consolas"/>
              </a:rPr>
              <a:t>Hello FPT University
Length: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Collections (List, Set, 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000000"/>
                </a:solidFill>
                <a:latin typeface="Segoe UI"/>
              </a:rPr>
              <a:t>List: ordered • Set: unique • Map: key-value</a:t>
            </a:r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</a:endParaRPr>
          </a:p>
          <a:p>
            <a:r>
              <a:rPr lang="en-US" sz="2400" b="0">
                <a:solidFill>
                  <a:srgbClr val="000000"/>
                </a:solidFill>
              </a:rPr>
              <a:t>Output: 	{1,2,3}</a:t>
            </a:r>
          </a:p>
          <a:p>
            <a:pPr marL="0" indent="0">
              <a:buNone/>
            </a:pPr>
            <a:r>
              <a:rPr lang="en-US" sz="2400" b="0">
                <a:solidFill>
                  <a:srgbClr val="000000"/>
                </a:solidFill>
              </a:rPr>
              <a:t>		Nam</a:t>
            </a:r>
          </a:p>
          <a:p>
            <a:endParaRPr sz="2200" b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0652" y="2663250"/>
            <a:ext cx="6725163" cy="18895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List&lt;int&gt;</a:t>
            </a:r>
            <a:r>
              <a:rPr sz="2000">
                <a:solidFill>
                  <a:srgbClr val="000000"/>
                </a:solidFill>
                <a:latin typeface="Consolas"/>
              </a:rPr>
              <a:t> nums = [1,2,3];</a:t>
            </a:r>
          </a:p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Set&lt;int&gt;</a:t>
            </a:r>
            <a:r>
              <a:rPr sz="2000">
                <a:solidFill>
                  <a:srgbClr val="000000"/>
                </a:solidFill>
                <a:latin typeface="Consolas"/>
              </a:rPr>
              <a:t> s = {1,2,2,3};</a:t>
            </a:r>
          </a:p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var</a:t>
            </a:r>
            <a:r>
              <a:rPr sz="2000">
                <a:solidFill>
                  <a:srgbClr val="B45500"/>
                </a:solidFill>
                <a:latin typeface="Consolas"/>
              </a:rPr>
              <a:t> user = {"id":1, "name":"Nam"};</a:t>
            </a:r>
          </a:p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print</a:t>
            </a:r>
            <a:r>
              <a:rPr sz="2000">
                <a:solidFill>
                  <a:srgbClr val="000000"/>
                </a:solidFill>
                <a:latin typeface="Consolas"/>
              </a:rPr>
              <a:t>(user["name"]);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Control Flow</a:t>
            </a:r>
            <a:r>
              <a:rPr lang="en-US"/>
              <a:t>:</a:t>
            </a:r>
            <a:r>
              <a:t>  if / else</a:t>
            </a:r>
            <a:r>
              <a:rPr lang="en-US"/>
              <a:t> - switch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600200"/>
            <a:ext cx="9652000" cy="4976446"/>
          </a:xfrm>
        </p:spPr>
        <p:txBody>
          <a:bodyPr/>
          <a:lstStyle/>
          <a:p>
            <a:r>
              <a:rPr lang="en-US" sz="2200" b="0">
                <a:solidFill>
                  <a:srgbClr val="000000"/>
                </a:solidFill>
                <a:latin typeface="Segoe UI"/>
              </a:rPr>
              <a:t>If/else: </a:t>
            </a:r>
            <a:r>
              <a:rPr sz="2200" b="0">
                <a:solidFill>
                  <a:srgbClr val="000000"/>
                </a:solidFill>
                <a:latin typeface="Segoe UI"/>
              </a:rPr>
              <a:t>Conditional branching with boolean expressions.</a:t>
            </a:r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>
              <a:solidFill>
                <a:srgbClr val="000000"/>
              </a:solidFill>
              <a:latin typeface="Segoe UI"/>
            </a:endParaRPr>
          </a:p>
          <a:p>
            <a:endParaRPr lang="en-US" sz="2200">
              <a:solidFill>
                <a:srgbClr val="000000"/>
              </a:solidFill>
              <a:latin typeface="Segoe UI"/>
            </a:endParaRPr>
          </a:p>
          <a:p>
            <a:endParaRPr lang="en-US" sz="2200">
              <a:solidFill>
                <a:srgbClr val="000000"/>
              </a:solidFill>
              <a:latin typeface="Segoe UI"/>
            </a:endParaRPr>
          </a:p>
          <a:p>
            <a:r>
              <a:rPr lang="en-US" sz="2200" b="0">
                <a:solidFill>
                  <a:srgbClr val="000000"/>
                </a:solidFill>
                <a:latin typeface="Segoe UI"/>
              </a:rPr>
              <a:t>Switch is clearer than many if-else for discrete cases.</a:t>
            </a: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sz="220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46031" y="4571543"/>
            <a:ext cx="6928338" cy="17098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>
                <a:solidFill>
                  <a:srgbClr val="0066CC"/>
                </a:solidFill>
                <a:latin typeface="Consolas"/>
              </a:rPr>
              <a:t>int</a:t>
            </a:r>
            <a:r>
              <a:rPr sz="1800">
                <a:solidFill>
                  <a:srgbClr val="000000"/>
                </a:solidFill>
                <a:latin typeface="Consolas"/>
              </a:rPr>
              <a:t> score = 80;
</a:t>
            </a:r>
          </a:p>
          <a:p>
            <a:pPr>
              <a:lnSpc>
                <a:spcPct val="150000"/>
              </a:lnSpc>
            </a:pPr>
            <a:r>
              <a:rPr sz="1800">
                <a:solidFill>
                  <a:srgbClr val="0066CC"/>
                </a:solidFill>
                <a:latin typeface="Consolas"/>
              </a:rPr>
              <a:t>if</a:t>
            </a:r>
            <a:r>
              <a:rPr sz="1800">
                <a:solidFill>
                  <a:srgbClr val="000000"/>
                </a:solidFill>
                <a:latin typeface="Consolas"/>
              </a:rPr>
              <a:t>(score &gt;= 50) </a:t>
            </a:r>
            <a:r>
              <a:rPr sz="1800">
                <a:solidFill>
                  <a:srgbClr val="0066CC"/>
                </a:solidFill>
                <a:latin typeface="Consolas"/>
              </a:rPr>
              <a:t>print</a:t>
            </a:r>
            <a:r>
              <a:rPr sz="1800">
                <a:solidFill>
                  <a:srgbClr val="000000"/>
                </a:solidFill>
                <a:latin typeface="Consolas"/>
              </a:rPr>
              <a:t>(</a:t>
            </a:r>
            <a:r>
              <a:rPr sz="1800">
                <a:solidFill>
                  <a:srgbClr val="B45500"/>
                </a:solidFill>
                <a:latin typeface="Consolas"/>
              </a:rPr>
              <a:t>"Pass"</a:t>
            </a:r>
            <a:r>
              <a:rPr sz="180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lnSpc>
                <a:spcPct val="150000"/>
              </a:lnSpc>
            </a:pPr>
            <a:r>
              <a:rPr sz="1800">
                <a:solidFill>
                  <a:srgbClr val="0066CC"/>
                </a:solidFill>
                <a:latin typeface="Consolas"/>
              </a:rPr>
              <a:t>else</a:t>
            </a:r>
            <a:r>
              <a:rPr sz="1800">
                <a:solidFill>
                  <a:srgbClr val="000000"/>
                </a:solidFill>
                <a:latin typeface="Consolas"/>
              </a:rPr>
              <a:t> print(</a:t>
            </a:r>
            <a:r>
              <a:rPr sz="1800">
                <a:solidFill>
                  <a:srgbClr val="B45500"/>
                </a:solidFill>
                <a:latin typeface="Consolas"/>
              </a:rPr>
              <a:t>"Fail"</a:t>
            </a:r>
            <a:r>
              <a:rPr sz="1800">
                <a:solidFill>
                  <a:srgbClr val="000000"/>
                </a:solidFill>
                <a:latin typeface="Consolas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3397A-0AAA-FE37-1CF1-280BECF1DD45}"/>
              </a:ext>
            </a:extLst>
          </p:cNvPr>
          <p:cNvSpPr txBox="1"/>
          <p:nvPr/>
        </p:nvSpPr>
        <p:spPr>
          <a:xfrm>
            <a:off x="1946031" y="2103160"/>
            <a:ext cx="6928338" cy="18928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sz="1800">
                <a:solidFill>
                  <a:srgbClr val="0066CC"/>
                </a:solidFill>
                <a:latin typeface="Consolas"/>
              </a:rPr>
              <a:t>var</a:t>
            </a:r>
            <a:r>
              <a:rPr sz="1800">
                <a:solidFill>
                  <a:srgbClr val="000000"/>
                </a:solidFill>
                <a:latin typeface="Consolas"/>
              </a:rPr>
              <a:t> day = </a:t>
            </a:r>
            <a:r>
              <a:rPr sz="1800">
                <a:solidFill>
                  <a:srgbClr val="B45500"/>
                </a:solidFill>
                <a:latin typeface="Consolas"/>
              </a:rPr>
              <a:t>"Mon"</a:t>
            </a:r>
            <a:r>
              <a:rPr sz="1800">
                <a:solidFill>
                  <a:srgbClr val="000000"/>
                </a:solidFill>
                <a:latin typeface="Consolas"/>
              </a:rPr>
              <a:t>;
</a:t>
            </a:r>
          </a:p>
          <a:p>
            <a:r>
              <a:rPr sz="1800">
                <a:solidFill>
                  <a:srgbClr val="0066CC"/>
                </a:solidFill>
                <a:latin typeface="Consolas"/>
              </a:rPr>
              <a:t>switch</a:t>
            </a:r>
            <a:r>
              <a:rPr sz="1800">
                <a:solidFill>
                  <a:srgbClr val="000000"/>
                </a:solidFill>
                <a:latin typeface="Consolas"/>
              </a:rPr>
              <a:t>(day) {</a:t>
            </a:r>
          </a:p>
          <a:p>
            <a:pPr>
              <a:lnSpc>
                <a:spcPct val="150000"/>
              </a:lnSpc>
            </a:pPr>
            <a:r>
              <a:rPr sz="1800">
                <a:solidFill>
                  <a:srgbClr val="000000"/>
                </a:solidFill>
                <a:latin typeface="Consolas"/>
              </a:rPr>
              <a:t> case </a:t>
            </a:r>
            <a:r>
              <a:rPr sz="1800">
                <a:solidFill>
                  <a:srgbClr val="B45500"/>
                </a:solidFill>
                <a:latin typeface="Consolas"/>
              </a:rPr>
              <a:t>"Mon"</a:t>
            </a:r>
            <a:r>
              <a:rPr sz="1800">
                <a:solidFill>
                  <a:srgbClr val="000000"/>
                </a:solidFill>
                <a:latin typeface="Consolas"/>
              </a:rPr>
              <a:t>: </a:t>
            </a:r>
            <a:r>
              <a:rPr sz="1800">
                <a:solidFill>
                  <a:srgbClr val="0066CC"/>
                </a:solidFill>
                <a:latin typeface="Consolas"/>
              </a:rPr>
              <a:t>print</a:t>
            </a:r>
            <a:r>
              <a:rPr sz="1800">
                <a:solidFill>
                  <a:srgbClr val="000000"/>
                </a:solidFill>
                <a:latin typeface="Consolas"/>
              </a:rPr>
              <a:t>(</a:t>
            </a:r>
            <a:r>
              <a:rPr sz="1800">
                <a:solidFill>
                  <a:srgbClr val="B45500"/>
                </a:solidFill>
                <a:latin typeface="Consolas"/>
              </a:rPr>
              <a:t>"Start"</a:t>
            </a:r>
            <a:r>
              <a:rPr sz="1800">
                <a:solidFill>
                  <a:srgbClr val="000000"/>
                </a:solidFill>
                <a:latin typeface="Consolas"/>
              </a:rPr>
              <a:t>); break;</a:t>
            </a:r>
          </a:p>
          <a:p>
            <a:r>
              <a:rPr sz="1800">
                <a:solidFill>
                  <a:srgbClr val="000000"/>
                </a:solidFill>
                <a:latin typeface="Consolas"/>
              </a:rPr>
              <a:t> default: </a:t>
            </a:r>
            <a:r>
              <a:rPr sz="1800">
                <a:solidFill>
                  <a:srgbClr val="0066CC"/>
                </a:solidFill>
                <a:latin typeface="Consolas"/>
              </a:rPr>
              <a:t>print</a:t>
            </a:r>
            <a:r>
              <a:rPr sz="1800">
                <a:solidFill>
                  <a:srgbClr val="000000"/>
                </a:solidFill>
                <a:latin typeface="Consolas"/>
              </a:rPr>
              <a:t>(</a:t>
            </a:r>
            <a:r>
              <a:rPr sz="1800">
                <a:solidFill>
                  <a:srgbClr val="B45500"/>
                </a:solidFill>
                <a:latin typeface="Consolas"/>
              </a:rPr>
              <a:t>"Other</a:t>
            </a:r>
            <a:r>
              <a:rPr lang="en-US" sz="1800">
                <a:solidFill>
                  <a:srgbClr val="B45500"/>
                </a:solidFill>
                <a:latin typeface="Consolas"/>
              </a:rPr>
              <a:t>"</a:t>
            </a:r>
            <a:r>
              <a:rPr sz="180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sz="18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Loops</a:t>
            </a:r>
            <a:r>
              <a:rPr lang="en-US"/>
              <a:t>: for-in &amp; forEach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825" y="1314450"/>
            <a:ext cx="8229600" cy="4525963"/>
          </a:xfrm>
        </p:spPr>
        <p:txBody>
          <a:bodyPr/>
          <a:lstStyle/>
          <a:p>
            <a:r>
              <a:rPr lang="en-US" sz="2400" b="0"/>
              <a:t>Classic counted loop</a:t>
            </a:r>
            <a:r>
              <a:rPr sz="2400" b="0">
                <a:solidFill>
                  <a:srgbClr val="000000"/>
                </a:solidFill>
                <a:latin typeface="Segoe UI"/>
              </a:rPr>
              <a:t>.</a:t>
            </a:r>
            <a:r>
              <a:rPr lang="en-US" sz="2400">
                <a:solidFill>
                  <a:srgbClr val="000000"/>
                </a:solidFill>
                <a:latin typeface="Segoe UI"/>
              </a:rPr>
              <a:t> </a:t>
            </a:r>
          </a:p>
          <a:p>
            <a:endParaRPr lang="en-US" sz="2400" b="1">
              <a:solidFill>
                <a:srgbClr val="000000"/>
              </a:solidFill>
              <a:latin typeface="Segoe UI"/>
            </a:endParaRPr>
          </a:p>
          <a:p>
            <a:endParaRPr lang="en-US" sz="2400" b="1">
              <a:solidFill>
                <a:srgbClr val="000000"/>
              </a:solidFill>
              <a:latin typeface="Segoe UI"/>
            </a:endParaRPr>
          </a:p>
          <a:p>
            <a:endParaRPr lang="en-US" sz="2400" b="1">
              <a:solidFill>
                <a:srgbClr val="000000"/>
              </a:solidFill>
              <a:latin typeface="Segoe UI"/>
            </a:endParaRPr>
          </a:p>
          <a:p>
            <a:endParaRPr lang="en-US" sz="2400" b="1">
              <a:solidFill>
                <a:srgbClr val="000000"/>
              </a:solidFill>
              <a:latin typeface="Segoe UI"/>
            </a:endParaRPr>
          </a:p>
          <a:p>
            <a:r>
              <a:rPr lang="en-US" sz="2400" b="0">
                <a:solidFill>
                  <a:srgbClr val="000000"/>
                </a:solidFill>
                <a:latin typeface="Segoe UI"/>
              </a:rPr>
              <a:t>for-in: iterate collections • forEach: functional style</a:t>
            </a:r>
          </a:p>
          <a:p>
            <a:endParaRPr lang="en-US" sz="2400" b="0">
              <a:solidFill>
                <a:srgbClr val="000000"/>
              </a:solidFill>
              <a:latin typeface="Segoe UI"/>
            </a:endParaRPr>
          </a:p>
          <a:p>
            <a:endParaRPr sz="2200" b="1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70185" y="2151338"/>
            <a:ext cx="6693878" cy="1294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>
                <a:solidFill>
                  <a:srgbClr val="0066CC"/>
                </a:solidFill>
                <a:latin typeface="Consolas"/>
              </a:rPr>
              <a:t>for</a:t>
            </a:r>
            <a:r>
              <a:rPr sz="1800">
                <a:solidFill>
                  <a:srgbClr val="000000"/>
                </a:solidFill>
                <a:latin typeface="Consolas"/>
              </a:rPr>
              <a:t>(int i=0; i&lt;3; i++) {
 print(i);
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D9288-94A0-34D1-1C47-84CD94623C45}"/>
              </a:ext>
            </a:extLst>
          </p:cNvPr>
          <p:cNvSpPr txBox="1"/>
          <p:nvPr/>
        </p:nvSpPr>
        <p:spPr>
          <a:xfrm>
            <a:off x="1770185" y="4739322"/>
            <a:ext cx="6693878" cy="1121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800">
                <a:solidFill>
                  <a:srgbClr val="0066CC"/>
                </a:solidFill>
                <a:latin typeface="Consolas"/>
              </a:rPr>
              <a:t>for</a:t>
            </a:r>
            <a:r>
              <a:rPr sz="1800">
                <a:solidFill>
                  <a:srgbClr val="000000"/>
                </a:solidFill>
                <a:latin typeface="Consolas"/>
              </a:rPr>
              <a:t>(var x in [1,2,3]) print(x);
[1,2,3].forEach((e)=&gt;</a:t>
            </a:r>
            <a:r>
              <a:rPr sz="1800">
                <a:solidFill>
                  <a:srgbClr val="0066CC"/>
                </a:solidFill>
                <a:latin typeface="Consolas"/>
              </a:rPr>
              <a:t>print</a:t>
            </a:r>
            <a:r>
              <a:rPr sz="1800">
                <a:solidFill>
                  <a:srgbClr val="000000"/>
                </a:solidFill>
                <a:latin typeface="Consolas"/>
              </a:rPr>
              <a:t>(e));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Functions</a:t>
            </a:r>
            <a:r>
              <a:rPr lang="en-US"/>
              <a:t>:</a:t>
            </a:r>
            <a:r>
              <a:t> basics</a:t>
            </a:r>
            <a:r>
              <a:rPr lang="en-US"/>
              <a:t> - arrow syntax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680" y="1600200"/>
            <a:ext cx="8229600" cy="4525963"/>
          </a:xfrm>
        </p:spPr>
        <p:txBody>
          <a:bodyPr/>
          <a:lstStyle/>
          <a:p>
            <a:r>
              <a:rPr sz="2400" b="0">
                <a:solidFill>
                  <a:srgbClr val="000000"/>
                </a:solidFill>
                <a:latin typeface="Segoe UI"/>
              </a:rPr>
              <a:t>Typed params &amp; return values.</a:t>
            </a:r>
            <a:endParaRPr lang="en-US" sz="2400" b="0">
              <a:solidFill>
                <a:srgbClr val="000000"/>
              </a:solidFill>
              <a:latin typeface="Segoe UI"/>
            </a:endParaRPr>
          </a:p>
          <a:p>
            <a:endParaRPr lang="en-US" sz="2400">
              <a:solidFill>
                <a:srgbClr val="000000"/>
              </a:solidFill>
              <a:latin typeface="Segoe UI"/>
            </a:endParaRPr>
          </a:p>
          <a:p>
            <a:endParaRPr lang="en-US" sz="2400" b="1">
              <a:solidFill>
                <a:srgbClr val="000000"/>
              </a:solidFill>
              <a:latin typeface="Segoe UI"/>
            </a:endParaRPr>
          </a:p>
          <a:p>
            <a:endParaRPr lang="en-US" sz="2400" b="1">
              <a:solidFill>
                <a:srgbClr val="000000"/>
              </a:solidFill>
              <a:latin typeface="Segoe UI"/>
            </a:endParaRPr>
          </a:p>
          <a:p>
            <a:endParaRPr lang="en-US" sz="2400" b="1">
              <a:solidFill>
                <a:srgbClr val="000000"/>
              </a:solidFill>
              <a:latin typeface="Segoe UI"/>
            </a:endParaRPr>
          </a:p>
          <a:p>
            <a:r>
              <a:rPr lang="en-US" sz="2400" b="0">
                <a:solidFill>
                  <a:srgbClr val="000000"/>
                </a:solidFill>
                <a:latin typeface="Segoe UI"/>
              </a:rPr>
              <a:t>Short form for single-expression functions.</a:t>
            </a:r>
          </a:p>
          <a:p>
            <a:endParaRPr lang="en-US" sz="2400">
              <a:solidFill>
                <a:srgbClr val="000000"/>
              </a:solidFill>
              <a:latin typeface="Segoe UI"/>
            </a:endParaRPr>
          </a:p>
          <a:p>
            <a:endParaRPr lang="en-US" sz="2400">
              <a:solidFill>
                <a:srgbClr val="000000"/>
              </a:solidFill>
              <a:latin typeface="Segoe UI"/>
            </a:endParaRPr>
          </a:p>
          <a:p>
            <a:endParaRPr sz="2200" b="1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67354" y="2242462"/>
            <a:ext cx="6187391" cy="18895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int</a:t>
            </a:r>
            <a:r>
              <a:rPr sz="2000">
                <a:solidFill>
                  <a:srgbClr val="000000"/>
                </a:solidFill>
                <a:latin typeface="Consolas"/>
              </a:rPr>
              <a:t> add(int a,int b){
  return a+b;
}</a:t>
            </a:r>
          </a:p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print</a:t>
            </a:r>
            <a:r>
              <a:rPr sz="2000">
                <a:solidFill>
                  <a:srgbClr val="000000"/>
                </a:solidFill>
                <a:latin typeface="Consolas"/>
              </a:rPr>
              <a:t>(add(2,3));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C6E69-7B45-7FB2-4021-B711900965F8}"/>
              </a:ext>
            </a:extLst>
          </p:cNvPr>
          <p:cNvSpPr txBox="1"/>
          <p:nvPr/>
        </p:nvSpPr>
        <p:spPr>
          <a:xfrm>
            <a:off x="2567354" y="4907642"/>
            <a:ext cx="610801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sz="1800">
                <a:solidFill>
                  <a:srgbClr val="0066CC"/>
                </a:solidFill>
                <a:latin typeface="Consolas"/>
              </a:rPr>
              <a:t>int</a:t>
            </a:r>
            <a:r>
              <a:rPr sz="1800">
                <a:solidFill>
                  <a:srgbClr val="000000"/>
                </a:solidFill>
                <a:latin typeface="Consolas"/>
              </a:rPr>
              <a:t> add(int a,int b)=&gt;a+b;
</a:t>
            </a:r>
          </a:p>
          <a:p>
            <a:r>
              <a:rPr sz="1800">
                <a:solidFill>
                  <a:srgbClr val="0066CC"/>
                </a:solidFill>
                <a:latin typeface="Consolas"/>
              </a:rPr>
              <a:t>print</a:t>
            </a:r>
            <a:r>
              <a:rPr sz="1800">
                <a:solidFill>
                  <a:srgbClr val="000000"/>
                </a:solidFill>
                <a:latin typeface="Consolas"/>
              </a:rPr>
              <a:t>(add(2,3));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Functions — optional &amp; named params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000000"/>
                </a:solidFill>
                <a:latin typeface="Segoe UI"/>
              </a:rPr>
              <a:t>Use {} for named optionals; provide defaults.</a:t>
            </a:r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r>
              <a:rPr lang="en-US" sz="2200" b="0">
                <a:solidFill>
                  <a:srgbClr val="000000"/>
                </a:solidFill>
                <a:latin typeface="Segoe UI"/>
              </a:rPr>
              <a:t>Output: 	</a:t>
            </a:r>
            <a:r>
              <a:rPr lang="en-US" sz="2400" b="0">
                <a:solidFill>
                  <a:srgbClr val="000000"/>
                </a:solidFill>
                <a:latin typeface="Consolas"/>
              </a:rPr>
              <a:t>Guest </a:t>
            </a:r>
            <a:endParaRPr lang="en-US" sz="1868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b="0">
                <a:solidFill>
                  <a:srgbClr val="000000"/>
                </a:solidFill>
                <a:latin typeface="Segoe UI"/>
              </a:rPr>
              <a:t>		</a:t>
            </a:r>
            <a:r>
              <a:rPr lang="en-US" sz="2400">
                <a:solidFill>
                  <a:srgbClr val="5A5A5A"/>
                </a:solidFill>
                <a:latin typeface="Consolas"/>
              </a:rPr>
              <a:t> Minh</a:t>
            </a:r>
            <a:endParaRPr sz="2200" b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7415" y="2686050"/>
            <a:ext cx="781929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sz="1800">
                <a:solidFill>
                  <a:srgbClr val="0066CC"/>
                </a:solidFill>
                <a:latin typeface="Consolas"/>
              </a:rPr>
              <a:t>void</a:t>
            </a:r>
            <a:r>
              <a:rPr sz="1800">
                <a:solidFill>
                  <a:srgbClr val="000000"/>
                </a:solidFill>
                <a:latin typeface="Consolas"/>
              </a:rPr>
              <a:t> greet({String name = </a:t>
            </a:r>
            <a:r>
              <a:rPr sz="1800">
                <a:solidFill>
                  <a:srgbClr val="B45500"/>
                </a:solidFill>
                <a:latin typeface="Consolas"/>
              </a:rPr>
              <a:t>"Guest"</a:t>
            </a:r>
            <a:r>
              <a:rPr sz="1800">
                <a:solidFill>
                  <a:srgbClr val="000000"/>
                </a:solidFill>
                <a:latin typeface="Consolas"/>
              </a:rPr>
              <a:t>}) { </a:t>
            </a:r>
            <a:r>
              <a:rPr sz="1800">
                <a:solidFill>
                  <a:srgbClr val="0066CC"/>
                </a:solidFill>
                <a:latin typeface="Consolas"/>
              </a:rPr>
              <a:t>print</a:t>
            </a:r>
            <a:r>
              <a:rPr sz="1800">
                <a:solidFill>
                  <a:srgbClr val="000000"/>
                </a:solidFill>
                <a:latin typeface="Consolas"/>
              </a:rPr>
              <a:t>(name); }
</a:t>
            </a:r>
          </a:p>
          <a:p>
            <a:r>
              <a:rPr sz="1800">
                <a:solidFill>
                  <a:srgbClr val="5A5A5A"/>
                </a:solidFill>
                <a:latin typeface="Consolas"/>
              </a:rPr>
              <a:t>greet(); // Guest
</a:t>
            </a:r>
          </a:p>
          <a:p>
            <a:r>
              <a:rPr sz="1800">
                <a:solidFill>
                  <a:srgbClr val="000000"/>
                </a:solidFill>
                <a:latin typeface="Consolas"/>
              </a:rPr>
              <a:t>greet(name: </a:t>
            </a:r>
            <a:r>
              <a:rPr sz="1800">
                <a:solidFill>
                  <a:srgbClr val="B45500"/>
                </a:solidFill>
                <a:latin typeface="Consolas"/>
              </a:rPr>
              <a:t>"Minh"</a:t>
            </a:r>
            <a:r>
              <a:rPr sz="1800">
                <a:solidFill>
                  <a:srgbClr val="5A5A5A"/>
                </a:solidFill>
                <a:latin typeface="Consolas"/>
              </a:rPr>
              <a:t>); // Minh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rPr lang="en-US"/>
              <a:t>Intro to OOP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429" y="1600200"/>
            <a:ext cx="9267225" cy="452596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6000" b="1">
                <a:solidFill>
                  <a:srgbClr val="000000"/>
                </a:solidFill>
              </a:rPr>
              <a:t>Concept</a:t>
            </a:r>
          </a:p>
          <a:p>
            <a:r>
              <a:rPr lang="en-US" sz="6000" b="0">
                <a:solidFill>
                  <a:srgbClr val="000000"/>
                </a:solidFill>
              </a:rPr>
              <a:t>Dart fully supports OOP</a:t>
            </a:r>
          </a:p>
          <a:p>
            <a:pPr marL="0" indent="0">
              <a:buNone/>
            </a:pPr>
            <a:r>
              <a:rPr lang="en-US" sz="6000" b="1"/>
              <a:t>Key ideas</a:t>
            </a:r>
          </a:p>
          <a:p>
            <a:r>
              <a:rPr lang="en-US" sz="6000" b="0"/>
              <a:t>Class / Object</a:t>
            </a:r>
          </a:p>
          <a:p>
            <a:r>
              <a:rPr lang="en-US" sz="6000" b="0"/>
              <a:t>Constructor</a:t>
            </a:r>
          </a:p>
          <a:p>
            <a:r>
              <a:rPr lang="en-US" sz="6000" b="0"/>
              <a:t>Inheritance</a:t>
            </a:r>
          </a:p>
          <a:p>
            <a:r>
              <a:rPr lang="en-US" sz="6000" b="0"/>
              <a:t>Polymorphism</a:t>
            </a:r>
          </a:p>
          <a:p>
            <a:r>
              <a:rPr lang="en-US" sz="6000" b="0"/>
              <a:t>Method Override</a:t>
            </a:r>
          </a:p>
          <a:p>
            <a:pPr marL="0" indent="0">
              <a:buNone/>
            </a:pPr>
            <a:r>
              <a:rPr lang="en-US" sz="5500" b="0"/>
              <a:t>Notes </a:t>
            </a:r>
          </a:p>
          <a:p>
            <a:pPr marL="0" indent="0">
              <a:buNone/>
            </a:pPr>
            <a:r>
              <a:rPr lang="en-US" sz="5500" b="0"/>
              <a:t>OOP will be the foundation when building the Flutter widget tree UI</a:t>
            </a:r>
            <a:r>
              <a:rPr lang="en-US" sz="2800" b="0"/>
              <a:t>.</a:t>
            </a:r>
          </a:p>
          <a:p>
            <a:endParaRPr sz="2200">
              <a:solidFill>
                <a:srgbClr val="00000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B2E0D-B688-3336-0E24-0EDFFB0D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656AE-0BD9-D90E-8E35-AAA04A76F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Classes &amp;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37C9A-918C-9D23-DC52-3EF4445C6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000000"/>
                </a:solidFill>
              </a:rPr>
              <a:t>Class defines structure; object is an instance.</a:t>
            </a:r>
            <a:endParaRPr lang="en-US" sz="2200" b="0">
              <a:solidFill>
                <a:srgbClr val="000000"/>
              </a:solidFill>
            </a:endParaRPr>
          </a:p>
          <a:p>
            <a:endParaRPr lang="en-US" sz="2200" b="0">
              <a:solidFill>
                <a:srgbClr val="000000"/>
              </a:solidFill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  <a:latin typeface="Segoe UI"/>
            </a:endParaRPr>
          </a:p>
          <a:p>
            <a:endParaRPr lang="en-US" sz="2200" b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 b="0">
                <a:solidFill>
                  <a:srgbClr val="000000"/>
                </a:solidFill>
              </a:rPr>
              <a:t>Started: Toyota</a:t>
            </a:r>
          </a:p>
          <a:p>
            <a:endParaRPr sz="2200" b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7F7DA-74A9-5A13-D4D4-0E1AD04F5328}"/>
              </a:ext>
            </a:extLst>
          </p:cNvPr>
          <p:cNvSpPr txBox="1"/>
          <p:nvPr/>
        </p:nvSpPr>
        <p:spPr>
          <a:xfrm>
            <a:off x="1430215" y="2300948"/>
            <a:ext cx="7936523" cy="2956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>
                <a:solidFill>
                  <a:srgbClr val="0066CC"/>
                </a:solidFill>
                <a:latin typeface="Consolas"/>
              </a:rPr>
              <a:t>class</a:t>
            </a:r>
            <a:r>
              <a:rPr sz="1800">
                <a:solidFill>
                  <a:srgbClr val="000000"/>
                </a:solidFill>
                <a:latin typeface="Consolas"/>
              </a:rPr>
              <a:t> Car {
 String brand;
 Car(this.brand);
 void start(){ </a:t>
            </a:r>
            <a:r>
              <a:rPr sz="1800">
                <a:solidFill>
                  <a:srgbClr val="0066CC"/>
                </a:solidFill>
                <a:latin typeface="Consolas"/>
              </a:rPr>
              <a:t>print</a:t>
            </a:r>
            <a:r>
              <a:rPr sz="1800">
                <a:solidFill>
                  <a:srgbClr val="000000"/>
                </a:solidFill>
                <a:latin typeface="Consolas"/>
              </a:rPr>
              <a:t>(</a:t>
            </a:r>
            <a:r>
              <a:rPr sz="1800">
                <a:solidFill>
                  <a:srgbClr val="B45500"/>
                </a:solidFill>
                <a:latin typeface="Consolas"/>
              </a:rPr>
              <a:t>"Started: $brand"</a:t>
            </a:r>
            <a:r>
              <a:rPr sz="1800">
                <a:solidFill>
                  <a:srgbClr val="000000"/>
                </a:solidFill>
                <a:latin typeface="Consolas"/>
              </a:rPr>
              <a:t>); }
}
</a:t>
            </a:r>
            <a:r>
              <a:rPr sz="1800">
                <a:solidFill>
                  <a:srgbClr val="0066CC"/>
                </a:solidFill>
                <a:latin typeface="Consolas"/>
              </a:rPr>
              <a:t>var</a:t>
            </a:r>
            <a:r>
              <a:rPr sz="1800">
                <a:solidFill>
                  <a:srgbClr val="000000"/>
                </a:solidFill>
                <a:latin typeface="Consolas"/>
              </a:rPr>
              <a:t> c = Car(</a:t>
            </a:r>
            <a:r>
              <a:rPr sz="1800">
                <a:solidFill>
                  <a:srgbClr val="B45500"/>
                </a:solidFill>
                <a:latin typeface="Consolas"/>
              </a:rPr>
              <a:t>"Toyota"</a:t>
            </a:r>
            <a:r>
              <a:rPr sz="1800">
                <a:solidFill>
                  <a:srgbClr val="000000"/>
                </a:solidFill>
                <a:latin typeface="Consolas"/>
              </a:rPr>
              <a:t>);
c.start();</a:t>
            </a:r>
          </a:p>
        </p:txBody>
      </p:sp>
    </p:spTree>
    <p:extLst>
      <p:ext uri="{BB962C8B-B14F-4D97-AF65-F5344CB8AC3E}">
        <p14:creationId xmlns:p14="http://schemas.microsoft.com/office/powerpoint/2010/main" val="963584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Constructors </a:t>
            </a:r>
            <a:r>
              <a:rPr lang="en-US"/>
              <a:t>-</a:t>
            </a:r>
            <a:r>
              <a:t> default &amp; named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  <a:latin typeface="Segoe UI"/>
              </a:rPr>
              <a:t>Default, named, and redirecting constructors.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3631" y="2560479"/>
            <a:ext cx="722141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sz="1800">
                <a:solidFill>
                  <a:srgbClr val="0066CC"/>
                </a:solidFill>
                <a:latin typeface="Consolas"/>
              </a:rPr>
              <a:t>class</a:t>
            </a:r>
            <a:r>
              <a:rPr sz="1800">
                <a:solidFill>
                  <a:srgbClr val="000000"/>
                </a:solidFill>
                <a:latin typeface="Consolas"/>
              </a:rPr>
              <a:t> Point {
 int x,y;
 Point(this.x,this.y);
 Point.origin(): x=0, y=0;
}
</a:t>
            </a:r>
          </a:p>
          <a:p>
            <a:r>
              <a:rPr sz="1800">
                <a:solidFill>
                  <a:srgbClr val="0066CC"/>
                </a:solidFill>
                <a:latin typeface="Consolas"/>
              </a:rPr>
              <a:t>var</a:t>
            </a:r>
            <a:r>
              <a:rPr sz="1800">
                <a:solidFill>
                  <a:srgbClr val="000000"/>
                </a:solidFill>
                <a:latin typeface="Consolas"/>
              </a:rPr>
              <a:t> p = Point.origin();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Inheritance &amp; Override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000000"/>
                </a:solidFill>
              </a:rPr>
              <a:t>Use extends to inherit and @override to change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5262" y="2570519"/>
            <a:ext cx="783875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sz="2000">
                <a:solidFill>
                  <a:srgbClr val="0066CC"/>
                </a:solidFill>
                <a:latin typeface="Consolas"/>
              </a:rPr>
              <a:t>class</a:t>
            </a:r>
            <a:r>
              <a:rPr sz="2000">
                <a:solidFill>
                  <a:srgbClr val="000000"/>
                </a:solidFill>
                <a:latin typeface="Consolas"/>
              </a:rPr>
              <a:t> Animal { </a:t>
            </a:r>
            <a:endParaRPr lang="en-US" sz="2000">
              <a:solidFill>
                <a:srgbClr val="000000"/>
              </a:solidFill>
              <a:latin typeface="Consolas"/>
            </a:endParaRPr>
          </a:p>
          <a:p>
            <a:r>
              <a:rPr lang="en-US" sz="2000">
                <a:solidFill>
                  <a:srgbClr val="000000"/>
                </a:solidFill>
                <a:latin typeface="Consolas"/>
              </a:rPr>
              <a:t>	</a:t>
            </a:r>
            <a:r>
              <a:rPr sz="2000">
                <a:solidFill>
                  <a:srgbClr val="000000"/>
                </a:solidFill>
                <a:latin typeface="Consolas"/>
              </a:rPr>
              <a:t>void sound()=&gt;</a:t>
            </a:r>
            <a:r>
              <a:rPr sz="2000">
                <a:solidFill>
                  <a:srgbClr val="B45500"/>
                </a:solidFill>
                <a:latin typeface="Consolas"/>
              </a:rPr>
              <a:t>"Some"</a:t>
            </a:r>
            <a:r>
              <a:rPr sz="2000">
                <a:solidFill>
                  <a:srgbClr val="000000"/>
                </a:solidFill>
                <a:latin typeface="Consolas"/>
              </a:rPr>
              <a:t>; </a:t>
            </a:r>
            <a:endParaRPr lang="en-US" sz="2000">
              <a:solidFill>
                <a:srgbClr val="000000"/>
              </a:solidFill>
              <a:latin typeface="Consolas"/>
            </a:endParaRPr>
          </a:p>
          <a:p>
            <a:r>
              <a:rPr sz="2000">
                <a:solidFill>
                  <a:srgbClr val="000000"/>
                </a:solidFill>
                <a:latin typeface="Consolas"/>
              </a:rPr>
              <a:t>}
</a:t>
            </a:r>
          </a:p>
          <a:p>
            <a:r>
              <a:rPr sz="2000">
                <a:solidFill>
                  <a:srgbClr val="0066CC"/>
                </a:solidFill>
                <a:latin typeface="Consolas"/>
              </a:rPr>
              <a:t>class</a:t>
            </a:r>
            <a:r>
              <a:rPr sz="2000">
                <a:solidFill>
                  <a:srgbClr val="000000"/>
                </a:solidFill>
                <a:latin typeface="Consolas"/>
              </a:rPr>
              <a:t> Dog extends Animal {
 @override void sound()=&gt;</a:t>
            </a:r>
            <a:r>
              <a:rPr sz="2000">
                <a:solidFill>
                  <a:srgbClr val="B45500"/>
                </a:solidFill>
                <a:latin typeface="Consolas"/>
              </a:rPr>
              <a:t>"Woof"</a:t>
            </a:r>
            <a:r>
              <a:rPr sz="2000">
                <a:solidFill>
                  <a:srgbClr val="000000"/>
                </a:solidFill>
                <a:latin typeface="Consolas"/>
              </a:rPr>
              <a:t>; </a:t>
            </a:r>
            <a:endParaRPr lang="en-US" sz="2000">
              <a:solidFill>
                <a:srgbClr val="000000"/>
              </a:solidFill>
              <a:latin typeface="Consolas"/>
            </a:endParaRPr>
          </a:p>
          <a:p>
            <a:r>
              <a:rPr sz="2000">
                <a:solidFill>
                  <a:srgbClr val="000000"/>
                </a:solidFill>
                <a:latin typeface="Consolas"/>
              </a:rPr>
              <a:t>}
</a:t>
            </a:r>
          </a:p>
          <a:p>
            <a:r>
              <a:rPr sz="2000">
                <a:solidFill>
                  <a:srgbClr val="000000"/>
                </a:solidFill>
                <a:latin typeface="Consolas"/>
              </a:rPr>
              <a:t>Dog()..sound();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Null Safety </a:t>
            </a:r>
            <a:r>
              <a:rPr lang="en-US"/>
              <a:t>-</a:t>
            </a:r>
            <a:r>
              <a:t> operators ?, ??, 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783080"/>
            <a:ext cx="4560570" cy="4800282"/>
          </a:xfrm>
        </p:spPr>
        <p:txBody>
          <a:bodyPr>
            <a:normAutofit/>
          </a:bodyPr>
          <a:lstStyle/>
          <a:p>
            <a:r>
              <a:rPr lang="en-US" sz="2400" b="0"/>
              <a:t>Dart enforces null-safety at compile-time to prevent null reference errors.</a:t>
            </a:r>
          </a:p>
          <a:p>
            <a:endParaRPr lang="en-US" sz="2400" b="0"/>
          </a:p>
          <a:p>
            <a:endParaRPr lang="en-US" sz="2400" b="0"/>
          </a:p>
          <a:p>
            <a:endParaRPr lang="en-US" sz="2400" b="0"/>
          </a:p>
          <a:p>
            <a:r>
              <a:rPr lang="en-US" sz="2400" b="0"/>
              <a:t>Example:</a:t>
            </a:r>
          </a:p>
          <a:p>
            <a:endParaRPr lang="en-US" sz="2200">
              <a:solidFill>
                <a:srgbClr val="000000"/>
              </a:solidFill>
              <a:latin typeface="Segoe UI"/>
            </a:endParaRPr>
          </a:p>
          <a:p>
            <a:endParaRPr lang="en-US" sz="2200">
              <a:solidFill>
                <a:srgbClr val="000000"/>
              </a:solidFill>
              <a:latin typeface="Segoe UI"/>
            </a:endParaRPr>
          </a:p>
          <a:p>
            <a:endParaRPr lang="en-US" sz="2200">
              <a:solidFill>
                <a:srgbClr val="000000"/>
              </a:solidFill>
              <a:latin typeface="Segoe UI"/>
            </a:endParaRPr>
          </a:p>
          <a:p>
            <a:endParaRPr sz="220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57162B-9766-5A3D-C40D-25E5FCCFA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631" y="1783080"/>
            <a:ext cx="5641975" cy="1851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C865D9-D288-3946-E5AB-9B73AA9C9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225" y="4000500"/>
            <a:ext cx="6143947" cy="23771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Collections </a:t>
            </a:r>
            <a:r>
              <a:rPr lang="en-US"/>
              <a:t>-</a:t>
            </a:r>
            <a:r>
              <a:t> map/filter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128702" cy="47205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0"/>
              <a:t>Concept: Functional operations over iterables (e.g., map, where)</a:t>
            </a:r>
          </a:p>
          <a:p>
            <a:r>
              <a:rPr lang="en-US" sz="2400" b="0"/>
              <a:t>map: transform each element → new Iterable</a:t>
            </a:r>
          </a:p>
          <a:p>
            <a:r>
              <a:rPr lang="en-US" sz="2400" b="0"/>
              <a:t>where (filter): keep elements that satisfy a predicate</a:t>
            </a:r>
          </a:p>
          <a:p>
            <a:r>
              <a:rPr lang="en-US" sz="2400" b="0"/>
              <a:t>Often chained; lazy until consumed (toList, forEach, etc.)</a:t>
            </a:r>
          </a:p>
          <a:p>
            <a:pPr marL="0" indent="0">
              <a:buNone/>
            </a:pPr>
            <a:r>
              <a:rPr lang="en-US" sz="2400" b="0"/>
              <a:t>Explanation</a:t>
            </a:r>
          </a:p>
          <a:p>
            <a:r>
              <a:rPr lang="en-US" sz="2400" b="0"/>
              <a:t>Works on any Iterable&lt;T&gt; (e.g., List, Set)</a:t>
            </a:r>
          </a:p>
          <a:p>
            <a:r>
              <a:rPr lang="en-US" sz="2400" b="0"/>
              <a:t>map preserves length, transforms type</a:t>
            </a:r>
          </a:p>
          <a:p>
            <a:r>
              <a:rPr lang="en-US" sz="2400" b="0"/>
              <a:t>where preserves type, may change length</a:t>
            </a:r>
          </a:p>
          <a:p>
            <a:r>
              <a:rPr lang="en-US" sz="2400" b="0"/>
              <a:t>Use toList() or toSet() to materialize results</a:t>
            </a:r>
          </a:p>
          <a:p>
            <a:endParaRPr sz="220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92961-8ACC-1DFD-193D-DEF526AC1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902" y="1544637"/>
            <a:ext cx="4914900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37160"/>
            <a:ext cx="10758791" cy="1143000"/>
          </a:xfrm>
        </p:spPr>
        <p:txBody>
          <a:bodyPr/>
          <a:lstStyle/>
          <a:p>
            <a:pPr algn="ctr">
              <a:defRPr sz="3400" b="1"/>
            </a:pPr>
            <a:r>
              <a:t>Exceptions — try/catch/finally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5932170" cy="5151120"/>
          </a:xfrm>
        </p:spPr>
        <p:txBody>
          <a:bodyPr/>
          <a:lstStyle/>
          <a:p>
            <a:pPr marL="0" indent="0">
              <a:buNone/>
            </a:pPr>
            <a:r>
              <a:rPr lang="en-US" sz="2000" b="0"/>
              <a:t>Concept:  Handle runtime exceptions without crashing the application.</a:t>
            </a:r>
          </a:p>
          <a:p>
            <a:r>
              <a:rPr lang="en-US" sz="2000" b="0"/>
              <a:t>try: the risky block</a:t>
            </a:r>
          </a:p>
          <a:p>
            <a:r>
              <a:rPr lang="en-US" sz="2000" b="0"/>
              <a:t>catch / on: handle exceptions</a:t>
            </a:r>
          </a:p>
          <a:p>
            <a:r>
              <a:rPr lang="en-US" sz="2000" b="0"/>
              <a:t>finally: always runs (cleanup)</a:t>
            </a:r>
          </a:p>
          <a:p>
            <a:r>
              <a:rPr lang="en-US" sz="2000" b="0"/>
              <a:t>rethrow to propagate after logging</a:t>
            </a:r>
          </a:p>
          <a:p>
            <a:pPr marL="0" indent="0">
              <a:buNone/>
            </a:pPr>
            <a:r>
              <a:rPr lang="en-US" sz="2000" b="0"/>
              <a:t>Explanation</a:t>
            </a:r>
          </a:p>
          <a:p>
            <a:r>
              <a:rPr lang="en-US" sz="2000" b="0"/>
              <a:t>Use on SpecificException to target types</a:t>
            </a:r>
          </a:p>
          <a:p>
            <a:r>
              <a:rPr lang="en-US" sz="2000" b="0"/>
              <a:t>catch (e, s) captures error + stack trace</a:t>
            </a:r>
          </a:p>
          <a:p>
            <a:r>
              <a:rPr lang="en-US" sz="2000" b="0"/>
              <a:t>Prefer throwing custom exceptions for domain errors</a:t>
            </a:r>
          </a:p>
          <a:p>
            <a:pPr marL="0" indent="0">
              <a:buNone/>
            </a:pPr>
            <a:r>
              <a:rPr lang="en-US" sz="2000" b="0"/>
              <a:t>Example:</a:t>
            </a:r>
          </a:p>
          <a:p>
            <a:endParaRPr sz="220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BD144-6331-8E22-9787-743EC7474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797" y="1119981"/>
            <a:ext cx="539115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Async — Future &amp; async/await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163"/>
            <a:ext cx="8229600" cy="4525963"/>
          </a:xfrm>
        </p:spPr>
        <p:txBody>
          <a:bodyPr/>
          <a:lstStyle/>
          <a:p>
            <a:r>
              <a:rPr sz="2200" b="0">
                <a:solidFill>
                  <a:srgbClr val="000000"/>
                </a:solidFill>
                <a:latin typeface="Segoe UI"/>
              </a:rPr>
              <a:t>async marks an async function; await pauses until Future completes.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3631" y="2759986"/>
            <a:ext cx="710418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sz="1800">
                <a:solidFill>
                  <a:srgbClr val="0066CC"/>
                </a:solidFill>
                <a:latin typeface="Consolas"/>
              </a:rPr>
              <a:t>Future</a:t>
            </a:r>
            <a:r>
              <a:rPr sz="1800">
                <a:solidFill>
                  <a:srgbClr val="000000"/>
                </a:solidFill>
                <a:latin typeface="Consolas"/>
              </a:rPr>
              <a:t>&lt;String&gt; fetch() async {
</a:t>
            </a:r>
            <a:r>
              <a:rPr sz="1800">
                <a:solidFill>
                  <a:srgbClr val="0066CC"/>
                </a:solidFill>
                <a:latin typeface="Consolas"/>
              </a:rPr>
              <a:t> await</a:t>
            </a:r>
            <a:r>
              <a:rPr sz="1800">
                <a:solidFill>
                  <a:srgbClr val="000000"/>
                </a:solidFill>
                <a:latin typeface="Consolas"/>
              </a:rPr>
              <a:t> Future.delayed(Duration(seconds:1));
</a:t>
            </a:r>
            <a:r>
              <a:rPr sz="1800">
                <a:solidFill>
                  <a:srgbClr val="0066CC"/>
                </a:solidFill>
                <a:latin typeface="Consolas"/>
              </a:rPr>
              <a:t> return </a:t>
            </a:r>
            <a:r>
              <a:rPr sz="1800">
                <a:solidFill>
                  <a:srgbClr val="B45500"/>
                </a:solidFill>
                <a:latin typeface="Consolas"/>
              </a:rPr>
              <a:t>"Done"</a:t>
            </a:r>
            <a:r>
              <a:rPr sz="1800">
                <a:solidFill>
                  <a:srgbClr val="000000"/>
                </a:solidFill>
                <a:latin typeface="Consolas"/>
              </a:rPr>
              <a:t>;
}
</a:t>
            </a:r>
          </a:p>
          <a:p>
            <a:r>
              <a:rPr sz="1800">
                <a:solidFill>
                  <a:srgbClr val="0066CC"/>
                </a:solidFill>
                <a:latin typeface="Consolas"/>
              </a:rPr>
              <a:t>void</a:t>
            </a:r>
            <a:r>
              <a:rPr sz="1800">
                <a:solidFill>
                  <a:srgbClr val="000000"/>
                </a:solidFill>
                <a:latin typeface="Consolas"/>
              </a:rPr>
              <a:t> main() async {
</a:t>
            </a:r>
            <a:r>
              <a:rPr sz="1800">
                <a:solidFill>
                  <a:srgbClr val="0066CC"/>
                </a:solidFill>
                <a:latin typeface="Consolas"/>
              </a:rPr>
              <a:t> print</a:t>
            </a:r>
            <a:r>
              <a:rPr sz="1800">
                <a:solidFill>
                  <a:srgbClr val="000000"/>
                </a:solidFill>
                <a:latin typeface="Consolas"/>
              </a:rPr>
              <a:t>(await fetch());
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517E8-7089-8F72-4B29-45147C19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F54A-4D32-45FD-1685-D07E5EF9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Streams — sequence of async values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95D551-8CEF-495E-4157-869A728A2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330825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/>
              <a:t>Exam:</a:t>
            </a:r>
          </a:p>
          <a:p>
            <a:r>
              <a:rPr lang="en-US" sz="2400" b="0"/>
              <a:t>A Stream emits a sequence of asynchronous values over time.</a:t>
            </a:r>
          </a:p>
          <a:p>
            <a:r>
              <a:rPr lang="en-US" sz="2400" b="0"/>
              <a:t>Single-subscription (default): one listener, sequential consumption.</a:t>
            </a:r>
          </a:p>
          <a:p>
            <a:r>
              <a:rPr lang="en-US" sz="2400" b="0"/>
              <a:t>Broadcast: multiple listeners, events shared.</a:t>
            </a:r>
          </a:p>
          <a:p>
            <a:pPr marL="0" indent="0">
              <a:buNone/>
            </a:pPr>
            <a:r>
              <a:rPr lang="en-US" sz="2400"/>
              <a:t>Explanation:</a:t>
            </a:r>
          </a:p>
          <a:p>
            <a:r>
              <a:rPr lang="en-US" sz="2400" b="0"/>
              <a:t>Subscribe with listen, cancel with subscription.cancel().</a:t>
            </a:r>
          </a:p>
          <a:p>
            <a:r>
              <a:rPr lang="en-US" sz="2400" b="0"/>
              <a:t>Transform with **map / where / take / debounce (package)`.</a:t>
            </a:r>
          </a:p>
          <a:p>
            <a:r>
              <a:rPr lang="en-US" sz="2400" b="0"/>
              <a:t>Consume with await for inside async functions.</a:t>
            </a:r>
          </a:p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4E8A2D-6BC5-A48D-92BD-0F127C32E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025" y="1943100"/>
            <a:ext cx="6239852" cy="36461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1244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Mini-lab </a:t>
            </a:r>
            <a:r>
              <a:rPr lang="en-US"/>
              <a:t>-</a:t>
            </a:r>
            <a:r>
              <a:t> Student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  <a:latin typeface="Segoe UI"/>
              </a:rPr>
              <a:t>Task: create Student class, store in List, print, then add async delay to simulate loading.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3262" y="2743200"/>
            <a:ext cx="7678614" cy="2771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>
                <a:solidFill>
                  <a:srgbClr val="0066CC"/>
                </a:solidFill>
                <a:latin typeface="Consolas"/>
              </a:rPr>
              <a:t>class</a:t>
            </a:r>
            <a:r>
              <a:rPr sz="2000">
                <a:solidFill>
                  <a:srgbClr val="000000"/>
                </a:solidFill>
                <a:latin typeface="Consolas"/>
              </a:rPr>
              <a:t> Student { String name; Student(this.name);} 
</a:t>
            </a:r>
            <a:r>
              <a:rPr sz="2000">
                <a:solidFill>
                  <a:srgbClr val="0066CC"/>
                </a:solidFill>
                <a:latin typeface="Consolas"/>
              </a:rPr>
              <a:t>void</a:t>
            </a:r>
            <a:r>
              <a:rPr sz="2000">
                <a:solidFill>
                  <a:srgbClr val="000000"/>
                </a:solidFill>
                <a:latin typeface="Consolas"/>
              </a:rPr>
              <a:t> main() async {
</a:t>
            </a:r>
            <a:r>
              <a:rPr sz="2000">
                <a:solidFill>
                  <a:srgbClr val="0066CC"/>
                </a:solidFill>
                <a:latin typeface="Consolas"/>
              </a:rPr>
              <a:t> var</a:t>
            </a:r>
            <a:r>
              <a:rPr sz="2000">
                <a:solidFill>
                  <a:srgbClr val="000000"/>
                </a:solidFill>
                <a:latin typeface="Consolas"/>
              </a:rPr>
              <a:t> list = [Student(</a:t>
            </a:r>
            <a:r>
              <a:rPr sz="2000">
                <a:solidFill>
                  <a:srgbClr val="B45500"/>
                </a:solidFill>
                <a:latin typeface="Consolas"/>
              </a:rPr>
              <a:t>"An"</a:t>
            </a:r>
            <a:r>
              <a:rPr sz="2000">
                <a:solidFill>
                  <a:srgbClr val="000000"/>
                </a:solidFill>
                <a:latin typeface="Consolas"/>
              </a:rPr>
              <a:t>), Student(</a:t>
            </a:r>
            <a:r>
              <a:rPr sz="2000">
                <a:solidFill>
                  <a:srgbClr val="B45500"/>
                </a:solidFill>
                <a:latin typeface="Consolas"/>
              </a:rPr>
              <a:t>"Binh"</a:t>
            </a:r>
            <a:r>
              <a:rPr sz="2000">
                <a:solidFill>
                  <a:srgbClr val="000000"/>
                </a:solidFill>
                <a:latin typeface="Consolas"/>
              </a:rPr>
              <a:t>)];
</a:t>
            </a:r>
            <a:r>
              <a:rPr sz="2000">
                <a:solidFill>
                  <a:srgbClr val="0066CC"/>
                </a:solidFill>
                <a:latin typeface="Consolas"/>
              </a:rPr>
              <a:t> await</a:t>
            </a:r>
            <a:r>
              <a:rPr sz="2000">
                <a:solidFill>
                  <a:srgbClr val="000000"/>
                </a:solidFill>
                <a:latin typeface="Consolas"/>
              </a:rPr>
              <a:t> Future.delayed(Duration(seconds:1));
 list.forEach((s)=&gt;</a:t>
            </a:r>
            <a:r>
              <a:rPr sz="2000">
                <a:solidFill>
                  <a:srgbClr val="0066CC"/>
                </a:solidFill>
                <a:latin typeface="Consolas"/>
              </a:rPr>
              <a:t>print</a:t>
            </a:r>
            <a:r>
              <a:rPr sz="2000">
                <a:solidFill>
                  <a:srgbClr val="000000"/>
                </a:solidFill>
                <a:latin typeface="Consolas"/>
              </a:rPr>
              <a:t>(s.name));</a:t>
            </a:r>
            <a:r>
              <a:rPr sz="1800">
                <a:solidFill>
                  <a:srgbClr val="000000"/>
                </a:solidFill>
                <a:latin typeface="Consolas"/>
              </a:rPr>
              <a:t>
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470" y="163449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sz="2400">
                <a:solidFill>
                  <a:srgbClr val="000000"/>
                </a:solidFill>
              </a:rPr>
              <a:t>We covered</a:t>
            </a:r>
            <a:r>
              <a:rPr sz="2400">
                <a:solidFill>
                  <a:srgbClr val="000000"/>
                </a:solidFill>
                <a:latin typeface="Segoe UI"/>
              </a:rPr>
              <a:t>: </a:t>
            </a:r>
            <a:endParaRPr lang="en-US" sz="2400">
              <a:solidFill>
                <a:srgbClr val="000000"/>
              </a:solidFill>
              <a:latin typeface="Segoe UI"/>
            </a:endParaRPr>
          </a:p>
          <a:p>
            <a:pPr marL="876127" lvl="1" indent="-342900">
              <a:buFont typeface="Arial" panose="020B0604020202020204" pitchFamily="34" charset="0"/>
              <a:buChar char="•"/>
            </a:pPr>
            <a:r>
              <a:rPr lang="en-US" sz="2134" b="0"/>
              <a:t>Dart structure</a:t>
            </a:r>
          </a:p>
          <a:p>
            <a:pPr marL="876127" lvl="1" indent="-342900">
              <a:buFont typeface="Arial" panose="020B0604020202020204" pitchFamily="34" charset="0"/>
              <a:buChar char="•"/>
            </a:pPr>
            <a:r>
              <a:rPr lang="en-US" sz="2134" b="0"/>
              <a:t>data types -Variables</a:t>
            </a:r>
          </a:p>
          <a:p>
            <a:pPr marL="876127" lvl="1" indent="-342900">
              <a:buFont typeface="Arial" panose="020B0604020202020204" pitchFamily="34" charset="0"/>
              <a:buChar char="•"/>
            </a:pPr>
            <a:r>
              <a:rPr lang="en-US" sz="2134" b="0"/>
              <a:t>Collections</a:t>
            </a:r>
          </a:p>
          <a:p>
            <a:pPr marL="876127" lvl="1" indent="-342900">
              <a:buFont typeface="Arial" panose="020B0604020202020204" pitchFamily="34" charset="0"/>
              <a:buChar char="•"/>
            </a:pPr>
            <a:r>
              <a:rPr lang="en-US" sz="2134" b="0"/>
              <a:t>Control flow</a:t>
            </a:r>
          </a:p>
          <a:p>
            <a:pPr marL="876127" lvl="1" indent="-342900">
              <a:buFont typeface="Arial" panose="020B0604020202020204" pitchFamily="34" charset="0"/>
              <a:buChar char="•"/>
            </a:pPr>
            <a:r>
              <a:rPr lang="en-US" sz="2134" b="0"/>
              <a:t>Functions</a:t>
            </a:r>
          </a:p>
          <a:p>
            <a:pPr marL="876127" lvl="1" indent="-342900">
              <a:buFont typeface="Arial" panose="020B0604020202020204" pitchFamily="34" charset="0"/>
              <a:buChar char="•"/>
            </a:pPr>
            <a:r>
              <a:rPr lang="en-US" sz="2134" b="0"/>
              <a:t>OOP</a:t>
            </a:r>
          </a:p>
          <a:p>
            <a:pPr marL="876127" lvl="1" indent="-342900">
              <a:buFont typeface="Arial" panose="020B0604020202020204" pitchFamily="34" charset="0"/>
              <a:buChar char="•"/>
            </a:pPr>
            <a:r>
              <a:rPr lang="en-US" sz="2134" b="0"/>
              <a:t>Null safety </a:t>
            </a:r>
          </a:p>
          <a:p>
            <a:pPr marL="876127" lvl="1" indent="-342900">
              <a:buFont typeface="Arial" panose="020B0604020202020204" pitchFamily="34" charset="0"/>
              <a:buChar char="•"/>
            </a:pPr>
            <a:r>
              <a:rPr lang="en-US" sz="2134" b="0"/>
              <a:t>Async programming and streams.</a:t>
            </a:r>
            <a:endParaRPr lang="en-US" sz="2134" b="0">
              <a:solidFill>
                <a:srgbClr val="000000"/>
              </a:solidFill>
              <a:latin typeface="Segoe UI"/>
            </a:endParaRPr>
          </a:p>
          <a:p>
            <a:pPr marL="0" indent="0">
              <a:buNone/>
            </a:pPr>
            <a:endParaRPr sz="2200">
              <a:solidFill>
                <a:srgbClr val="00000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000000"/>
                </a:solidFill>
                <a:latin typeface="Segoe UI"/>
              </a:rPr>
              <a:t>Mastering Flutter (2025), Chapter 2</a:t>
            </a:r>
          </a:p>
          <a:p>
            <a:r>
              <a:rPr sz="2200" b="0">
                <a:solidFill>
                  <a:srgbClr val="000000"/>
                </a:solidFill>
                <a:latin typeface="Segoe UI"/>
              </a:rPr>
              <a:t>docs.flutter.dev</a:t>
            </a:r>
          </a:p>
          <a:p>
            <a:r>
              <a:rPr sz="2200" b="0">
                <a:solidFill>
                  <a:srgbClr val="000000"/>
                </a:solidFill>
                <a:latin typeface="Segoe UI"/>
              </a:rPr>
              <a:t>dart.dev/tools/dartpad</a:t>
            </a:r>
            <a:r>
              <a:rPr lang="en-US" sz="2200" b="0">
                <a:solidFill>
                  <a:srgbClr val="000000"/>
                </a:solidFill>
                <a:latin typeface="Segoe UI"/>
              </a:rPr>
              <a:t> </a:t>
            </a:r>
            <a:endParaRPr sz="2200" b="0">
              <a:solidFill>
                <a:srgbClr val="000000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3485</TotalTime>
  <Words>1524</Words>
  <Application>Microsoft Office PowerPoint</Application>
  <PresentationFormat>Custom</PresentationFormat>
  <Paragraphs>270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Consolas</vt:lpstr>
      <vt:lpstr>Myriad Pro</vt:lpstr>
      <vt:lpstr>Segoe UI</vt:lpstr>
      <vt:lpstr>Tahoma</vt:lpstr>
      <vt:lpstr>Times New Roman</vt:lpstr>
      <vt:lpstr>Theme1</vt:lpstr>
      <vt:lpstr>Module 2 - Dart Essentials</vt:lpstr>
      <vt:lpstr>Contents</vt:lpstr>
      <vt:lpstr>What is Dart?</vt:lpstr>
      <vt:lpstr>Program Structure</vt:lpstr>
      <vt:lpstr>Data Types</vt:lpstr>
      <vt:lpstr>Data Types</vt:lpstr>
      <vt:lpstr>Operators </vt:lpstr>
      <vt:lpstr>Variables &amp; Memory Concept</vt:lpstr>
      <vt:lpstr>Strings &amp; Interpolation</vt:lpstr>
      <vt:lpstr>Collections (List, Set, Map)</vt:lpstr>
      <vt:lpstr>Control Flow:  if / else - switch</vt:lpstr>
      <vt:lpstr>Loops: for-in &amp; forEach</vt:lpstr>
      <vt:lpstr>Functions: basics - arrow syntax</vt:lpstr>
      <vt:lpstr>Functions — optional &amp; named params</vt:lpstr>
      <vt:lpstr>Intro to OOP</vt:lpstr>
      <vt:lpstr>Classes &amp; Objects</vt:lpstr>
      <vt:lpstr>Constructors - default &amp; named</vt:lpstr>
      <vt:lpstr>Inheritance &amp; Override</vt:lpstr>
      <vt:lpstr>Null Safety - operators ?, ??, !</vt:lpstr>
      <vt:lpstr>Collections - map/filter</vt:lpstr>
      <vt:lpstr>Exceptions — try/catch/finally</vt:lpstr>
      <vt:lpstr>Async — Future &amp; async/await</vt:lpstr>
      <vt:lpstr>Streams — sequence of async values</vt:lpstr>
      <vt:lpstr>Mini-lab - Student list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Thanh Nguyen</dc:creator>
  <cp:keywords/>
  <dc:description>generated using python-pptx</dc:description>
  <cp:lastModifiedBy>Thanh Nguyen</cp:lastModifiedBy>
  <cp:revision>21</cp:revision>
  <dcterms:created xsi:type="dcterms:W3CDTF">2013-01-27T09:14:16Z</dcterms:created>
  <dcterms:modified xsi:type="dcterms:W3CDTF">2025-12-11T04:50:19Z</dcterms:modified>
  <cp:category/>
</cp:coreProperties>
</file>