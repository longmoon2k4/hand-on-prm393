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9"/>
  </p:notesMasterIdLst>
  <p:sldIdLst>
    <p:sldId id="276" r:id="rId2"/>
    <p:sldId id="275" r:id="rId3"/>
    <p:sldId id="257" r:id="rId4"/>
    <p:sldId id="258" r:id="rId5"/>
    <p:sldId id="284" r:id="rId6"/>
    <p:sldId id="285" r:id="rId7"/>
    <p:sldId id="286" r:id="rId8"/>
    <p:sldId id="287" r:id="rId9"/>
    <p:sldId id="259" r:id="rId10"/>
    <p:sldId id="260" r:id="rId11"/>
    <p:sldId id="261" r:id="rId12"/>
    <p:sldId id="262" r:id="rId13"/>
    <p:sldId id="264" r:id="rId14"/>
    <p:sldId id="265" r:id="rId15"/>
    <p:sldId id="266" r:id="rId16"/>
    <p:sldId id="280" r:id="rId17"/>
    <p:sldId id="281" r:id="rId18"/>
    <p:sldId id="267" r:id="rId19"/>
    <p:sldId id="277" r:id="rId20"/>
    <p:sldId id="278" r:id="rId21"/>
    <p:sldId id="269" r:id="rId22"/>
    <p:sldId id="279" r:id="rId23"/>
    <p:sldId id="271" r:id="rId24"/>
    <p:sldId id="282" r:id="rId25"/>
    <p:sldId id="283" r:id="rId26"/>
    <p:sldId id="272" r:id="rId27"/>
    <p:sldId id="274" r:id="rId2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935" autoAdjust="0"/>
  </p:normalViewPr>
  <p:slideViewPr>
    <p:cSldViewPr snapToGrid="0" snapToObjects="1">
      <p:cViewPr varScale="1">
        <p:scale>
          <a:sx n="68" d="100"/>
          <a:sy n="68" d="100"/>
        </p:scale>
        <p:origin x="1234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12553-EA1B-4B29-ADCC-3A47A68A6AD6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56F68-4D1E-40C7-852D-6D05FEA8C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23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94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the previous section, we found Flutter to be powerful in every respect.</a:t>
            </a:r>
          </a:p>
          <a:p>
            <a:r>
              <a:rPr lang="en-US"/>
              <a:t>Now, we move on to a more important practical question:</a:t>
            </a:r>
          </a:p>
          <a:p>
            <a:r>
              <a:rPr lang="en-US"/>
              <a:t>Should we use Flutter for this project?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742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C4D6E-7185-C4FD-B3FA-3744E15E6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9CFB2-4CA5-0281-7F90-45479A785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49A474-A652-9F43-C904-93EE3F988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Most enterprise applications don't need to be 100% native, and this is where Flutter is a great fit.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FE28C-345A-2C49-AB84-5167B68F9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77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44810-0E97-D647-35D4-CBEF9ED80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73E357-AE44-CEF2-2C78-D059A3065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A48B5-25DC-8A2F-276E-EA44EB03C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33D03-7C67-061F-B5F5-ABB676C4D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73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E97D3-3E90-9B64-C89D-97A5D47BA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78F1C-53C9-C170-6AA5-07A1533DB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39E4A-AA83-6ADA-AEB3-4B26860FE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 are cases where the original approach is a more logical choice from the start,</a:t>
            </a:r>
          </a:p>
          <a:p>
            <a:r>
              <a:rPr lang="en-US"/>
              <a:t>For example, graphically intensive games, applications that require deep integration with the operating system, or applications that demand specific principles unique to Android or iOS.</a:t>
            </a:r>
          </a:p>
          <a:p>
            <a:r>
              <a:rPr lang="en-US"/>
              <a:t>The important thing is to choose the right tool for the right problem.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CFE73-3822-3A11-6CFB-132BA7F3D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70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/>
              <a:t>Notes</a:t>
            </a:r>
            <a:r>
              <a:rPr lang="en-US" sz="1200" i="1"/>
              <a:t> </a:t>
            </a:r>
          </a:p>
          <a:p>
            <a:pPr marL="0" indent="0">
              <a:buNone/>
            </a:pPr>
            <a:r>
              <a:rPr lang="en-US" b="0" i="0"/>
              <a:t>macOS users need Xcode for iOS builds.</a:t>
            </a:r>
          </a:p>
          <a:p>
            <a:r>
              <a:rPr lang="en-US" b="0" i="0"/>
              <a:t>Windows users should enable virtualization for emulator support.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270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47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FE4A1-FA84-8FA5-CA31-2A722BF56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BEA4C-69D6-132C-C523-BB26DA733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6F9AC-E1BA-E204-B45C-563ED8565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/>
              <a:t>Advantages</a:t>
            </a:r>
          </a:p>
          <a:p>
            <a:pPr lvl="1"/>
            <a:r>
              <a:rPr lang="en-US"/>
              <a:t>Fast startup &amp; low memory usage</a:t>
            </a:r>
          </a:p>
          <a:p>
            <a:pPr lvl="1"/>
            <a:r>
              <a:rPr lang="en-US"/>
              <a:t>Easy extensions management</a:t>
            </a:r>
          </a:p>
          <a:p>
            <a:pPr lvl="1"/>
            <a:r>
              <a:rPr lang="en-US"/>
              <a:t>Integrated terminal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29BB3-B150-F8E1-F8F1-9C24FCBC79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93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C492E-0BE6-B9A3-632F-96FD41DC9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48AF4-746C-911C-D1E2-D3BF16709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1E0C3-A19A-8EE0-6E90-2AF2259FC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/>
              <a:t>import 'package:flutter/material.dart';</a:t>
            </a:r>
          </a:p>
          <a:p>
            <a:endParaRPr lang="en-US" sz="2000"/>
          </a:p>
          <a:p>
            <a:r>
              <a:rPr lang="en-US" sz="2000"/>
              <a:t>void main() =&gt; runApp(const MaterialApp(</a:t>
            </a:r>
          </a:p>
          <a:p>
            <a:r>
              <a:rPr lang="en-US" sz="2000"/>
              <a:t>  home: Scaffold(</a:t>
            </a:r>
          </a:p>
          <a:p>
            <a:r>
              <a:rPr lang="en-US" sz="2000"/>
              <a:t>    body: Center(</a:t>
            </a:r>
          </a:p>
          <a:p>
            <a:r>
              <a:rPr lang="en-US" sz="2000"/>
              <a:t>      child: Text('Hello, World ',</a:t>
            </a:r>
          </a:p>
          <a:p>
            <a:r>
              <a:rPr lang="en-US" sz="2000"/>
              <a:t>          style: TextStyle(fontSize: 28, fontWeight: FontWeight.bold)),</a:t>
            </a:r>
          </a:p>
          <a:p>
            <a:r>
              <a:rPr lang="en-US" sz="2000"/>
              <a:t>    ),</a:t>
            </a:r>
          </a:p>
          <a:p>
            <a:r>
              <a:rPr lang="en-US" sz="2000"/>
              <a:t>  ),</a:t>
            </a:r>
          </a:p>
          <a:p>
            <a:r>
              <a:rPr lang="en-US" sz="2000"/>
              <a:t>));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64B35-F3E7-BDD5-492F-BE7DDD964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34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0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0" y="2747700"/>
            <a:ext cx="8890000" cy="411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19503" y="3175003"/>
            <a:ext cx="8394700" cy="1827699"/>
          </a:xfrm>
        </p:spPr>
        <p:txBody>
          <a:bodyPr>
            <a:normAutofit/>
          </a:bodyPr>
          <a:lstStyle>
            <a:lvl1pPr>
              <a:defRPr sz="3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19500" y="5143500"/>
            <a:ext cx="8407400" cy="990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1165049F-875E-6AB2-8D06-E8A8930F51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16" y="76941"/>
            <a:ext cx="427521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25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508000"/>
            <a:ext cx="10972800" cy="81850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050" name="Picture 2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D6A988E5-6EBD-0052-B43B-E035402008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69" y="125406"/>
            <a:ext cx="1335656" cy="38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807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9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/>
            </a:lvl2pPr>
            <a:lvl3pPr>
              <a:spcBef>
                <a:spcPts val="450"/>
              </a:spcBef>
              <a:spcAft>
                <a:spcPts val="450"/>
              </a:spcAft>
              <a:defRPr sz="1800"/>
            </a:lvl3pPr>
            <a:lvl4pPr>
              <a:spcBef>
                <a:spcPts val="450"/>
              </a:spcBef>
              <a:spcAft>
                <a:spcPts val="450"/>
              </a:spcAft>
              <a:defRPr sz="1600"/>
            </a:lvl4pPr>
            <a:lvl5pPr>
              <a:spcBef>
                <a:spcPts val="450"/>
              </a:spcBef>
              <a:spcAft>
                <a:spcPts val="450"/>
              </a:spcAft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8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6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2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66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29" indent="0">
              <a:buNone/>
              <a:defRPr sz="2000"/>
            </a:lvl6pPr>
            <a:lvl7pPr marL="2742995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0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1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5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869" y="275167"/>
            <a:ext cx="1097227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869" y="1600731"/>
            <a:ext cx="10972271" cy="452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15500" y="6350001"/>
            <a:ext cx="1143000" cy="317500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5003" y="6350002"/>
            <a:ext cx="3860271" cy="365125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914331" eaLnBrk="1" fontAlgn="auto" hangingPunct="1">
              <a:spcBef>
                <a:spcPts val="0"/>
              </a:spcBef>
              <a:spcAft>
                <a:spcPts val="0"/>
              </a:spcAft>
              <a:defRPr sz="12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9003" y="6350003"/>
            <a:ext cx="596636" cy="310887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3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3425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320032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6pPr>
      <a:lvl7pPr marL="640064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7pPr>
      <a:lvl8pPr marL="960096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8pPr>
      <a:lvl9pPr marL="1280128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257" indent="-342257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200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marL="742297" indent="-285585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2pPr>
      <a:lvl3pPr marL="1142336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3pPr>
      <a:lvl4pPr marL="1599049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i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4pPr>
      <a:lvl5pPr marL="2056873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5pPr>
      <a:lvl6pPr marL="2514411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7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artpad.dev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artpad.dev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artpad.dev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B5F414-5C89-8AF0-685A-A02E88216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8628" y="3797574"/>
            <a:ext cx="7705016" cy="1827699"/>
          </a:xfrm>
        </p:spPr>
        <p:txBody>
          <a:bodyPr>
            <a:normAutofit/>
          </a:bodyPr>
          <a:lstStyle/>
          <a:p>
            <a:pPr algn="ctr"/>
            <a:r>
              <a:rPr lang="en-US" sz="4000"/>
              <a:t>Module 1 : Introduction to Flutter</a:t>
            </a:r>
          </a:p>
        </p:txBody>
      </p:sp>
    </p:spTree>
    <p:extLst>
      <p:ext uri="{BB962C8B-B14F-4D97-AF65-F5344CB8AC3E}">
        <p14:creationId xmlns:p14="http://schemas.microsoft.com/office/powerpoint/2010/main" val="175710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04CB-0E6B-D061-0990-333BDC659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38667"/>
            <a:ext cx="8229600" cy="818503"/>
          </a:xfrm>
        </p:spPr>
        <p:txBody>
          <a:bodyPr/>
          <a:lstStyle/>
          <a:p>
            <a:pPr algn="ctr"/>
            <a:r>
              <a:rPr lang="en-US" sz="3200"/>
              <a:t>Contents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415528-BB05-41C8-4355-5639D534B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002" y="1157170"/>
            <a:ext cx="8229203" cy="5531497"/>
          </a:xfrm>
        </p:spPr>
        <p:txBody>
          <a:bodyPr/>
          <a:lstStyle/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Overview of Flutter </a:t>
            </a:r>
          </a:p>
          <a:p>
            <a:pPr lvl="1"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b="0"/>
              <a:t>What is Flutter - Why Flutter </a:t>
            </a:r>
          </a:p>
          <a:p>
            <a:pPr lvl="1"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b="0"/>
              <a:t>Flutter architecture ?</a:t>
            </a:r>
            <a:endParaRPr lang="en-US" altLang="en-US" b="0"/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Dart Language Basics</a:t>
            </a:r>
          </a:p>
          <a:p>
            <a:pPr lvl="1"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/>
              <a:t>Introduction to Dart and its role in Flutter</a:t>
            </a:r>
            <a:endParaRPr lang="en-US" altLang="en-US"/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Development Environments</a:t>
            </a:r>
          </a:p>
          <a:p>
            <a:pPr lvl="1"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/>
              <a:t>DartPad, VS Code, Android Studio</a:t>
            </a:r>
            <a:endParaRPr lang="en-US" altLang="en-US" b="0"/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Setting Up Flutter</a:t>
            </a:r>
          </a:p>
          <a:p>
            <a:pPr lvl="1"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/>
              <a:t>Installing SDK &amp; Android Studio</a:t>
            </a:r>
          </a:p>
          <a:p>
            <a:pPr lvl="1"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/>
              <a:t>Configuring Emulator</a:t>
            </a:r>
            <a:endParaRPr lang="en-US" altLang="en-US" b="0"/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Creating &amp; Running Your First App</a:t>
            </a:r>
            <a:br>
              <a:rPr lang="en-US" altLang="en-US" b="0"/>
            </a:br>
            <a:r>
              <a:rPr lang="en-US" altLang="en-US" sz="2000" b="0"/>
              <a:t>	</a:t>
            </a:r>
            <a:endParaRPr lang="en-US" sz="2000" b="0"/>
          </a:p>
        </p:txBody>
      </p:sp>
    </p:spTree>
    <p:extLst>
      <p:ext uri="{BB962C8B-B14F-4D97-AF65-F5344CB8AC3E}">
        <p14:creationId xmlns:p14="http://schemas.microsoft.com/office/powerpoint/2010/main" val="851030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200"/>
              <a:t>What is Flutter?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9877" y="1480869"/>
            <a:ext cx="8160259" cy="4370920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sz="2400" b="0"/>
              <a:t>Flutter is a UI toolkit developed by Google for building natively compiled apps from a single codebase.</a:t>
            </a:r>
          </a:p>
          <a:p>
            <a:pPr>
              <a:lnSpc>
                <a:spcPct val="150000"/>
              </a:lnSpc>
              <a:defRPr sz="1800"/>
            </a:pPr>
            <a:r>
              <a:rPr sz="2400" b="0"/>
              <a:t>Supports Android, iOS, Web, macOS, Linux, and Windows.</a:t>
            </a:r>
          </a:p>
          <a:p>
            <a:pPr>
              <a:lnSpc>
                <a:spcPct val="150000"/>
              </a:lnSpc>
              <a:defRPr sz="1800"/>
            </a:pPr>
            <a:r>
              <a:rPr sz="2400" b="0"/>
              <a:t>Written in Dart using its own rendering engine (Skia).</a:t>
            </a:r>
          </a:p>
          <a:p>
            <a:pPr>
              <a:lnSpc>
                <a:spcPct val="150000"/>
              </a:lnSpc>
              <a:defRPr sz="1800"/>
            </a:pPr>
            <a:r>
              <a:rPr sz="2400" b="0"/>
              <a:t>Enables rapid UI development through reusable widgets.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Why Flutter?</a:t>
            </a:r>
            <a:endParaRPr sz="32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B33F7D-AC09-6217-423A-5576DD5A0A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6183327"/>
              </p:ext>
            </p:extLst>
          </p:nvPr>
        </p:nvGraphicFramePr>
        <p:xfrm>
          <a:off x="1512277" y="1600200"/>
          <a:ext cx="8698523" cy="3557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996">
                  <a:extLst>
                    <a:ext uri="{9D8B030D-6E8A-4147-A177-3AD203B41FA5}">
                      <a16:colId xmlns:a16="http://schemas.microsoft.com/office/drawing/2014/main" val="4021727367"/>
                    </a:ext>
                  </a:extLst>
                </a:gridCol>
                <a:gridCol w="5963527">
                  <a:extLst>
                    <a:ext uri="{9D8B030D-6E8A-4147-A177-3AD203B41FA5}">
                      <a16:colId xmlns:a16="http://schemas.microsoft.com/office/drawing/2014/main" val="1867984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2106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 Reload / Hot Restart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518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Beautiful 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 &amp; Cupertino widgets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011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Codebase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 once → deploy everywhere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6699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Nearly native speed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0227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E5349-2938-48E2-70A7-68CF24C23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7513-EEA6-34FA-068A-61F338DB6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Choosing Flutter Wisely</a:t>
            </a:r>
            <a:endParaRPr sz="3200"/>
          </a:p>
        </p:txBody>
      </p:sp>
      <p:pic>
        <p:nvPicPr>
          <p:cNvPr id="9" name="Picture 8" descr="A diagram of a flowchart&#10;&#10;AI-generated content may be incorrect.">
            <a:extLst>
              <a:ext uri="{FF2B5EF4-FFF2-40B4-BE49-F238E27FC236}">
                <a16:creationId xmlns:a16="http://schemas.microsoft.com/office/drawing/2014/main" id="{B5D3B022-A4FF-F6E6-2ED5-B7958070E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700" y="1351754"/>
            <a:ext cx="3467100" cy="46291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3C49E62-C370-8D08-A09C-A5974A71D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445" y="1351754"/>
            <a:ext cx="6807200" cy="486913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 sz="1800"/>
            </a:pPr>
            <a:r>
              <a:rPr lang="en-US" sz="2400"/>
              <a:t>From Features to Project Decisions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Flutter offers many powerful features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However, no technology fits all projects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Choosing the right tool depends on project context</a:t>
            </a:r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lang="en-US" sz="2400"/>
              <a:t>Key message: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 i="1"/>
              <a:t>Understanding when to use Flutter is as important as knowing why Flutter is powerful.</a:t>
            </a:r>
            <a:endParaRPr sz="2400" b="0" i="1"/>
          </a:p>
        </p:txBody>
      </p:sp>
    </p:spTree>
    <p:extLst>
      <p:ext uri="{BB962C8B-B14F-4D97-AF65-F5344CB8AC3E}">
        <p14:creationId xmlns:p14="http://schemas.microsoft.com/office/powerpoint/2010/main" val="295838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1697E-FC64-83D5-49D1-17AE9826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7E74-71F1-665E-667E-4447914D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When Is Flutter a Good Choice?</a:t>
            </a:r>
            <a:endParaRPr sz="32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408BC50-E805-81AD-B211-717A2F65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444" y="1351754"/>
            <a:ext cx="10351911" cy="4869131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lang="en-US" sz="2400" b="0"/>
              <a:t>Cross-platform applications with shared UI and logic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MVPs, startups, and rapid prototyping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Business applications (e-commerce, booking, dashboards)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Apps with moderate use of device features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Teams with limited native Android/iOS resources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 i="1"/>
              <a:t>Flutter is most effective when the goal is time to market, reduced development costs, and maintaining a single codebase.</a:t>
            </a:r>
          </a:p>
        </p:txBody>
      </p:sp>
    </p:spTree>
    <p:extLst>
      <p:ext uri="{BB962C8B-B14F-4D97-AF65-F5344CB8AC3E}">
        <p14:creationId xmlns:p14="http://schemas.microsoft.com/office/powerpoint/2010/main" val="2636279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911C8-D5F9-73C2-A0C1-131EC8424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06C17-88C5-BD4A-060C-C0ED104BA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Flutter with Native Integration</a:t>
            </a:r>
            <a:endParaRPr sz="32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C623E3D-DB72-F6FB-9880-9AE5AAD7F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245" y="1351754"/>
            <a:ext cx="5407377" cy="522966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 sz="1800"/>
            </a:pPr>
            <a:r>
              <a:rPr lang="en-US" sz="2000"/>
              <a:t>Content:</a:t>
            </a:r>
            <a:endParaRPr lang="en-US" sz="2000" b="0"/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Flutter handles UI and business logic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Native code handles platform-specific features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Communication via Platform Channels</a:t>
            </a:r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lang="en-US" sz="2000"/>
              <a:t>Examples of native integration: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Camera, Bluetooth, NFC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Payment SDKs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OS-level services</a:t>
            </a:r>
            <a:endParaRPr lang="en-US" sz="2000" b="0" i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EB733-66E8-6963-8F59-B6ADBAADAAA5}"/>
              </a:ext>
            </a:extLst>
          </p:cNvPr>
          <p:cNvSpPr txBox="1">
            <a:spLocks/>
          </p:cNvSpPr>
          <p:nvPr/>
        </p:nvSpPr>
        <p:spPr bwMode="auto">
          <a:xfrm>
            <a:off x="6795911" y="1326503"/>
            <a:ext cx="5170311" cy="5229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 sz="1800"/>
            </a:pPr>
            <a:r>
              <a:rPr lang="en-US" sz="2000"/>
              <a:t>Flutter doesn't eliminate native code, but integrates with it.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When Flutter doesn't directly support a feature,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we can write native Android code (Kotlin/Java) 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or native iOS code (Swift) and connect via Platform Channels.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This is a very common model in real-world projects.</a:t>
            </a:r>
            <a:endParaRPr lang="en-US" sz="2000" b="0" i="1"/>
          </a:p>
        </p:txBody>
      </p:sp>
    </p:spTree>
    <p:extLst>
      <p:ext uri="{BB962C8B-B14F-4D97-AF65-F5344CB8AC3E}">
        <p14:creationId xmlns:p14="http://schemas.microsoft.com/office/powerpoint/2010/main" val="3608395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CFA1C-EBD7-CBE9-58AC-9C0B4B744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E4BAF-59D3-6159-A01C-7273EDB05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21734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When Native Development Is Preferable</a:t>
            </a:r>
            <a:endParaRPr sz="32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4586E1-AC48-85CC-16C5-9363FBF7D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378" y="1351754"/>
            <a:ext cx="8895644" cy="5229668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lang="en-US" sz="2400" b="0"/>
              <a:t>Applications requiring deep OS customization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High-performance games or real-time graphics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Very low-level hardware access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Strict platform-specific UI/UX requirements</a:t>
            </a:r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lang="en-US" sz="2400"/>
              <a:t>Key takeaway: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Flutter is powerful, but not always the optimal choice.</a:t>
            </a:r>
          </a:p>
        </p:txBody>
      </p:sp>
    </p:spTree>
    <p:extLst>
      <p:ext uri="{BB962C8B-B14F-4D97-AF65-F5344CB8AC3E}">
        <p14:creationId xmlns:p14="http://schemas.microsoft.com/office/powerpoint/2010/main" val="1995128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A Brief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sz="2400" b="0"/>
              <a:t>2015: Sky project.</a:t>
            </a:r>
          </a:p>
          <a:p>
            <a:pPr>
              <a:lnSpc>
                <a:spcPct val="150000"/>
              </a:lnSpc>
              <a:defRPr sz="1800"/>
            </a:pPr>
            <a:r>
              <a:rPr sz="2400" b="0"/>
              <a:t>2017: Flutter Alpha.</a:t>
            </a:r>
          </a:p>
          <a:p>
            <a:pPr>
              <a:lnSpc>
                <a:spcPct val="150000"/>
              </a:lnSpc>
              <a:defRPr sz="1800"/>
            </a:pPr>
            <a:r>
              <a:rPr sz="2400" b="0"/>
              <a:t>2018: Flutter 1.0.</a:t>
            </a:r>
          </a:p>
          <a:p>
            <a:pPr>
              <a:lnSpc>
                <a:spcPct val="150000"/>
              </a:lnSpc>
              <a:defRPr sz="1800"/>
            </a:pPr>
            <a:r>
              <a:rPr sz="2400" b="0"/>
              <a:t>2021: Flutter 2.0 adds Web/Desktop.</a:t>
            </a:r>
          </a:p>
          <a:p>
            <a:pPr>
              <a:lnSpc>
                <a:spcPct val="150000"/>
              </a:lnSpc>
              <a:defRPr sz="1800"/>
            </a:pPr>
            <a:r>
              <a:rPr sz="2400" b="0"/>
              <a:t>2023–2025: Flutter 3.x stable.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Flutter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8832" y="1600731"/>
            <a:ext cx="4266702" cy="4525699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sz="2000" b="0"/>
              <a:t>Three Layers:</a:t>
            </a:r>
          </a:p>
          <a:p>
            <a:pPr>
              <a:defRPr sz="1800"/>
            </a:pPr>
            <a:r>
              <a:rPr sz="2000" b="0"/>
              <a:t>1. Framework (Dart)</a:t>
            </a:r>
          </a:p>
          <a:p>
            <a:pPr>
              <a:defRPr sz="1800"/>
            </a:pPr>
            <a:r>
              <a:rPr sz="2000" b="0"/>
              <a:t>2. Engine (C++)</a:t>
            </a:r>
          </a:p>
          <a:p>
            <a:pPr>
              <a:defRPr sz="1800"/>
            </a:pPr>
            <a:r>
              <a:rPr sz="2000" b="0"/>
              <a:t>3. Embedder</a:t>
            </a:r>
          </a:p>
          <a:p>
            <a:pPr marL="0" indent="0">
              <a:buNone/>
              <a:defRPr sz="1800"/>
            </a:pPr>
            <a:r>
              <a:rPr sz="2000" b="0"/>
              <a:t>Workflow: Widget Tree → Render Tree → Composited Scene → GPU Rendering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0EBD4BB-1B9C-86A5-868C-B421823AF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019" y="1600730"/>
            <a:ext cx="4107795" cy="4370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Framework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9556" y="1600731"/>
            <a:ext cx="10622584" cy="4525699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sz="2400" b="0"/>
              <a:t>Widgets (Stateless, Stateful)</a:t>
            </a:r>
          </a:p>
          <a:p>
            <a:pPr>
              <a:lnSpc>
                <a:spcPct val="150000"/>
              </a:lnSpc>
              <a:defRPr sz="1800"/>
            </a:pPr>
            <a:r>
              <a:rPr sz="2400" b="0"/>
              <a:t>Rendering and Layout system</a:t>
            </a:r>
          </a:p>
          <a:p>
            <a:pPr>
              <a:lnSpc>
                <a:spcPct val="150000"/>
              </a:lnSpc>
              <a:defRPr sz="1800"/>
            </a:pPr>
            <a:r>
              <a:rPr sz="2400" b="0"/>
              <a:t>Foundation libraries</a:t>
            </a:r>
          </a:p>
          <a:p>
            <a:pPr>
              <a:lnSpc>
                <a:spcPct val="150000"/>
              </a:lnSpc>
              <a:defRPr sz="1800"/>
            </a:pPr>
            <a:r>
              <a:rPr sz="2400" b="0"/>
              <a:t>Key concept: Everything in Flutter is a Widget.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Engine Layer</a:t>
            </a:r>
            <a:r>
              <a:rPr lang="en-US" sz="3200"/>
              <a:t> - Embedder Layer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0617" y="1953583"/>
            <a:ext cx="5169608" cy="4525699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sz="2400" b="0"/>
              <a:t>Written in C++, powered by Skia.</a:t>
            </a:r>
          </a:p>
          <a:p>
            <a:pPr>
              <a:lnSpc>
                <a:spcPct val="150000"/>
              </a:lnSpc>
              <a:defRPr sz="1800"/>
            </a:pPr>
            <a:r>
              <a:rPr sz="2400" b="0"/>
              <a:t>Handles rendering, accessibility, text layout.</a:t>
            </a:r>
          </a:p>
          <a:p>
            <a:pPr>
              <a:lnSpc>
                <a:spcPct val="150000"/>
              </a:lnSpc>
              <a:defRPr sz="1800"/>
            </a:pPr>
            <a:r>
              <a:rPr sz="2400" b="0"/>
              <a:t>GPU acceleration ensures consistency.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81E6D2-36EF-CC8E-4996-EB99A167E11E}"/>
              </a:ext>
            </a:extLst>
          </p:cNvPr>
          <p:cNvSpPr txBox="1">
            <a:spLocks/>
          </p:cNvSpPr>
          <p:nvPr/>
        </p:nvSpPr>
        <p:spPr bwMode="auto">
          <a:xfrm>
            <a:off x="6506577" y="1934636"/>
            <a:ext cx="4466223" cy="452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 sz="1800"/>
            </a:pPr>
            <a:r>
              <a:rPr lang="en-US" sz="2400" b="0"/>
              <a:t>Platform-specific integration.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Handles input, lifecycle, window management.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Custom embedders for Raspberry Pi.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DE745-E248-525E-2B9C-D9E55FDFF96B}"/>
              </a:ext>
            </a:extLst>
          </p:cNvPr>
          <p:cNvSpPr txBox="1"/>
          <p:nvPr/>
        </p:nvSpPr>
        <p:spPr>
          <a:xfrm>
            <a:off x="820617" y="1454969"/>
            <a:ext cx="44662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Engine Layer: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B5D9DB-B84B-19AF-3989-F4BBA7EAB26D}"/>
              </a:ext>
            </a:extLst>
          </p:cNvPr>
          <p:cNvSpPr txBox="1"/>
          <p:nvPr/>
        </p:nvSpPr>
        <p:spPr>
          <a:xfrm>
            <a:off x="6530291" y="1399737"/>
            <a:ext cx="44662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Embedder Layer: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Benefits of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1296" y="1459214"/>
            <a:ext cx="8229203" cy="2560961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sz="2400" b="0"/>
              <a:t>Performance: Compiles to ARM code.</a:t>
            </a:r>
          </a:p>
          <a:p>
            <a:pPr>
              <a:lnSpc>
                <a:spcPct val="150000"/>
              </a:lnSpc>
              <a:defRPr sz="1800"/>
            </a:pPr>
            <a:r>
              <a:rPr sz="2400" b="0"/>
              <a:t>Consistency: Same UI across devices.</a:t>
            </a:r>
          </a:p>
          <a:p>
            <a:pPr>
              <a:lnSpc>
                <a:spcPct val="150000"/>
              </a:lnSpc>
              <a:defRPr sz="1800"/>
            </a:pPr>
            <a:r>
              <a:rPr sz="2400" b="0"/>
              <a:t>Flexibility: Rich widget set.</a:t>
            </a:r>
          </a:p>
          <a:p>
            <a:pPr>
              <a:defRPr sz="1800"/>
            </a:pPr>
            <a:r>
              <a:rPr lang="en-US" sz="2400" b="0"/>
              <a:t>Flutter vs Others</a:t>
            </a:r>
            <a:endParaRPr sz="2400" b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D57788D-DB2A-42E2-B0D6-E68370F6E2FD}"/>
              </a:ext>
            </a:extLst>
          </p:cNvPr>
          <p:cNvSpPr txBox="1">
            <a:spLocks/>
          </p:cNvSpPr>
          <p:nvPr/>
        </p:nvSpPr>
        <p:spPr bwMode="auto">
          <a:xfrm>
            <a:off x="1981397" y="3978613"/>
            <a:ext cx="8229203" cy="2645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endParaRPr lang="en-US" sz="18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C1BAD6-244B-44E7-91F8-688B67150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222900"/>
              </p:ext>
            </p:extLst>
          </p:nvPr>
        </p:nvGraphicFramePr>
        <p:xfrm>
          <a:off x="1871295" y="4392265"/>
          <a:ext cx="8229204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068">
                  <a:extLst>
                    <a:ext uri="{9D8B030D-6E8A-4147-A177-3AD203B41FA5}">
                      <a16:colId xmlns:a16="http://schemas.microsoft.com/office/drawing/2014/main" val="1966361354"/>
                    </a:ext>
                  </a:extLst>
                </a:gridCol>
                <a:gridCol w="2162990">
                  <a:extLst>
                    <a:ext uri="{9D8B030D-6E8A-4147-A177-3AD203B41FA5}">
                      <a16:colId xmlns:a16="http://schemas.microsoft.com/office/drawing/2014/main" val="1855697017"/>
                    </a:ext>
                  </a:extLst>
                </a:gridCol>
                <a:gridCol w="3323146">
                  <a:extLst>
                    <a:ext uri="{9D8B030D-6E8A-4147-A177-3AD203B41FA5}">
                      <a16:colId xmlns:a16="http://schemas.microsoft.com/office/drawing/2014/main" val="3433113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438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Native UI + Engine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9285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Native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Bridges to Native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0442958"/>
                  </a:ext>
                </a:extLst>
              </a:tr>
              <a:tr h="309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Native (Android/iOS)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Kotlin/Swift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Pure Native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57731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200"/>
              <a:t>Dart: Flutter’s Programming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sz="2400" b="0"/>
              <a:t>Designed for UI creation.</a:t>
            </a:r>
          </a:p>
          <a:p>
            <a:pPr>
              <a:lnSpc>
                <a:spcPct val="150000"/>
              </a:lnSpc>
              <a:defRPr sz="1800"/>
            </a:pPr>
            <a:r>
              <a:rPr sz="2400" b="0"/>
              <a:t>Combines AOT and JIT compilation.</a:t>
            </a:r>
          </a:p>
          <a:p>
            <a:pPr>
              <a:lnSpc>
                <a:spcPct val="150000"/>
              </a:lnSpc>
              <a:defRPr sz="1800"/>
            </a:pPr>
            <a:r>
              <a:rPr sz="2400" b="0"/>
              <a:t>Supports null safety and strong typing.</a:t>
            </a:r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sz="2400" b="0"/>
              <a:t>Example:</a:t>
            </a:r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lang="en-US" sz="2400" b="0"/>
              <a:t>	</a:t>
            </a:r>
            <a:r>
              <a:rPr sz="2400" b="0"/>
              <a:t>void main() { </a:t>
            </a:r>
            <a:endParaRPr lang="en-US" sz="2400" b="0"/>
          </a:p>
          <a:p>
            <a:pPr marL="456712" lvl="1" indent="0">
              <a:lnSpc>
                <a:spcPct val="150000"/>
              </a:lnSpc>
              <a:buNone/>
              <a:defRPr sz="1800"/>
            </a:pPr>
            <a:r>
              <a:rPr lang="en-US"/>
              <a:t>		</a:t>
            </a:r>
            <a:r>
              <a:t>print('Welcome to Flutter!'); </a:t>
            </a:r>
            <a:endParaRPr lang="en-US"/>
          </a:p>
          <a:p>
            <a:pPr marL="456712" lvl="1" indent="0">
              <a:lnSpc>
                <a:spcPct val="150000"/>
              </a:lnSpc>
              <a:buNone/>
              <a:defRPr sz="1800"/>
            </a:pPr>
            <a:r>
              <a:rPr lang="en-US"/>
              <a:t>	</a:t>
            </a:r>
            <a:r>
              <a:t>}</a:t>
            </a:r>
          </a:p>
          <a:p>
            <a:pPr marL="0" indent="0">
              <a:buNone/>
              <a:defRPr sz="1800"/>
            </a:pP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Dart 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1262" y="1600731"/>
            <a:ext cx="10280878" cy="4525699"/>
          </a:xfrm>
        </p:spPr>
        <p:txBody>
          <a:bodyPr/>
          <a:lstStyle/>
          <a:p>
            <a:pPr>
              <a:lnSpc>
                <a:spcPct val="200000"/>
              </a:lnSpc>
              <a:defRPr sz="1800"/>
            </a:pPr>
            <a:r>
              <a:rPr sz="2400" b="0"/>
              <a:t>Object-Oriented.</a:t>
            </a:r>
          </a:p>
          <a:p>
            <a:pPr>
              <a:lnSpc>
                <a:spcPct val="200000"/>
              </a:lnSpc>
              <a:defRPr sz="1800"/>
            </a:pPr>
            <a:r>
              <a:rPr sz="2400" b="0"/>
              <a:t>Functions as first-class objects.</a:t>
            </a:r>
          </a:p>
          <a:p>
            <a:pPr>
              <a:lnSpc>
                <a:spcPct val="200000"/>
              </a:lnSpc>
              <a:defRPr sz="1800"/>
            </a:pPr>
            <a:r>
              <a:rPr sz="2400" b="0"/>
              <a:t>Null safety.</a:t>
            </a:r>
          </a:p>
          <a:p>
            <a:pPr>
              <a:lnSpc>
                <a:spcPct val="200000"/>
              </a:lnSpc>
              <a:defRPr sz="1800"/>
            </a:pPr>
            <a:r>
              <a:rPr sz="2400" b="0"/>
              <a:t>Async/Await.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9822D-57C8-17C7-48C4-DB31DA7E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F89A-9CCB-8B7E-3AA6-4619C2AD2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Flutter Development Environments Overview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F395B-4010-0F0F-99FC-5F0217B0B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lang="en-US" sz="2000" b="0"/>
              <a:t>Flutter can be developed in three main environments, depending on the learner’s goal and hardware setup:</a:t>
            </a:r>
          </a:p>
          <a:p>
            <a:pPr>
              <a:lnSpc>
                <a:spcPct val="150000"/>
              </a:lnSpc>
              <a:defRPr sz="1800"/>
            </a:pPr>
            <a:endParaRPr lang="en-US" sz="2000" b="0"/>
          </a:p>
          <a:p>
            <a:pPr>
              <a:lnSpc>
                <a:spcPct val="150000"/>
              </a:lnSpc>
              <a:defRPr sz="1800"/>
            </a:pPr>
            <a:endParaRPr lang="en-US" sz="2000" b="0"/>
          </a:p>
          <a:p>
            <a:pPr>
              <a:lnSpc>
                <a:spcPct val="150000"/>
              </a:lnSpc>
              <a:defRPr sz="1800"/>
            </a:pPr>
            <a:endParaRPr lang="en-US" sz="2000" b="0"/>
          </a:p>
          <a:p>
            <a:pPr>
              <a:lnSpc>
                <a:spcPct val="150000"/>
              </a:lnSpc>
              <a:defRPr sz="1800"/>
            </a:pPr>
            <a:endParaRPr lang="en-US" sz="2000" b="0"/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Start students with DartPad → then move to VS Code / Android Studio.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Emphasize that all tools compile to the same Flutter runtime.</a:t>
            </a:r>
            <a:endParaRPr sz="2000" b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FFE818-5DEA-97D5-6EBB-2D55AF2B7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622" y="2650066"/>
            <a:ext cx="7997977" cy="2192867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1589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766A7-0F27-D5E2-F9B1-3AA9C1188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35C8-F41C-6841-3EFE-DADEBFDBB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Using DartPad (Online Environment)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253BB-EFE2-D15F-5FCB-9DECDC5B6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lang="en-US" sz="2400"/>
              <a:t>URL: </a:t>
            </a:r>
            <a:r>
              <a:rPr lang="en-US" sz="2400">
                <a:hlinkClick r:id="rId2"/>
              </a:rPr>
              <a:t>https://dartpad.dev</a:t>
            </a:r>
            <a:endParaRPr lang="en-US" sz="2400" b="0"/>
          </a:p>
          <a:p>
            <a:r>
              <a:rPr lang="en-US" sz="2400"/>
              <a:t>Key Features</a:t>
            </a:r>
          </a:p>
          <a:p>
            <a:pPr lvl="1"/>
            <a:r>
              <a:rPr lang="en-US" sz="2400"/>
              <a:t>No installation required</a:t>
            </a:r>
          </a:p>
          <a:p>
            <a:pPr lvl="1"/>
            <a:r>
              <a:rPr lang="en-US" sz="2400"/>
              <a:t>Run Flutter code instantly in browser</a:t>
            </a:r>
          </a:p>
          <a:p>
            <a:pPr lvl="1"/>
            <a:r>
              <a:rPr lang="en-US" sz="2400"/>
              <a:t>Supports core widgets (Scaffold, Text, Column, etc.)</a:t>
            </a:r>
          </a:p>
          <a:p>
            <a:pPr lvl="1"/>
            <a:r>
              <a:rPr lang="en-US" sz="2400"/>
              <a:t>Ideal for live demo and exercises</a:t>
            </a:r>
          </a:p>
          <a:p>
            <a:pPr>
              <a:lnSpc>
                <a:spcPct val="150000"/>
              </a:lnSpc>
              <a:defRPr sz="1800"/>
            </a:pPr>
            <a:endParaRPr lang="en-US" sz="2000" b="0"/>
          </a:p>
          <a:p>
            <a:pPr>
              <a:lnSpc>
                <a:spcPct val="150000"/>
              </a:lnSpc>
              <a:defRPr sz="1800"/>
            </a:pPr>
            <a:endParaRPr lang="en-US" sz="2000" b="0"/>
          </a:p>
          <a:p>
            <a:pPr>
              <a:lnSpc>
                <a:spcPct val="150000"/>
              </a:lnSpc>
              <a:defRPr sz="1800"/>
            </a:pPr>
            <a:endParaRPr lang="en-US" sz="2000" b="0"/>
          </a:p>
        </p:txBody>
      </p:sp>
    </p:spTree>
    <p:extLst>
      <p:ext uri="{BB962C8B-B14F-4D97-AF65-F5344CB8AC3E}">
        <p14:creationId xmlns:p14="http://schemas.microsoft.com/office/powerpoint/2010/main" val="3591317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Installing the Flutter SDK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2277" y="1425633"/>
            <a:ext cx="8697931" cy="5121083"/>
          </a:xfrm>
        </p:spPr>
        <p:txBody>
          <a:bodyPr/>
          <a:lstStyle/>
          <a:p>
            <a:r>
              <a:rPr lang="en-US" sz="2400" b="0"/>
              <a:t>Download from flutter.dev</a:t>
            </a:r>
          </a:p>
          <a:p>
            <a:r>
              <a:rPr lang="en-US" sz="2400" b="0"/>
              <a:t>Extract the folder (e.g., C:\src\flutter or /Users/you/flutter)</a:t>
            </a:r>
          </a:p>
          <a:p>
            <a:r>
              <a:rPr lang="en-US" sz="2400" b="0"/>
              <a:t>Add Flutter to the system PATH</a:t>
            </a:r>
          </a:p>
          <a:p>
            <a:r>
              <a:rPr lang="en-US" sz="2400" b="0"/>
              <a:t>Verify installation:</a:t>
            </a:r>
          </a:p>
          <a:p>
            <a:endParaRPr lang="en-US" b="0"/>
          </a:p>
          <a:p>
            <a:endParaRPr lang="en-US" b="0"/>
          </a:p>
          <a:p>
            <a:endParaRPr lang="en-US" b="0"/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lang="en-US"/>
              <a:t>	</a:t>
            </a:r>
          </a:p>
          <a:p>
            <a:pPr marL="0" indent="0">
              <a:lnSpc>
                <a:spcPct val="150000"/>
              </a:lnSpc>
              <a:buNone/>
              <a:defRPr sz="1800"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F62402-C06E-1D6D-904A-C061BA656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626" y="3578324"/>
            <a:ext cx="6647091" cy="18540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A3A88A-3518-F970-943C-CB074AAAF8FA}"/>
              </a:ext>
            </a:extLst>
          </p:cNvPr>
          <p:cNvSpPr txBox="1"/>
          <p:nvPr/>
        </p:nvSpPr>
        <p:spPr>
          <a:xfrm>
            <a:off x="3671146" y="565732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/>
              <a:t>Figure 1.2: Flutter doctor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38C6C-474F-DD13-BF4F-D55CEA51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Installing Android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DA42F-F0BA-6E61-767E-D2768C8D6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/>
              <a:t>Purpose: Android Studio provides IDE, SDK tools, and emulator to build and run Flutter apps.</a:t>
            </a:r>
          </a:p>
          <a:p>
            <a:pPr marL="0" indent="0">
              <a:buNone/>
            </a:pPr>
            <a:r>
              <a:rPr lang="en-US" b="0"/>
              <a:t>Steps:</a:t>
            </a:r>
          </a:p>
          <a:p>
            <a:r>
              <a:rPr lang="en-US" b="0"/>
              <a:t>Download and install Android Studio</a:t>
            </a:r>
          </a:p>
          <a:p>
            <a:r>
              <a:rPr lang="en-US" b="0"/>
              <a:t>Install Flutter Plugin</a:t>
            </a:r>
          </a:p>
          <a:p>
            <a:pPr lvl="1"/>
            <a:r>
              <a:rPr lang="en-US"/>
              <a:t>Go to Preferences → Plugins → Flutter</a:t>
            </a:r>
          </a:p>
          <a:p>
            <a:pPr lvl="1"/>
            <a:r>
              <a:rPr lang="en-US"/>
              <a:t>Dart plugin installs automatically</a:t>
            </a:r>
          </a:p>
          <a:p>
            <a:endParaRPr lang="en-US"/>
          </a:p>
          <a:p>
            <a:pPr marL="0" indent="0">
              <a:buNone/>
            </a:pPr>
            <a:r>
              <a:rPr lang="en-US" b="0"/>
              <a:t>Note: Ensure Android SDK and command-line tools are installed.</a:t>
            </a:r>
          </a:p>
        </p:txBody>
      </p:sp>
    </p:spTree>
    <p:extLst>
      <p:ext uri="{BB962C8B-B14F-4D97-AF65-F5344CB8AC3E}">
        <p14:creationId xmlns:p14="http://schemas.microsoft.com/office/powerpoint/2010/main" val="882875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7C65E-5F0E-FDEF-C2BF-AF9997AB7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3C381-0936-08B2-7563-CFC9231F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Android Studio Interface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7F7753-4CEE-50DD-1793-44C8AD702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9" y="1804988"/>
            <a:ext cx="9202615" cy="41476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683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/>
              <a:t>Create a New Flutter Project</a:t>
            </a:r>
            <a:endParaRPr sz="320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D5ED51-0DC9-F28B-2AFB-53E5D72F1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/>
              <a:t>Click File → New → New Flutter Project</a:t>
            </a:r>
          </a:p>
          <a:p>
            <a:r>
              <a:rPr lang="en-US" b="0"/>
              <a:t>Select Flutter SDK path</a:t>
            </a:r>
          </a:p>
          <a:p>
            <a:r>
              <a:rPr lang="en-US" b="0"/>
              <a:t>Enter project name: movies</a:t>
            </a:r>
          </a:p>
          <a:p>
            <a:r>
              <a:rPr lang="en-US" b="0"/>
              <a:t>Organization ID: com.fptu.movies</a:t>
            </a:r>
          </a:p>
          <a:p>
            <a:r>
              <a:rPr lang="en-US" sz="2000" b="0"/>
              <a:t>Choose platforms: ✅ Android ✅ iOS ✅ Web ✅ macOS ✅ Windows</a:t>
            </a:r>
          </a:p>
          <a:p>
            <a:endParaRPr lang="en-US"/>
          </a:p>
        </p:txBody>
      </p:sp>
      <p:pic>
        <p:nvPicPr>
          <p:cNvPr id="10" name="image23.png">
            <a:extLst>
              <a:ext uri="{FF2B5EF4-FFF2-40B4-BE49-F238E27FC236}">
                <a16:creationId xmlns:a16="http://schemas.microsoft.com/office/drawing/2014/main" id="{A98BF163-2FB2-5F29-CDFA-BF29EB62E7A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101850" y="4087091"/>
            <a:ext cx="7301794" cy="2039338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F7AED-1424-E0F9-0CF7-83F9F6D44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49C35-46F5-E5F8-2734-BDB43C3A6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/>
              <a:t>Flutter Project Structure</a:t>
            </a:r>
            <a:endParaRPr sz="3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186A06-64AE-5B99-6946-095172ECBAE4}"/>
              </a:ext>
            </a:extLst>
          </p:cNvPr>
          <p:cNvSpPr txBox="1"/>
          <p:nvPr/>
        </p:nvSpPr>
        <p:spPr>
          <a:xfrm>
            <a:off x="3504333" y="564115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Courier New" panose="02070309020205020404" pitchFamily="49" charset="0"/>
              </a:rPr>
              <a:t>lib/main.dart</a:t>
            </a:r>
            <a:r>
              <a:rPr lang="en-US" b="1"/>
              <a:t> is the app entry point.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034F538-53AF-FA5B-B16D-8E10E9A07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748684"/>
              </p:ext>
            </p:extLst>
          </p:nvPr>
        </p:nvGraphicFramePr>
        <p:xfrm>
          <a:off x="1781909" y="1615724"/>
          <a:ext cx="8016848" cy="3626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746">
                  <a:extLst>
                    <a:ext uri="{9D8B030D-6E8A-4147-A177-3AD203B41FA5}">
                      <a16:colId xmlns:a16="http://schemas.microsoft.com/office/drawing/2014/main" val="2082739848"/>
                    </a:ext>
                  </a:extLst>
                </a:gridCol>
                <a:gridCol w="5582102">
                  <a:extLst>
                    <a:ext uri="{9D8B030D-6E8A-4147-A177-3AD203B41FA5}">
                      <a16:colId xmlns:a16="http://schemas.microsoft.com/office/drawing/2014/main" val="1506912397"/>
                    </a:ext>
                  </a:extLst>
                </a:gridCol>
              </a:tblGrid>
              <a:tr h="5180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Folder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4087879"/>
                  </a:ext>
                </a:extLst>
              </a:tr>
              <a:tr h="518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lib/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Contains main Dart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8136261"/>
                  </a:ext>
                </a:extLst>
              </a:tr>
              <a:tr h="518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android/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Android platform-specific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1157255"/>
                  </a:ext>
                </a:extLst>
              </a:tr>
              <a:tr h="518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ios/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iOS platform-specific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203263"/>
                  </a:ext>
                </a:extLst>
              </a:tr>
              <a:tr h="518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 app 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903836"/>
                  </a:ext>
                </a:extLst>
              </a:tr>
              <a:tr h="518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pubspec.yaml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Dependencies and assets configuration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968034"/>
                  </a:ext>
                </a:extLst>
              </a:tr>
              <a:tr h="518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Unit test 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799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865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Launching an Emulator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600731"/>
            <a:ext cx="6365086" cy="4525699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sz="2400"/>
              <a:t>To create an emulator:</a:t>
            </a:r>
          </a:p>
          <a:p>
            <a:pPr>
              <a:lnSpc>
                <a:spcPct val="150000"/>
              </a:lnSpc>
            </a:pPr>
            <a:r>
              <a:rPr lang="en-US" sz="2400" b="0"/>
              <a:t>Open Device Manager → Create Device</a:t>
            </a:r>
          </a:p>
          <a:p>
            <a:pPr>
              <a:lnSpc>
                <a:spcPct val="150000"/>
              </a:lnSpc>
            </a:pPr>
            <a:r>
              <a:rPr lang="en-US" sz="2400" b="0"/>
              <a:t>Choose a Pixel model (e.g., Pixel 8)</a:t>
            </a:r>
          </a:p>
          <a:p>
            <a:pPr>
              <a:lnSpc>
                <a:spcPct val="150000"/>
              </a:lnSpc>
            </a:pPr>
            <a:r>
              <a:rPr lang="en-US" sz="2400" b="0"/>
              <a:t>Select API 33+ (Android 13) </a:t>
            </a:r>
          </a:p>
          <a:p>
            <a:pPr>
              <a:lnSpc>
                <a:spcPct val="150000"/>
              </a:lnSpc>
            </a:pPr>
            <a:r>
              <a:rPr lang="en-US" sz="2400" b="0"/>
              <a:t>Set Internal Storage: 4GB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Note: Use Pixel 3a / API 30 for low-spec PCs.</a:t>
            </a:r>
            <a:endParaRPr sz="2400" b="0"/>
          </a:p>
        </p:txBody>
      </p:sp>
      <p:pic>
        <p:nvPicPr>
          <p:cNvPr id="5" name="Picture 4" descr="A screen shot of a cell phone&#10;&#10;AI-generated content may be incorrect.">
            <a:extLst>
              <a:ext uri="{FF2B5EF4-FFF2-40B4-BE49-F238E27FC236}">
                <a16:creationId xmlns:a16="http://schemas.microsoft.com/office/drawing/2014/main" id="{BF19182B-536E-D8FD-101E-3E567397B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847" y="1501424"/>
            <a:ext cx="2410967" cy="42583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AB690-F470-5B61-D3B8-80CCFCB9C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AB15D-F70C-FDB1-7CF0-EB52265B6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Using VS Code (Lightweight IDE)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A029-3A72-19F9-6290-C3C8F2F17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0215" y="1358078"/>
            <a:ext cx="8500277" cy="4771789"/>
          </a:xfrm>
        </p:spPr>
        <p:txBody>
          <a:bodyPr/>
          <a:lstStyle/>
          <a:p>
            <a:r>
              <a:rPr lang="en-US" sz="2400"/>
              <a:t>Setup Steps</a:t>
            </a:r>
          </a:p>
          <a:p>
            <a:pPr lvl="1"/>
            <a:r>
              <a:rPr lang="en-US" sz="2400" b="0"/>
              <a:t>Install VS Code</a:t>
            </a:r>
          </a:p>
          <a:p>
            <a:pPr lvl="1"/>
            <a:r>
              <a:rPr lang="en-US" sz="2400" b="0"/>
              <a:t>Add Flutter &amp; Dart extensions</a:t>
            </a:r>
          </a:p>
          <a:p>
            <a:pPr lvl="1"/>
            <a:r>
              <a:rPr lang="en-US" sz="2400" b="0"/>
              <a:t>Open a folder → Ctrl + Shift + P → Flutter: New Project</a:t>
            </a:r>
          </a:p>
          <a:p>
            <a:pPr lvl="1"/>
            <a:r>
              <a:rPr lang="en-US" sz="2400" b="0"/>
              <a:t>Run the app with F5 or terminal command flutter run</a:t>
            </a:r>
          </a:p>
          <a:p>
            <a:pPr>
              <a:lnSpc>
                <a:spcPct val="150000"/>
              </a:lnSpc>
              <a:defRPr sz="1800"/>
            </a:pPr>
            <a:endParaRPr sz="2000" b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78DA1A-C8EC-DC09-C305-99C27E839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508" y="3904193"/>
            <a:ext cx="7094634" cy="211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14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EE0EF-8A7C-F5DA-C84E-6602D4147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E6ED6-2884-9937-D29C-730014D6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Your First Flutter App (“Hello World”)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CEDC7-F4FF-5362-CC89-8AA66BAF6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0250" y="1358078"/>
            <a:ext cx="8024283" cy="4771789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Goal: </a:t>
            </a:r>
            <a:r>
              <a:rPr lang="en-US" b="0"/>
              <a:t>Show how one simple Flutter program runs identically in all 3 development environments.</a:t>
            </a:r>
          </a:p>
          <a:p>
            <a:pPr marL="0" indent="0">
              <a:buNone/>
            </a:pPr>
            <a:r>
              <a:rPr lang="en-US"/>
              <a:t>Run the App:</a:t>
            </a:r>
            <a:endParaRPr lang="en-US" b="0"/>
          </a:p>
          <a:p>
            <a:pPr marL="0" indent="0">
              <a:buNone/>
            </a:pPr>
            <a:endParaRPr sz="2000" b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9443629-7562-41ED-9DA6-9E89F6D49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20912"/>
              </p:ext>
            </p:extLst>
          </p:nvPr>
        </p:nvGraphicFramePr>
        <p:xfrm>
          <a:off x="2000250" y="2774245"/>
          <a:ext cx="8024282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5617">
                  <a:extLst>
                    <a:ext uri="{9D8B030D-6E8A-4147-A177-3AD203B41FA5}">
                      <a16:colId xmlns:a16="http://schemas.microsoft.com/office/drawing/2014/main" val="1611582162"/>
                    </a:ext>
                  </a:extLst>
                </a:gridCol>
                <a:gridCol w="5418665">
                  <a:extLst>
                    <a:ext uri="{9D8B030D-6E8A-4147-A177-3AD203B41FA5}">
                      <a16:colId xmlns:a16="http://schemas.microsoft.com/office/drawing/2014/main" val="3993490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0909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DartPad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dartpad.dev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→ New → Flutter → Paste code → ▶ Run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68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Code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Ctrl + Shift + P → Flutter: New Project → Replace lib/main.dart → flutter run or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F5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81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 Studio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Flutter Project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→ Paste code → ▶ Run on emulator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1151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92579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1938" y="1600731"/>
            <a:ext cx="10140202" cy="4525699"/>
          </a:xfrm>
        </p:spPr>
        <p:txBody>
          <a:bodyPr/>
          <a:lstStyle/>
          <a:p>
            <a:r>
              <a:rPr lang="en-US" sz="2400" b="0"/>
              <a:t>Understand what Flutter is and how it evolved.</a:t>
            </a:r>
          </a:p>
          <a:p>
            <a:r>
              <a:rPr lang="en-US" sz="2400" b="0"/>
              <a:t>Describe the three-layer architecture: Framework → Engine → Embedder.</a:t>
            </a:r>
          </a:p>
          <a:p>
            <a:r>
              <a:rPr lang="en-US" sz="2400" b="0"/>
              <a:t>Recognize the benefits of Flutter vs other frameworks.</a:t>
            </a:r>
          </a:p>
          <a:p>
            <a:r>
              <a:rPr lang="en-US" sz="2400" b="0"/>
              <a:t>Understand Dart basics and its role in Flutter.</a:t>
            </a:r>
          </a:p>
          <a:p>
            <a:r>
              <a:rPr lang="en-US" sz="2400" b="0"/>
              <a:t>Set up the development environments: DartPad, VS Code, Android Studio.</a:t>
            </a:r>
          </a:p>
          <a:p>
            <a:r>
              <a:rPr lang="en-US" sz="2400" b="0"/>
              <a:t>Install Flutter SDK and verify setup using flutter doctor.</a:t>
            </a:r>
          </a:p>
          <a:p>
            <a:r>
              <a:rPr lang="en-US" sz="2400" b="0"/>
              <a:t>Create and run your first app – “Hello World” – on three platforms.</a:t>
            </a:r>
          </a:p>
          <a:p>
            <a:pPr marL="0" indent="0">
              <a:buNone/>
              <a:defRPr sz="1800"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600731"/>
            <a:ext cx="10058140" cy="4525699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sz="2400" b="0"/>
              <a:t>Mastering Flutter 2025 – Ch.1</a:t>
            </a:r>
          </a:p>
          <a:p>
            <a:pPr>
              <a:lnSpc>
                <a:spcPct val="150000"/>
              </a:lnSpc>
              <a:defRPr sz="1800"/>
            </a:pPr>
            <a:r>
              <a:rPr sz="2400" b="0"/>
              <a:t>docs.flutter.dev</a:t>
            </a:r>
            <a:endParaRPr lang="en-US" sz="2400" b="0"/>
          </a:p>
          <a:p>
            <a:pPr>
              <a:lnSpc>
                <a:spcPct val="150000"/>
              </a:lnSpc>
              <a:defRPr sz="1800"/>
            </a:pPr>
            <a:r>
              <a:rPr lang="en-US" sz="2400">
                <a:hlinkClick r:id="rId3"/>
              </a:rPr>
              <a:t>https://dartpad.dev</a:t>
            </a:r>
            <a:endParaRPr lang="en-US" sz="2400" b="0"/>
          </a:p>
          <a:p>
            <a:pPr>
              <a:lnSpc>
                <a:spcPct val="150000"/>
              </a:lnSpc>
              <a:defRPr sz="1800"/>
            </a:pPr>
            <a:r>
              <a:rPr sz="2400" b="0"/>
              <a:t>dart.dev/guides</a:t>
            </a:r>
          </a:p>
          <a:p>
            <a:pPr>
              <a:lnSpc>
                <a:spcPct val="150000"/>
              </a:lnSpc>
              <a:defRPr sz="1800"/>
            </a:pPr>
            <a:r>
              <a:rPr sz="2400" b="0"/>
              <a:t>github.com/flutter/flutter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5446</TotalTime>
  <Words>1412</Words>
  <Application>Microsoft Office PowerPoint</Application>
  <PresentationFormat>Widescreen</PresentationFormat>
  <Paragraphs>251</Paragraphs>
  <Slides>27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Arial</vt:lpstr>
      <vt:lpstr>Courier New</vt:lpstr>
      <vt:lpstr>Myriad Pro</vt:lpstr>
      <vt:lpstr>Tahoma</vt:lpstr>
      <vt:lpstr>Times New Roman</vt:lpstr>
      <vt:lpstr>Theme1</vt:lpstr>
      <vt:lpstr>Module 1 : Introduction to Flutter</vt:lpstr>
      <vt:lpstr>Contents</vt:lpstr>
      <vt:lpstr>What is Flutter?</vt:lpstr>
      <vt:lpstr>Why Flutter?</vt:lpstr>
      <vt:lpstr>Choosing Flutter Wisely</vt:lpstr>
      <vt:lpstr>When Is Flutter a Good Choice?</vt:lpstr>
      <vt:lpstr>Flutter with Native Integration</vt:lpstr>
      <vt:lpstr>When Native Development Is Preferable</vt:lpstr>
      <vt:lpstr>A Brief History</vt:lpstr>
      <vt:lpstr>Flutter Architecture Overview</vt:lpstr>
      <vt:lpstr>Framework Layer</vt:lpstr>
      <vt:lpstr>Engine Layer - Embedder Layer</vt:lpstr>
      <vt:lpstr>Benefits of Flutter</vt:lpstr>
      <vt:lpstr>Dart: Flutter’s Programming Language</vt:lpstr>
      <vt:lpstr>Dart Core Features</vt:lpstr>
      <vt:lpstr>Flutter Development Environments Overview</vt:lpstr>
      <vt:lpstr>Using DartPad (Online Environment) </vt:lpstr>
      <vt:lpstr>Installing the Flutter SDK</vt:lpstr>
      <vt:lpstr>Installing Android Studio</vt:lpstr>
      <vt:lpstr>Android Studio Interface Overview</vt:lpstr>
      <vt:lpstr>Create a New Flutter Project</vt:lpstr>
      <vt:lpstr>Flutter Project Structure</vt:lpstr>
      <vt:lpstr>Launching an Emulator</vt:lpstr>
      <vt:lpstr>Using VS Code (Lightweight IDE)</vt:lpstr>
      <vt:lpstr>Your First Flutter App (“Hello World”)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Thanh Nguyen</cp:lastModifiedBy>
  <cp:revision>12</cp:revision>
  <dcterms:created xsi:type="dcterms:W3CDTF">2013-01-27T09:14:16Z</dcterms:created>
  <dcterms:modified xsi:type="dcterms:W3CDTF">2025-12-14T04:50:42Z</dcterms:modified>
  <cp:category/>
</cp:coreProperties>
</file>