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6" r:id="rId2"/>
    <p:sldId id="275" r:id="rId3"/>
    <p:sldId id="257" r:id="rId4"/>
    <p:sldId id="258" r:id="rId5"/>
    <p:sldId id="259" r:id="rId6"/>
    <p:sldId id="260" r:id="rId7"/>
    <p:sldId id="305" r:id="rId8"/>
    <p:sldId id="287" r:id="rId9"/>
    <p:sldId id="304" r:id="rId10"/>
    <p:sldId id="295" r:id="rId11"/>
    <p:sldId id="299" r:id="rId12"/>
    <p:sldId id="280" r:id="rId13"/>
    <p:sldId id="261" r:id="rId14"/>
    <p:sldId id="263" r:id="rId15"/>
    <p:sldId id="300" r:id="rId16"/>
    <p:sldId id="264" r:id="rId17"/>
    <p:sldId id="281" r:id="rId18"/>
    <p:sldId id="265" r:id="rId19"/>
    <p:sldId id="266" r:id="rId20"/>
    <p:sldId id="267" r:id="rId21"/>
    <p:sldId id="277" r:id="rId22"/>
    <p:sldId id="301" r:id="rId23"/>
    <p:sldId id="290" r:id="rId24"/>
    <p:sldId id="274" r:id="rId2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677" autoAdjust="0"/>
  </p:normalViewPr>
  <p:slideViewPr>
    <p:cSldViewPr snapToGrid="0" snapToObjects="1">
      <p:cViewPr varScale="1">
        <p:scale>
          <a:sx n="68" d="100"/>
          <a:sy n="68" d="100"/>
        </p:scale>
        <p:origin x="126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Clarify why this module focuses on SharedPreferences + JSON + SQLite preview.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57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3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Instructor Notes:</a:t>
            </a:r>
          </a:p>
          <a:p>
            <a:r>
              <a:rPr lang="en-US"/>
              <a:t>Highlight separation of concerns → maintainability &amp; testability.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Steps (DartPad Version)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No SharedPreferences plugin in DartPad → use a mock class (FakePrefs)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Load initial value from an in-memory map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Update state when the switch is toggled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Save value back into the mock storage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Refresh UI using setState()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Note: data resets on reload (not persistent)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1A93-6704-3F5F-86CC-6F8D9752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9A452-9361-B1BE-0304-01F8AA94C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D05AF-2DAB-806D-A870-94643093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Code demo 9.1 </a:t>
            </a:r>
            <a:r>
              <a:rPr lang="en-US" sz="1200" b="1"/>
              <a:t>Saving App Settings (</a:t>
            </a:r>
            <a:r>
              <a:rPr lang="en-US" b="1"/>
              <a:t>DartPad Version</a:t>
            </a:r>
            <a:r>
              <a:rPr lang="en-US" sz="1200" b="1"/>
              <a:t>)</a:t>
            </a:r>
            <a:endParaRPr lang="en-US" b="1"/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endParaRPr lang="en-US"/>
          </a:p>
          <a:p>
            <a:r>
              <a:rPr lang="en-US"/>
              <a:t>void main() {</a:t>
            </a:r>
          </a:p>
          <a:p>
            <a:r>
              <a:rPr lang="en-US"/>
              <a:t>  runApp(const Demo91DartPadApp());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/// Fake SharedPreferences for DartPad (in-memory only)</a:t>
            </a:r>
          </a:p>
          <a:p>
            <a:r>
              <a:rPr lang="en-US"/>
              <a:t>class FakePrefs {</a:t>
            </a:r>
          </a:p>
          <a:p>
            <a:r>
              <a:rPr lang="en-US"/>
              <a:t>  static final Map&lt;String, Object&gt; _store = {};</a:t>
            </a:r>
          </a:p>
          <a:p>
            <a:endParaRPr lang="en-US"/>
          </a:p>
          <a:p>
            <a:r>
              <a:rPr lang="en-US"/>
              <a:t>  Future&lt;void&gt; setBool(String key, bool value) async {</a:t>
            </a:r>
          </a:p>
          <a:p>
            <a:r>
              <a:rPr lang="en-US"/>
              <a:t>    _store[key] = value;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bool getBool(String key) {</a:t>
            </a:r>
          </a:p>
          <a:p>
            <a:r>
              <a:rPr lang="en-US"/>
              <a:t>    final value = _store[key];</a:t>
            </a:r>
          </a:p>
          <a:p>
            <a:r>
              <a:rPr lang="en-US"/>
              <a:t>    if (value is bool) return value;</a:t>
            </a:r>
          </a:p>
          <a:p>
            <a:r>
              <a:rPr lang="en-US"/>
              <a:t>    return false;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Demo91DartPadApp extends StatefulWidget {</a:t>
            </a:r>
          </a:p>
          <a:p>
            <a:r>
              <a:rPr lang="en-US"/>
              <a:t>  const Demo91DartPadApp({super.key});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State&lt;Demo91DartPadApp&gt; createState() =&gt; _Demo91DartPadAppState();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_Demo91DartPadAppState extends State&lt;Demo91DartPadApp&gt; {</a:t>
            </a:r>
          </a:p>
          <a:p>
            <a:r>
              <a:rPr lang="en-US"/>
              <a:t>  final FakePrefs _prefs = FakePrefs();</a:t>
            </a:r>
          </a:p>
          <a:p>
            <a:r>
              <a:rPr lang="en-US"/>
              <a:t>  bool _isDarkMode = false;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void initState() {</a:t>
            </a:r>
          </a:p>
          <a:p>
            <a:r>
              <a:rPr lang="en-US"/>
              <a:t>    super.initState();</a:t>
            </a:r>
          </a:p>
          <a:p>
            <a:r>
              <a:rPr lang="en-US"/>
              <a:t>    _loadTheme();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void _loadTheme() {</a:t>
            </a:r>
          </a:p>
          <a:p>
            <a:r>
              <a:rPr lang="en-US"/>
              <a:t>    final saved = _prefs.getBool('darkMode');</a:t>
            </a:r>
          </a:p>
          <a:p>
            <a:r>
              <a:rPr lang="en-US"/>
              <a:t>    setState(() {</a:t>
            </a:r>
          </a:p>
          <a:p>
            <a:r>
              <a:rPr lang="en-US"/>
              <a:t>      _isDarkMode = saved;</a:t>
            </a:r>
          </a:p>
          <a:p>
            <a:r>
              <a:rPr lang="en-US"/>
              <a:t>    });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_toggleTheme(bool value) async {</a:t>
            </a:r>
          </a:p>
          <a:p>
            <a:r>
              <a:rPr lang="en-US"/>
              <a:t>    await _prefs.setBool('darkMode', value);</a:t>
            </a:r>
          </a:p>
          <a:p>
            <a:r>
              <a:rPr lang="en-US"/>
              <a:t>    setState(() {</a:t>
            </a:r>
          </a:p>
          <a:p>
            <a:r>
              <a:rPr lang="en-US"/>
              <a:t>      _isDarkMode = value;</a:t>
            </a:r>
          </a:p>
          <a:p>
            <a:r>
              <a:rPr lang="en-US"/>
              <a:t>    });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final ThemeData lightTheme = ThemeData(</a:t>
            </a:r>
          </a:p>
          <a:p>
            <a:r>
              <a:rPr lang="en-US"/>
              <a:t>      colorScheme: ColorScheme.fromSeed(</a:t>
            </a:r>
          </a:p>
          <a:p>
            <a:r>
              <a:rPr lang="en-US"/>
              <a:t>        seedColor: Colors.blue,</a:t>
            </a:r>
          </a:p>
          <a:p>
            <a:r>
              <a:rPr lang="en-US"/>
              <a:t>        brightness: Brightness.light,</a:t>
            </a:r>
          </a:p>
          <a:p>
            <a:r>
              <a:rPr lang="en-US"/>
              <a:t>      ),</a:t>
            </a:r>
          </a:p>
          <a:p>
            <a:r>
              <a:rPr lang="en-US"/>
              <a:t>      useMaterial3: true,</a:t>
            </a:r>
          </a:p>
          <a:p>
            <a:r>
              <a:rPr lang="en-US"/>
              <a:t>    );</a:t>
            </a:r>
          </a:p>
          <a:p>
            <a:endParaRPr lang="en-US"/>
          </a:p>
          <a:p>
            <a:r>
              <a:rPr lang="en-US"/>
              <a:t>    final ThemeData darkTheme = ThemeData(</a:t>
            </a:r>
          </a:p>
          <a:p>
            <a:r>
              <a:rPr lang="en-US"/>
              <a:t>      colorScheme: ColorScheme.fromSeed(</a:t>
            </a:r>
          </a:p>
          <a:p>
            <a:r>
              <a:rPr lang="en-US"/>
              <a:t>        seedColor: Colors.deepPurple,</a:t>
            </a:r>
          </a:p>
          <a:p>
            <a:r>
              <a:rPr lang="en-US"/>
              <a:t>        brightness: Brightness.dark,</a:t>
            </a:r>
          </a:p>
          <a:p>
            <a:r>
              <a:rPr lang="en-US"/>
              <a:t>      ),</a:t>
            </a:r>
          </a:p>
          <a:p>
            <a:r>
              <a:rPr lang="en-US"/>
              <a:t>      useMaterial3: true,</a:t>
            </a:r>
          </a:p>
          <a:p>
            <a:r>
              <a:rPr lang="en-US"/>
              <a:t>    );</a:t>
            </a:r>
          </a:p>
          <a:p>
            <a:endParaRPr lang="en-US"/>
          </a:p>
          <a:p>
            <a:r>
              <a:rPr lang="en-US"/>
              <a:t>    return MaterialApp(</a:t>
            </a:r>
          </a:p>
          <a:p>
            <a:r>
              <a:rPr lang="en-US"/>
              <a:t>      title: 'Demo 9.1 – Mock SharedPreferences',</a:t>
            </a:r>
          </a:p>
          <a:p>
            <a:r>
              <a:rPr lang="en-US"/>
              <a:t>      theme: lightTheme,</a:t>
            </a:r>
          </a:p>
          <a:p>
            <a:r>
              <a:rPr lang="en-US"/>
              <a:t>      darkTheme: darkTheme,</a:t>
            </a:r>
          </a:p>
          <a:p>
            <a:r>
              <a:rPr lang="en-US"/>
              <a:t>      themeMode: _isDarkMode ? ThemeMode.dark : ThemeMode.light,</a:t>
            </a:r>
          </a:p>
          <a:p>
            <a:r>
              <a:rPr lang="en-US"/>
              <a:t>      debugShowCheckedModeBanner: false,</a:t>
            </a:r>
          </a:p>
          <a:p>
            <a:r>
              <a:rPr lang="en-US"/>
              <a:t>      home: Scaffold(</a:t>
            </a:r>
          </a:p>
          <a:p>
            <a:r>
              <a:rPr lang="en-US"/>
              <a:t>        appBar: AppBar(</a:t>
            </a:r>
          </a:p>
          <a:p>
            <a:r>
              <a:rPr lang="en-US"/>
              <a:t>          title: const Text('Demo 9.1 – DartPad Version'),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  body: Center(</a:t>
            </a:r>
          </a:p>
          <a:p>
            <a:r>
              <a:rPr lang="en-US"/>
              <a:t>          child: Card(</a:t>
            </a:r>
          </a:p>
          <a:p>
            <a:r>
              <a:rPr lang="en-US"/>
              <a:t>            margin: const EdgeInsets.all(16),</a:t>
            </a:r>
          </a:p>
          <a:p>
            <a:r>
              <a:rPr lang="en-US"/>
              <a:t>            child: Padding(</a:t>
            </a:r>
          </a:p>
          <a:p>
            <a:r>
              <a:rPr lang="en-US"/>
              <a:t>              padding: const EdgeInsets.all(16),</a:t>
            </a:r>
          </a:p>
          <a:p>
            <a:r>
              <a:rPr lang="en-US"/>
              <a:t>              child: Column(</a:t>
            </a:r>
          </a:p>
          <a:p>
            <a:r>
              <a:rPr lang="en-US"/>
              <a:t>                mainAxisSize: MainAxisSize.min,</a:t>
            </a:r>
          </a:p>
          <a:p>
            <a:r>
              <a:rPr lang="en-US"/>
              <a:t>                children: [</a:t>
            </a:r>
          </a:p>
          <a:p>
            <a:r>
              <a:rPr lang="en-US"/>
              <a:t>                  const Text(</a:t>
            </a:r>
          </a:p>
          <a:p>
            <a:r>
              <a:rPr lang="en-US"/>
              <a:t>                    'Use dark theme?',</a:t>
            </a:r>
          </a:p>
          <a:p>
            <a:r>
              <a:rPr lang="en-US"/>
              <a:t>                    style: TextStyle(fontSize: 18),</a:t>
            </a:r>
          </a:p>
          <a:p>
            <a:r>
              <a:rPr lang="en-US"/>
              <a:t>                  ),</a:t>
            </a:r>
          </a:p>
          <a:p>
            <a:r>
              <a:rPr lang="en-US"/>
              <a:t>                  const SizedBox(height: 8),</a:t>
            </a:r>
          </a:p>
          <a:p>
            <a:r>
              <a:rPr lang="en-US"/>
              <a:t>                  Switch(</a:t>
            </a:r>
          </a:p>
          <a:p>
            <a:r>
              <a:rPr lang="en-US"/>
              <a:t>                    value: _isDarkMode,</a:t>
            </a:r>
          </a:p>
          <a:p>
            <a:r>
              <a:rPr lang="en-US"/>
              <a:t>                    onChanged: _toggleTheme,</a:t>
            </a:r>
          </a:p>
          <a:p>
            <a:r>
              <a:rPr lang="en-US"/>
              <a:t>                  ),</a:t>
            </a:r>
          </a:p>
          <a:p>
            <a:r>
              <a:rPr lang="en-US"/>
              <a:t>                  const SizedBox(height: 16),</a:t>
            </a:r>
          </a:p>
          <a:p>
            <a:r>
              <a:rPr lang="en-US"/>
              <a:t>                  Text(</a:t>
            </a:r>
          </a:p>
          <a:p>
            <a:r>
              <a:rPr lang="en-US"/>
              <a:t>                    'Current mode: ${_isDarkMode ? 'Dark' : 'Light'}',</a:t>
            </a:r>
          </a:p>
          <a:p>
            <a:r>
              <a:rPr lang="en-US"/>
              <a:t>                    style: const TextStyle(fontSize: 16),</a:t>
            </a:r>
          </a:p>
          <a:p>
            <a:r>
              <a:rPr lang="en-US"/>
              <a:t>                  ),</a:t>
            </a:r>
          </a:p>
          <a:p>
            <a:r>
              <a:rPr lang="en-US"/>
              <a:t>                  const SizedBox(height: 8),</a:t>
            </a:r>
          </a:p>
          <a:p>
            <a:r>
              <a:rPr lang="en-US"/>
              <a:t>                  const Text(</a:t>
            </a:r>
          </a:p>
          <a:p>
            <a:r>
              <a:rPr lang="en-US"/>
              <a:t>                    'In this DartPad demo, SharedPreferences is simulated\n'</a:t>
            </a:r>
          </a:p>
          <a:p>
            <a:r>
              <a:rPr lang="en-US"/>
              <a:t>                    'with an in-memory FakePrefs class.\n'</a:t>
            </a:r>
          </a:p>
          <a:p>
            <a:r>
              <a:rPr lang="en-US"/>
              <a:t>                    '(State will reset when you hot-restart or reload.)',</a:t>
            </a:r>
          </a:p>
          <a:p>
            <a:r>
              <a:rPr lang="en-US"/>
              <a:t>                    textAlign: TextAlign.center,</a:t>
            </a:r>
          </a:p>
          <a:p>
            <a:r>
              <a:rPr lang="en-US"/>
              <a:t>                    style: TextStyle(fontSize: 12),</a:t>
            </a:r>
          </a:p>
          <a:p>
            <a:r>
              <a:rPr lang="en-US"/>
              <a:t>                  ),</a:t>
            </a:r>
          </a:p>
          <a:p>
            <a:r>
              <a:rPr lang="en-US"/>
              <a:t>                ],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2D4B-AC35-8FA2-792D-EC0A613C6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76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FF74-C224-F4B2-2EA6-1AE653EA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26A65-8182-2794-392A-255DA5F0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E4B41-2557-E72F-00D0-137E248D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sets the foundation before walking through the actual demo (9.2). We highlight </a:t>
            </a:r>
            <a:r>
              <a:rPr lang="en-US" i="1"/>
              <a:t>conceptual correctness</a:t>
            </a:r>
            <a:r>
              <a:rPr lang="en-US"/>
              <a:t> across all platforms even when DartPad can’t use real SharedPreferences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6CE6-2868-382C-44C2-5219BE64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26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(Note) Data resets on reload — DartPad has no persistent storage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/>
              <a:t>Code demo 9.2</a:t>
            </a:r>
          </a:p>
          <a:p>
            <a:r>
              <a:rPr lang="vi-VN" b="0"/>
              <a:t>import 'package:flutter/material.dart';</a:t>
            </a:r>
          </a:p>
          <a:p>
            <a:endParaRPr lang="vi-VN" b="0"/>
          </a:p>
          <a:p>
            <a:r>
              <a:rPr lang="vi-VN" b="0"/>
              <a:t>void main() {</a:t>
            </a:r>
          </a:p>
          <a:p>
            <a:r>
              <a:rPr lang="vi-VN" b="0"/>
              <a:t>  runApp(const Demo92App());</a:t>
            </a:r>
          </a:p>
          <a:p>
            <a:r>
              <a:rPr lang="vi-VN" b="0"/>
              <a:t>}</a:t>
            </a:r>
          </a:p>
          <a:p>
            <a:endParaRPr lang="vi-VN" b="0"/>
          </a:p>
          <a:p>
            <a:r>
              <a:rPr lang="vi-VN" b="0"/>
              <a:t>/// Demo 9.2 – Simulated key-value storage (DartPad-safe)</a:t>
            </a:r>
          </a:p>
          <a:p>
            <a:r>
              <a:rPr lang="vi-VN" b="0"/>
              <a:t>class Demo92App extends StatelessWidget {</a:t>
            </a:r>
          </a:p>
          <a:p>
            <a:r>
              <a:rPr lang="vi-VN" b="0"/>
              <a:t>  const Demo92App({super.key});</a:t>
            </a:r>
          </a:p>
          <a:p>
            <a:endParaRPr lang="vi-VN" b="0"/>
          </a:p>
          <a:p>
            <a:r>
              <a:rPr lang="vi-VN" b="0"/>
              <a:t>  @override</a:t>
            </a:r>
          </a:p>
          <a:p>
            <a:r>
              <a:rPr lang="vi-VN" b="0"/>
              <a:t>  Widget build(BuildContext context) {</a:t>
            </a:r>
          </a:p>
          <a:p>
            <a:r>
              <a:rPr lang="vi-VN" b="0"/>
              <a:t>    return MaterialApp(</a:t>
            </a:r>
          </a:p>
          <a:p>
            <a:r>
              <a:rPr lang="vi-VN" b="0"/>
              <a:t>      title: 'Demo 9.2 – FakePrefs',</a:t>
            </a:r>
          </a:p>
          <a:p>
            <a:r>
              <a:rPr lang="vi-VN" b="0"/>
              <a:t>      theme: ThemeData.dark(), // dùng theme đơn giản, tránh lỗi brightness</a:t>
            </a:r>
          </a:p>
          <a:p>
            <a:r>
              <a:rPr lang="vi-VN" b="0"/>
              <a:t>      debugShowCheckedModeBanner: false,</a:t>
            </a:r>
          </a:p>
          <a:p>
            <a:r>
              <a:rPr lang="vi-VN" b="0"/>
              <a:t>      home: const UsernamePrefsScreen(),</a:t>
            </a:r>
          </a:p>
          <a:p>
            <a:r>
              <a:rPr lang="vi-VN" b="0"/>
              <a:t>    );</a:t>
            </a:r>
          </a:p>
          <a:p>
            <a:r>
              <a:rPr lang="vi-VN" b="0"/>
              <a:t>  }</a:t>
            </a:r>
          </a:p>
          <a:p>
            <a:r>
              <a:rPr lang="vi-VN" b="0"/>
              <a:t>}</a:t>
            </a:r>
          </a:p>
          <a:p>
            <a:endParaRPr lang="vi-VN" b="0"/>
          </a:p>
          <a:p>
            <a:r>
              <a:rPr lang="vi-VN" b="0"/>
              <a:t>/// ----- FakePrefs: mô phỏng SharedPreferences cho DartPad -----</a:t>
            </a:r>
          </a:p>
          <a:p>
            <a:endParaRPr lang="vi-VN" b="0"/>
          </a:p>
          <a:p>
            <a:r>
              <a:rPr lang="vi-VN" b="0"/>
              <a:t>class FakePrefs {</a:t>
            </a:r>
          </a:p>
          <a:p>
            <a:r>
              <a:rPr lang="vi-VN" b="0"/>
              <a:t>  FakePrefs._internal();</a:t>
            </a:r>
          </a:p>
          <a:p>
            <a:endParaRPr lang="vi-VN" b="0"/>
          </a:p>
          <a:p>
            <a:r>
              <a:rPr lang="vi-VN" b="0"/>
              <a:t>  static final FakePrefs _instance = FakePrefs._internal();</a:t>
            </a:r>
          </a:p>
          <a:p>
            <a:endParaRPr lang="vi-VN" b="0"/>
          </a:p>
          <a:p>
            <a:r>
              <a:rPr lang="vi-VN" b="0"/>
              <a:t>  // map lưu dữ liệu key-value trong RAM</a:t>
            </a:r>
          </a:p>
          <a:p>
            <a:r>
              <a:rPr lang="vi-VN" b="0"/>
              <a:t>  final Map&lt;String, Object?&gt; _storage = {};</a:t>
            </a:r>
          </a:p>
          <a:p>
            <a:endParaRPr lang="vi-VN" b="0"/>
          </a:p>
          <a:p>
            <a:r>
              <a:rPr lang="vi-VN" b="0"/>
              <a:t>  // mô phỏng SharedPreferences.getInstance()</a:t>
            </a:r>
          </a:p>
          <a:p>
            <a:r>
              <a:rPr lang="vi-VN" b="0"/>
              <a:t>  static Future&lt;FakePrefs&gt; getInstance() async {</a:t>
            </a:r>
          </a:p>
          <a:p>
            <a:r>
              <a:rPr lang="vi-VN" b="0"/>
              <a:t>    // delay nhẹ cho giống async I/O thật</a:t>
            </a:r>
          </a:p>
          <a:p>
            <a:r>
              <a:rPr lang="vi-VN" b="0"/>
              <a:t>    await Future.delayed(const Duration(milliseconds: 200));</a:t>
            </a:r>
          </a:p>
          <a:p>
            <a:r>
              <a:rPr lang="vi-VN" b="0"/>
              <a:t>    return _instance;</a:t>
            </a:r>
          </a:p>
          <a:p>
            <a:r>
              <a:rPr lang="vi-VN" b="0"/>
              <a:t>  }</a:t>
            </a:r>
          </a:p>
          <a:p>
            <a:endParaRPr lang="vi-VN" b="0"/>
          </a:p>
          <a:p>
            <a:r>
              <a:rPr lang="vi-VN" b="0"/>
              <a:t>  String? getString(String key) =&gt; _storage[key] as String?;</a:t>
            </a:r>
          </a:p>
          <a:p>
            <a:endParaRPr lang="vi-VN" b="0"/>
          </a:p>
          <a:p>
            <a:r>
              <a:rPr lang="vi-VN" b="0"/>
              <a:t>  Future&lt;bool&gt; setString(String key, String value) async {</a:t>
            </a:r>
          </a:p>
          <a:p>
            <a:r>
              <a:rPr lang="vi-VN" b="0"/>
              <a:t>    await Future.delayed(const Duration(milliseconds: 100));</a:t>
            </a:r>
          </a:p>
          <a:p>
            <a:r>
              <a:rPr lang="vi-VN" b="0"/>
              <a:t>    _storage[key] = value;</a:t>
            </a:r>
          </a:p>
          <a:p>
            <a:r>
              <a:rPr lang="vi-VN" b="0"/>
              <a:t>    return true;</a:t>
            </a:r>
          </a:p>
          <a:p>
            <a:r>
              <a:rPr lang="vi-VN" b="0"/>
              <a:t>  }</a:t>
            </a:r>
          </a:p>
          <a:p>
            <a:r>
              <a:rPr lang="vi-VN" b="0"/>
              <a:t>}</a:t>
            </a:r>
          </a:p>
          <a:p>
            <a:endParaRPr lang="vi-VN" b="0"/>
          </a:p>
          <a:p>
            <a:r>
              <a:rPr lang="vi-VN" b="0"/>
              <a:t>/// ----- UI demo: lưu / đọc tên người dùng -----</a:t>
            </a:r>
          </a:p>
          <a:p>
            <a:endParaRPr lang="vi-VN" b="0"/>
          </a:p>
          <a:p>
            <a:r>
              <a:rPr lang="vi-VN" b="0"/>
              <a:t>class UsernamePrefsScreen extends StatefulWidget {</a:t>
            </a:r>
          </a:p>
          <a:p>
            <a:r>
              <a:rPr lang="vi-VN" b="0"/>
              <a:t>  const UsernamePrefsScreen({super.key});</a:t>
            </a:r>
          </a:p>
          <a:p>
            <a:endParaRPr lang="vi-VN" b="0"/>
          </a:p>
          <a:p>
            <a:r>
              <a:rPr lang="vi-VN" b="0"/>
              <a:t>  @override</a:t>
            </a:r>
          </a:p>
          <a:p>
            <a:r>
              <a:rPr lang="vi-VN" b="0"/>
              <a:t>  State&lt;UsernamePrefsScreen&gt; createState() =&gt; _UsernamePrefsScreenState();</a:t>
            </a:r>
          </a:p>
          <a:p>
            <a:r>
              <a:rPr lang="vi-VN" b="0"/>
              <a:t>}</a:t>
            </a:r>
          </a:p>
          <a:p>
            <a:endParaRPr lang="vi-VN" b="0"/>
          </a:p>
          <a:p>
            <a:r>
              <a:rPr lang="vi-VN" b="0"/>
              <a:t>class _UsernamePrefsScreenState extends State&lt;UsernamePrefsScreen&gt; {</a:t>
            </a:r>
          </a:p>
          <a:p>
            <a:r>
              <a:rPr lang="vi-VN" b="0"/>
              <a:t>  final TextEditingController _controller = TextEditingController();</a:t>
            </a:r>
          </a:p>
          <a:p>
            <a:r>
              <a:rPr lang="vi-VN" b="0"/>
              <a:t>  bool _isLoading = true;</a:t>
            </a:r>
          </a:p>
          <a:p>
            <a:r>
              <a:rPr lang="vi-VN" b="0"/>
              <a:t>  String _status = 'Loading saved name...';</a:t>
            </a:r>
          </a:p>
          <a:p>
            <a:endParaRPr lang="vi-VN" b="0"/>
          </a:p>
          <a:p>
            <a:r>
              <a:rPr lang="vi-VN" b="0"/>
              <a:t>  static const String _keyUsername = 'username';</a:t>
            </a:r>
          </a:p>
          <a:p>
            <a:endParaRPr lang="vi-VN" b="0"/>
          </a:p>
          <a:p>
            <a:r>
              <a:rPr lang="vi-VN" b="0"/>
              <a:t>  @override</a:t>
            </a:r>
          </a:p>
          <a:p>
            <a:r>
              <a:rPr lang="vi-VN" b="0"/>
              <a:t>  void initState() {</a:t>
            </a:r>
          </a:p>
          <a:p>
            <a:r>
              <a:rPr lang="vi-VN" b="0"/>
              <a:t>    super.initState();</a:t>
            </a:r>
          </a:p>
          <a:p>
            <a:r>
              <a:rPr lang="vi-VN" b="0"/>
              <a:t>    _loadUsername();</a:t>
            </a:r>
          </a:p>
          <a:p>
            <a:r>
              <a:rPr lang="vi-VN" b="0"/>
              <a:t>  }</a:t>
            </a:r>
          </a:p>
          <a:p>
            <a:endParaRPr lang="vi-VN" b="0"/>
          </a:p>
          <a:p>
            <a:r>
              <a:rPr lang="vi-VN" b="0"/>
              <a:t>  // Step 1: load dữ liệu đã lưu (nếu có)</a:t>
            </a:r>
          </a:p>
          <a:p>
            <a:r>
              <a:rPr lang="vi-VN" b="0"/>
              <a:t>  Future&lt;void&gt; _loadUsername() async {</a:t>
            </a:r>
          </a:p>
          <a:p>
            <a:r>
              <a:rPr lang="vi-VN" b="0"/>
              <a:t>    final prefs = await FakePrefs.getInstance();</a:t>
            </a:r>
          </a:p>
          <a:p>
            <a:r>
              <a:rPr lang="vi-VN" b="0"/>
              <a:t>    final saved = prefs.getString(_keyUsername);</a:t>
            </a:r>
          </a:p>
          <a:p>
            <a:r>
              <a:rPr lang="vi-VN" b="0"/>
              <a:t>    setState(() {</a:t>
            </a:r>
          </a:p>
          <a:p>
            <a:r>
              <a:rPr lang="vi-VN" b="0"/>
              <a:t>      _controller.text = saved ?? '';</a:t>
            </a:r>
          </a:p>
          <a:p>
            <a:r>
              <a:rPr lang="vi-VN" b="0"/>
              <a:t>      _status = saved == null ? 'No saved name yet.' : 'Loaded saved name.';</a:t>
            </a:r>
          </a:p>
          <a:p>
            <a:r>
              <a:rPr lang="vi-VN" b="0"/>
              <a:t>      _isLoading = false;</a:t>
            </a:r>
          </a:p>
          <a:p>
            <a:r>
              <a:rPr lang="vi-VN" b="0"/>
              <a:t>    });</a:t>
            </a:r>
          </a:p>
          <a:p>
            <a:r>
              <a:rPr lang="vi-VN" b="0"/>
              <a:t>  }</a:t>
            </a:r>
          </a:p>
          <a:p>
            <a:endParaRPr lang="vi-VN" b="0"/>
          </a:p>
          <a:p>
            <a:r>
              <a:rPr lang="vi-VN" b="0"/>
              <a:t>  // Step 2: lưu dữ liệu mới</a:t>
            </a:r>
          </a:p>
          <a:p>
            <a:r>
              <a:rPr lang="vi-VN" b="0"/>
              <a:t>  Future&lt;void&gt; _saveUsername() async {</a:t>
            </a:r>
          </a:p>
          <a:p>
            <a:r>
              <a:rPr lang="vi-VN" b="0"/>
              <a:t>    final name = _controller.text.trim();</a:t>
            </a:r>
          </a:p>
          <a:p>
            <a:r>
              <a:rPr lang="vi-VN" b="0"/>
              <a:t>    if (name.isEmpty) {</a:t>
            </a:r>
          </a:p>
          <a:p>
            <a:r>
              <a:rPr lang="vi-VN" b="0"/>
              <a:t>      setState(() {</a:t>
            </a:r>
          </a:p>
          <a:p>
            <a:r>
              <a:rPr lang="vi-VN" b="0"/>
              <a:t>        _status = 'Please enter a name before saving.';</a:t>
            </a:r>
          </a:p>
          <a:p>
            <a:r>
              <a:rPr lang="vi-VN" b="0"/>
              <a:t>      });</a:t>
            </a:r>
          </a:p>
          <a:p>
            <a:r>
              <a:rPr lang="vi-VN" b="0"/>
              <a:t>      return;</a:t>
            </a:r>
          </a:p>
          <a:p>
            <a:r>
              <a:rPr lang="vi-VN" b="0"/>
              <a:t>    }</a:t>
            </a:r>
          </a:p>
          <a:p>
            <a:endParaRPr lang="vi-VN" b="0"/>
          </a:p>
          <a:p>
            <a:r>
              <a:rPr lang="vi-VN" b="0"/>
              <a:t>    setState(() =&gt; _isLoading = true);</a:t>
            </a:r>
          </a:p>
          <a:p>
            <a:endParaRPr lang="vi-VN" b="0"/>
          </a:p>
          <a:p>
            <a:r>
              <a:rPr lang="vi-VN" b="0"/>
              <a:t>    final prefs = await FakePrefs.getInstance();</a:t>
            </a:r>
          </a:p>
          <a:p>
            <a:r>
              <a:rPr lang="vi-VN" b="0"/>
              <a:t>    await prefs.setString(_keyUsername, name);</a:t>
            </a:r>
          </a:p>
          <a:p>
            <a:endParaRPr lang="vi-VN" b="0"/>
          </a:p>
          <a:p>
            <a:r>
              <a:rPr lang="vi-VN" b="0"/>
              <a:t>    setState(() {</a:t>
            </a:r>
          </a:p>
          <a:p>
            <a:r>
              <a:rPr lang="vi-VN" b="0"/>
              <a:t>      _status = 'Saved "$name" to FakePrefs.';</a:t>
            </a:r>
          </a:p>
          <a:p>
            <a:r>
              <a:rPr lang="vi-VN" b="0"/>
              <a:t>      _isLoading = false;</a:t>
            </a:r>
          </a:p>
          <a:p>
            <a:r>
              <a:rPr lang="vi-VN" b="0"/>
              <a:t>    });</a:t>
            </a:r>
          </a:p>
          <a:p>
            <a:r>
              <a:rPr lang="vi-VN" b="0"/>
              <a:t>  }</a:t>
            </a:r>
          </a:p>
          <a:p>
            <a:endParaRPr lang="vi-VN" b="0"/>
          </a:p>
          <a:p>
            <a:r>
              <a:rPr lang="vi-VN" b="0"/>
              <a:t>  @override</a:t>
            </a:r>
          </a:p>
          <a:p>
            <a:r>
              <a:rPr lang="vi-VN" b="0"/>
              <a:t>  Widget build(BuildContext context) {</a:t>
            </a:r>
          </a:p>
          <a:p>
            <a:r>
              <a:rPr lang="vi-VN" b="0"/>
              <a:t>    return Scaffold(</a:t>
            </a:r>
          </a:p>
          <a:p>
            <a:r>
              <a:rPr lang="vi-VN" b="0"/>
              <a:t>      appBar: AppBar(</a:t>
            </a:r>
          </a:p>
          <a:p>
            <a:r>
              <a:rPr lang="vi-VN" b="0"/>
              <a:t>        title: const Text('Demo 9.2 – FakePrefs Username'),</a:t>
            </a:r>
          </a:p>
          <a:p>
            <a:r>
              <a:rPr lang="vi-VN" b="0"/>
              <a:t>      ),</a:t>
            </a:r>
          </a:p>
          <a:p>
            <a:r>
              <a:rPr lang="vi-VN" b="0"/>
              <a:t>      body: Padding(</a:t>
            </a:r>
          </a:p>
          <a:p>
            <a:r>
              <a:rPr lang="vi-VN" b="0"/>
              <a:t>        padding: const EdgeInsets.all(16),</a:t>
            </a:r>
          </a:p>
          <a:p>
            <a:r>
              <a:rPr lang="vi-VN" b="0"/>
              <a:t>        child: Column(</a:t>
            </a:r>
          </a:p>
          <a:p>
            <a:r>
              <a:rPr lang="vi-VN" b="0"/>
              <a:t>          crossAxisAlignment: CrossAxisAlignment.start,</a:t>
            </a:r>
          </a:p>
          <a:p>
            <a:r>
              <a:rPr lang="vi-VN" b="0"/>
              <a:t>          children: [</a:t>
            </a:r>
          </a:p>
          <a:p>
            <a:r>
              <a:rPr lang="vi-VN" b="0"/>
              <a:t>            const Text(</a:t>
            </a:r>
          </a:p>
          <a:p>
            <a:r>
              <a:rPr lang="vi-VN" b="0"/>
              <a:t>              'Enter your name and save it (simulated key-value storage).',</a:t>
            </a:r>
          </a:p>
          <a:p>
            <a:r>
              <a:rPr lang="vi-VN" b="0"/>
              <a:t>              style: TextStyle(fontSize: 16),</a:t>
            </a:r>
          </a:p>
          <a:p>
            <a:r>
              <a:rPr lang="vi-VN" b="0"/>
              <a:t>            ),</a:t>
            </a:r>
          </a:p>
          <a:p>
            <a:r>
              <a:rPr lang="vi-VN" b="0"/>
              <a:t>            const SizedBox(height: 16),</a:t>
            </a:r>
          </a:p>
          <a:p>
            <a:r>
              <a:rPr lang="vi-VN" b="0"/>
              <a:t>            TextField(</a:t>
            </a:r>
          </a:p>
          <a:p>
            <a:r>
              <a:rPr lang="vi-VN" b="0"/>
              <a:t>              controller: _controller,</a:t>
            </a:r>
          </a:p>
          <a:p>
            <a:r>
              <a:rPr lang="vi-VN" b="0"/>
              <a:t>              decoration: const InputDecoration(</a:t>
            </a:r>
          </a:p>
          <a:p>
            <a:r>
              <a:rPr lang="vi-VN" b="0"/>
              <a:t>                labelText: 'Your name',</a:t>
            </a:r>
          </a:p>
          <a:p>
            <a:r>
              <a:rPr lang="vi-VN" b="0"/>
              <a:t>                border: OutlineInputBorder(),</a:t>
            </a:r>
          </a:p>
          <a:p>
            <a:r>
              <a:rPr lang="vi-VN" b="0"/>
              <a:t>              ),</a:t>
            </a:r>
          </a:p>
          <a:p>
            <a:r>
              <a:rPr lang="vi-VN" b="0"/>
              <a:t>            ),</a:t>
            </a:r>
          </a:p>
          <a:p>
            <a:r>
              <a:rPr lang="vi-VN" b="0"/>
              <a:t>            const SizedBox(height: 16),</a:t>
            </a:r>
          </a:p>
          <a:p>
            <a:r>
              <a:rPr lang="vi-VN" b="0"/>
              <a:t>            Row(</a:t>
            </a:r>
          </a:p>
          <a:p>
            <a:r>
              <a:rPr lang="vi-VN" b="0"/>
              <a:t>              children: [</a:t>
            </a:r>
          </a:p>
          <a:p>
            <a:r>
              <a:rPr lang="vi-VN" b="0"/>
              <a:t>                ElevatedButton(</a:t>
            </a:r>
          </a:p>
          <a:p>
            <a:r>
              <a:rPr lang="vi-VN" b="0"/>
              <a:t>                  onPressed: _isLoading ? null : _saveUsername,</a:t>
            </a:r>
          </a:p>
          <a:p>
            <a:r>
              <a:rPr lang="vi-VN" b="0"/>
              <a:t>                  child: _isLoading</a:t>
            </a:r>
          </a:p>
          <a:p>
            <a:r>
              <a:rPr lang="vi-VN" b="0"/>
              <a:t>                      ? const SizedBox(</a:t>
            </a:r>
          </a:p>
          <a:p>
            <a:r>
              <a:rPr lang="vi-VN" b="0"/>
              <a:t>                          height: 16,</a:t>
            </a:r>
          </a:p>
          <a:p>
            <a:r>
              <a:rPr lang="vi-VN" b="0"/>
              <a:t>                          width: 16,</a:t>
            </a:r>
          </a:p>
          <a:p>
            <a:r>
              <a:rPr lang="vi-VN" b="0"/>
              <a:t>                          child: CircularProgressIndicator(strokeWidth: 2),</a:t>
            </a:r>
          </a:p>
          <a:p>
            <a:r>
              <a:rPr lang="vi-VN" b="0"/>
              <a:t>                        )</a:t>
            </a:r>
          </a:p>
          <a:p>
            <a:r>
              <a:rPr lang="vi-VN" b="0"/>
              <a:t>                      : const Text('Save'),</a:t>
            </a:r>
          </a:p>
          <a:p>
            <a:r>
              <a:rPr lang="vi-VN" b="0"/>
              <a:t>                ),</a:t>
            </a:r>
          </a:p>
          <a:p>
            <a:r>
              <a:rPr lang="vi-VN" b="0"/>
              <a:t>                const SizedBox(width: 12),</a:t>
            </a:r>
          </a:p>
          <a:p>
            <a:r>
              <a:rPr lang="vi-VN" b="0"/>
              <a:t>                OutlinedButton(</a:t>
            </a:r>
          </a:p>
          <a:p>
            <a:r>
              <a:rPr lang="vi-VN" b="0"/>
              <a:t>                  onPressed: _isLoading ? null : _loadUsername,</a:t>
            </a:r>
          </a:p>
          <a:p>
            <a:r>
              <a:rPr lang="vi-VN" b="0"/>
              <a:t>                  child: const Text('Reload'),</a:t>
            </a:r>
          </a:p>
          <a:p>
            <a:r>
              <a:rPr lang="vi-VN" b="0"/>
              <a:t>                ),</a:t>
            </a:r>
          </a:p>
          <a:p>
            <a:r>
              <a:rPr lang="vi-VN" b="0"/>
              <a:t>              ],</a:t>
            </a:r>
          </a:p>
          <a:p>
            <a:r>
              <a:rPr lang="vi-VN" b="0"/>
              <a:t>            ),</a:t>
            </a:r>
          </a:p>
          <a:p>
            <a:r>
              <a:rPr lang="vi-VN" b="0"/>
              <a:t>            const SizedBox(height: 24),</a:t>
            </a:r>
          </a:p>
          <a:p>
            <a:r>
              <a:rPr lang="vi-VN" b="0"/>
              <a:t>            Text(</a:t>
            </a:r>
          </a:p>
          <a:p>
            <a:r>
              <a:rPr lang="vi-VN" b="0"/>
              <a:t>              _status,</a:t>
            </a:r>
          </a:p>
          <a:p>
            <a:r>
              <a:rPr lang="vi-VN" b="0"/>
              <a:t>              style: const TextStyle(fontSize: 14, color: Colors.amber),</a:t>
            </a:r>
          </a:p>
          <a:p>
            <a:r>
              <a:rPr lang="vi-VN" b="0"/>
              <a:t>            ),</a:t>
            </a:r>
          </a:p>
          <a:p>
            <a:r>
              <a:rPr lang="vi-VN" b="0"/>
              <a:t>            const SizedBox(height: 16),</a:t>
            </a:r>
          </a:p>
          <a:p>
            <a:r>
              <a:rPr lang="vi-VN" b="0"/>
              <a:t>            const Divider(),</a:t>
            </a:r>
          </a:p>
          <a:p>
            <a:r>
              <a:rPr lang="vi-VN" b="0"/>
              <a:t>            const Text(</a:t>
            </a:r>
          </a:p>
          <a:p>
            <a:r>
              <a:rPr lang="vi-VN" b="0"/>
              <a:t>              'Note:',</a:t>
            </a:r>
          </a:p>
          <a:p>
            <a:r>
              <a:rPr lang="vi-VN" b="0"/>
              <a:t>              style: TextStyle(fontWeight: FontWeight.bold),</a:t>
            </a:r>
          </a:p>
          <a:p>
            <a:r>
              <a:rPr lang="vi-VN" b="0"/>
              <a:t>            ),</a:t>
            </a:r>
          </a:p>
          <a:p>
            <a:r>
              <a:rPr lang="vi-VN" b="0"/>
              <a:t>            const Text(</a:t>
            </a:r>
          </a:p>
          <a:p>
            <a:r>
              <a:rPr lang="vi-VN" b="0"/>
              <a:t>              '- In a real Flutter app this would use SharedPreferences.\n'</a:t>
            </a:r>
          </a:p>
          <a:p>
            <a:r>
              <a:rPr lang="vi-VN" b="0"/>
              <a:t>              '- In DartPad we simulate it with FakePrefs (data is kept only '</a:t>
            </a:r>
          </a:p>
          <a:p>
            <a:r>
              <a:rPr lang="vi-VN" b="0"/>
              <a:t>              'while the app is running).',</a:t>
            </a:r>
          </a:p>
          <a:p>
            <a:r>
              <a:rPr lang="vi-VN" b="0"/>
              <a:t>            ),</a:t>
            </a:r>
          </a:p>
          <a:p>
            <a:r>
              <a:rPr lang="vi-VN" b="0"/>
              <a:t>          ],</a:t>
            </a:r>
          </a:p>
          <a:p>
            <a:r>
              <a:rPr lang="vi-VN" b="0"/>
              <a:t>        ),</a:t>
            </a:r>
          </a:p>
          <a:p>
            <a:r>
              <a:rPr lang="vi-VN" b="0"/>
              <a:t>      ),</a:t>
            </a:r>
          </a:p>
          <a:p>
            <a:r>
              <a:rPr lang="vi-VN" b="0"/>
              <a:t>    );</a:t>
            </a:r>
          </a:p>
          <a:p>
            <a:r>
              <a:rPr lang="vi-VN" b="0"/>
              <a:t>  }</a:t>
            </a:r>
          </a:p>
          <a:p>
            <a:endParaRPr lang="vi-VN" b="0"/>
          </a:p>
          <a:p>
            <a:r>
              <a:rPr lang="vi-VN" b="0"/>
              <a:t>  @override</a:t>
            </a:r>
          </a:p>
          <a:p>
            <a:r>
              <a:rPr lang="vi-VN" b="0"/>
              <a:t>  void dispose() {</a:t>
            </a:r>
          </a:p>
          <a:p>
            <a:r>
              <a:rPr lang="vi-VN" b="0"/>
              <a:t>    _controller.dispose();</a:t>
            </a:r>
          </a:p>
          <a:p>
            <a:r>
              <a:rPr lang="vi-VN" b="0"/>
              <a:t>    super.dispose();</a:t>
            </a:r>
          </a:p>
          <a:p>
            <a:r>
              <a:rPr lang="vi-VN" b="0"/>
              <a:t>  }</a:t>
            </a:r>
          </a:p>
          <a:p>
            <a:r>
              <a:rPr lang="vi-VN" b="0"/>
              <a:t>}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Instructor Notes </a:t>
            </a:r>
          </a:p>
          <a:p>
            <a:r>
              <a:rPr lang="en-US"/>
              <a:t>Emphasize that SQFlite is a bridge between Dart and SQLite</a:t>
            </a:r>
          </a:p>
          <a:p>
            <a:r>
              <a:rPr lang="en-US"/>
              <a:t>Remind students: SQLite only works on mobile, not on Flutter Web</a:t>
            </a:r>
          </a:p>
          <a:p>
            <a:r>
              <a:rPr lang="en-US"/>
              <a:t>Good to introduce before teaching CRUD + SQL syntax in next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8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8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Note: openDatabase should only be called once (or use singleton / service).query() returns List&lt;Map&lt;String, dynamic&gt;&gt; → need to map to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61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Instructor Notes</a:t>
            </a:r>
          </a:p>
          <a:p>
            <a:r>
              <a:rPr lang="en-US"/>
              <a:t>Stress that the DB is opened only once and reused.</a:t>
            </a:r>
          </a:p>
          <a:p>
            <a:r>
              <a:rPr lang="en-US"/>
              <a:t>SQLite operations are async → must await db.query() etc.</a:t>
            </a:r>
          </a:p>
          <a:p>
            <a:r>
              <a:rPr lang="en-US"/>
              <a:t>Best practice: Keep DB logic inside a Database Helper / Service class.</a:t>
            </a:r>
          </a:p>
          <a:p>
            <a:r>
              <a:rPr lang="en-US"/>
              <a:t>Demo 9.3 follows exactly this workflow (Todo App).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8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/>
              <a:t>Code demo 9.3: Offline Todo App (SQLite)</a:t>
            </a:r>
          </a:p>
          <a:p>
            <a:endParaRPr lang="en-US" sz="1200"/>
          </a:p>
          <a:p>
            <a:r>
              <a:rPr lang="en-US" sz="1200"/>
              <a:t>import 'package:flutter/material.dart';</a:t>
            </a:r>
          </a:p>
          <a:p>
            <a:endParaRPr lang="en-US" sz="1200"/>
          </a:p>
          <a:p>
            <a:r>
              <a:rPr lang="en-US" sz="1200"/>
              <a:t>void main() {</a:t>
            </a:r>
          </a:p>
          <a:p>
            <a:r>
              <a:rPr lang="en-US" sz="1200"/>
              <a:t>  runApp(const TodoApp());</a:t>
            </a:r>
          </a:p>
          <a:p>
            <a:r>
              <a:rPr lang="en-US" sz="1200"/>
              <a:t>}</a:t>
            </a:r>
          </a:p>
          <a:p>
            <a:endParaRPr lang="en-US" sz="1200"/>
          </a:p>
          <a:p>
            <a:r>
              <a:rPr lang="en-US" sz="1200"/>
              <a:t>/// STEP 7: Root app + theme + home screen</a:t>
            </a:r>
          </a:p>
          <a:p>
            <a:r>
              <a:rPr lang="en-US" sz="1200"/>
              <a:t>class TodoApp extends StatelessWidget {</a:t>
            </a:r>
          </a:p>
          <a:p>
            <a:r>
              <a:rPr lang="en-US" sz="1200"/>
              <a:t>  const TodoApp({super.key});</a:t>
            </a:r>
          </a:p>
          <a:p>
            <a:endParaRPr lang="en-US" sz="1200"/>
          </a:p>
          <a:p>
            <a:r>
              <a:rPr lang="en-US" sz="1200"/>
              <a:t>  @override</a:t>
            </a:r>
          </a:p>
          <a:p>
            <a:r>
              <a:rPr lang="en-US" sz="1200"/>
              <a:t>  Widget build(BuildContext context) {</a:t>
            </a:r>
          </a:p>
          <a:p>
            <a:r>
              <a:rPr lang="en-US" sz="1200"/>
              <a:t>    return MaterialApp(</a:t>
            </a:r>
          </a:p>
          <a:p>
            <a:r>
              <a:rPr lang="en-US" sz="1200"/>
              <a:t>      title: 'Demo 9.3 – Fake SQLite (DartPad)',</a:t>
            </a:r>
          </a:p>
          <a:p>
            <a:r>
              <a:rPr lang="en-US" sz="1200"/>
              <a:t>      theme: ThemeData.dark(useMaterial3: true),</a:t>
            </a:r>
          </a:p>
          <a:p>
            <a:r>
              <a:rPr lang="en-US" sz="1200"/>
              <a:t>      home: const TodoListScreen(),</a:t>
            </a:r>
          </a:p>
          <a:p>
            <a:r>
              <a:rPr lang="en-US" sz="1200"/>
              <a:t>      debugShowCheckedModeBanner: false,</a:t>
            </a:r>
          </a:p>
          <a:p>
            <a:r>
              <a:rPr lang="en-US" sz="1200"/>
              <a:t>    );</a:t>
            </a:r>
          </a:p>
          <a:p>
            <a:r>
              <a:rPr lang="en-US" sz="1200"/>
              <a:t>  }</a:t>
            </a:r>
          </a:p>
          <a:p>
            <a:r>
              <a:rPr lang="en-US" sz="1200"/>
              <a:t>}</a:t>
            </a:r>
          </a:p>
          <a:p>
            <a:endParaRPr lang="en-US" sz="1200"/>
          </a:p>
          <a:p>
            <a:r>
              <a:rPr lang="en-US" sz="1200"/>
              <a:t>/// STEP 2: Fake "SQLite" database implemented in memory</a:t>
            </a:r>
          </a:p>
          <a:p>
            <a:r>
              <a:rPr lang="en-US" sz="1200"/>
              <a:t>class FakeDatabase {</a:t>
            </a:r>
          </a:p>
          <a:p>
            <a:r>
              <a:rPr lang="en-US" sz="1200"/>
              <a:t>  FakeDatabase._internal();</a:t>
            </a:r>
          </a:p>
          <a:p>
            <a:r>
              <a:rPr lang="en-US" sz="1200"/>
              <a:t>  static final FakeDatabase instance = FakeDatabase._internal();</a:t>
            </a:r>
          </a:p>
          <a:p>
            <a:endParaRPr lang="en-US" sz="1200"/>
          </a:p>
          <a:p>
            <a:r>
              <a:rPr lang="en-US" sz="1200"/>
              <a:t>  // Simulate a table: id, title, isDone</a:t>
            </a:r>
          </a:p>
          <a:p>
            <a:r>
              <a:rPr lang="en-US" sz="1200"/>
              <a:t>  final List&lt;Map&lt;String, dynamic&gt;&gt; _table = [];</a:t>
            </a:r>
          </a:p>
          <a:p>
            <a:r>
              <a:rPr lang="en-US" sz="1200"/>
              <a:t>  int _autoId = 0;</a:t>
            </a:r>
          </a:p>
          <a:p>
            <a:endParaRPr lang="en-US" sz="1200"/>
          </a:p>
          <a:p>
            <a:r>
              <a:rPr lang="en-US" sz="1200"/>
              <a:t>  /// STEP 3: Query all rows (SELECT * FROM todos ORDER BY id DESC)</a:t>
            </a:r>
          </a:p>
          <a:p>
            <a:r>
              <a:rPr lang="en-US" sz="1200"/>
              <a:t>  Future&lt;List&lt;Map&lt;String, dynamic&gt;&gt;&gt; queryAll() async {</a:t>
            </a:r>
          </a:p>
          <a:p>
            <a:r>
              <a:rPr lang="en-US" sz="1200"/>
              <a:t>    await Future.delayed(const Duration(milliseconds: 80)); // fake delay</a:t>
            </a:r>
          </a:p>
          <a:p>
            <a:r>
              <a:rPr lang="en-US" sz="1200"/>
              <a:t>    return List.from(_table.reversed);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4: Insert a new row (INSERT)</a:t>
            </a:r>
          </a:p>
          <a:p>
            <a:r>
              <a:rPr lang="en-US" sz="1200"/>
              <a:t>  Future&lt;int&gt; insert(String title) async {</a:t>
            </a:r>
          </a:p>
          <a:p>
            <a:r>
              <a:rPr lang="en-US" sz="1200"/>
              <a:t>    await Future.delayed(const Duration(milliseconds: 80));</a:t>
            </a:r>
          </a:p>
          <a:p>
            <a:r>
              <a:rPr lang="en-US" sz="1200"/>
              <a:t>    final row = {</a:t>
            </a:r>
          </a:p>
          <a:p>
            <a:r>
              <a:rPr lang="en-US" sz="1200"/>
              <a:t>      "id": ++_autoId,</a:t>
            </a:r>
          </a:p>
          <a:p>
            <a:r>
              <a:rPr lang="en-US" sz="1200"/>
              <a:t>      "title": title,</a:t>
            </a:r>
          </a:p>
          <a:p>
            <a:r>
              <a:rPr lang="en-US" sz="1200"/>
              <a:t>      "isDone": 0,</a:t>
            </a:r>
          </a:p>
          <a:p>
            <a:r>
              <a:rPr lang="en-US" sz="1200"/>
              <a:t>    };</a:t>
            </a:r>
          </a:p>
          <a:p>
            <a:r>
              <a:rPr lang="en-US" sz="1200"/>
              <a:t>    _table.add(row);</a:t>
            </a:r>
          </a:p>
          <a:p>
            <a:r>
              <a:rPr lang="en-US" sz="1200"/>
              <a:t>    return row["id"] as int; // explicit cast to fix DartPad error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5: Update an existing row (UPDATE)</a:t>
            </a:r>
          </a:p>
          <a:p>
            <a:r>
              <a:rPr lang="en-US" sz="1200"/>
              <a:t>  Future&lt;void&gt; update(int id, bool isDone) async {</a:t>
            </a:r>
          </a:p>
          <a:p>
            <a:r>
              <a:rPr lang="en-US" sz="1200"/>
              <a:t>    await Future.delayed(const Duration(milliseconds: 80));</a:t>
            </a:r>
          </a:p>
          <a:p>
            <a:r>
              <a:rPr lang="en-US" sz="1200"/>
              <a:t>    final index = _table.indexWhere((row) =&gt; row["id"] == id);</a:t>
            </a:r>
          </a:p>
          <a:p>
            <a:r>
              <a:rPr lang="en-US" sz="1200"/>
              <a:t>    if (index != -1) {</a:t>
            </a:r>
          </a:p>
          <a:p>
            <a:r>
              <a:rPr lang="en-US" sz="1200"/>
              <a:t>      _table[index]["isDone"] = isDone ? 1 : 0;</a:t>
            </a:r>
          </a:p>
          <a:p>
            <a:r>
              <a:rPr lang="en-US" sz="1200"/>
              <a:t>    }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6: Delete a row (DELETE)</a:t>
            </a:r>
          </a:p>
          <a:p>
            <a:r>
              <a:rPr lang="en-US" sz="1200"/>
              <a:t>  Future&lt;void&gt; delete(int id) async {</a:t>
            </a:r>
          </a:p>
          <a:p>
            <a:r>
              <a:rPr lang="en-US" sz="1200"/>
              <a:t>    await Future.delayed(const Duration(milliseconds: 80));</a:t>
            </a:r>
          </a:p>
          <a:p>
            <a:r>
              <a:rPr lang="en-US" sz="1200"/>
              <a:t>    _table.removeWhere((row) =&gt; row["id"] == id);</a:t>
            </a:r>
          </a:p>
          <a:p>
            <a:r>
              <a:rPr lang="en-US" sz="1200"/>
              <a:t>  }</a:t>
            </a:r>
          </a:p>
          <a:p>
            <a:r>
              <a:rPr lang="en-US" sz="1200"/>
              <a:t>}</a:t>
            </a:r>
          </a:p>
          <a:p>
            <a:endParaRPr lang="en-US" sz="1200"/>
          </a:p>
          <a:p>
            <a:r>
              <a:rPr lang="en-US" sz="1200"/>
              <a:t>/// STEP 1: Todo model mapped from/to DB rows</a:t>
            </a:r>
          </a:p>
          <a:p>
            <a:r>
              <a:rPr lang="en-US" sz="1200"/>
              <a:t>class Todo {</a:t>
            </a:r>
          </a:p>
          <a:p>
            <a:r>
              <a:rPr lang="en-US" sz="1200"/>
              <a:t>  final int id;</a:t>
            </a:r>
          </a:p>
          <a:p>
            <a:r>
              <a:rPr lang="en-US" sz="1200"/>
              <a:t>  final String title;</a:t>
            </a:r>
          </a:p>
          <a:p>
            <a:r>
              <a:rPr lang="en-US" sz="1200"/>
              <a:t>  final bool isDone;</a:t>
            </a:r>
          </a:p>
          <a:p>
            <a:endParaRPr lang="en-US" sz="1200"/>
          </a:p>
          <a:p>
            <a:r>
              <a:rPr lang="en-US" sz="1200"/>
              <a:t>  Todo({</a:t>
            </a:r>
          </a:p>
          <a:p>
            <a:r>
              <a:rPr lang="en-US" sz="1200"/>
              <a:t>    required this.id,</a:t>
            </a:r>
          </a:p>
          <a:p>
            <a:r>
              <a:rPr lang="en-US" sz="1200"/>
              <a:t>    required this.title,</a:t>
            </a:r>
          </a:p>
          <a:p>
            <a:r>
              <a:rPr lang="en-US" sz="1200"/>
              <a:t>    required this.isDone,</a:t>
            </a:r>
          </a:p>
          <a:p>
            <a:r>
              <a:rPr lang="en-US" sz="1200"/>
              <a:t>  });</a:t>
            </a:r>
          </a:p>
          <a:p>
            <a:endParaRPr lang="en-US" sz="1200"/>
          </a:p>
          <a:p>
            <a:r>
              <a:rPr lang="en-US" sz="1200"/>
              <a:t>  factory Todo.fromMap(Map&lt;String, dynamic&gt; map) {</a:t>
            </a:r>
          </a:p>
          <a:p>
            <a:r>
              <a:rPr lang="en-US" sz="1200"/>
              <a:t>    return Todo(</a:t>
            </a:r>
          </a:p>
          <a:p>
            <a:r>
              <a:rPr lang="en-US" sz="1200"/>
              <a:t>      id: map["id"],</a:t>
            </a:r>
          </a:p>
          <a:p>
            <a:r>
              <a:rPr lang="en-US" sz="1200"/>
              <a:t>      title: map["title"],</a:t>
            </a:r>
          </a:p>
          <a:p>
            <a:r>
              <a:rPr lang="en-US" sz="1200"/>
              <a:t>      isDone: map["isDone"] == 1,</a:t>
            </a:r>
          </a:p>
          <a:p>
            <a:r>
              <a:rPr lang="en-US" sz="1200"/>
              <a:t>    );</a:t>
            </a:r>
          </a:p>
          <a:p>
            <a:r>
              <a:rPr lang="en-US" sz="1200"/>
              <a:t>  }</a:t>
            </a:r>
          </a:p>
          <a:p>
            <a:r>
              <a:rPr lang="en-US" sz="1200"/>
              <a:t>}</a:t>
            </a:r>
          </a:p>
          <a:p>
            <a:endParaRPr lang="en-US" sz="1200"/>
          </a:p>
          <a:p>
            <a:r>
              <a:rPr lang="en-US" sz="1200"/>
              <a:t>/// STEP 3–7: Main Todo list screen (load, add, update, delete)</a:t>
            </a:r>
          </a:p>
          <a:p>
            <a:r>
              <a:rPr lang="en-US" sz="1200"/>
              <a:t>class TodoListScreen extends StatefulWidget {</a:t>
            </a:r>
          </a:p>
          <a:p>
            <a:r>
              <a:rPr lang="en-US" sz="1200"/>
              <a:t>  const TodoListScreen({super.key});</a:t>
            </a:r>
          </a:p>
          <a:p>
            <a:endParaRPr lang="en-US" sz="1200"/>
          </a:p>
          <a:p>
            <a:r>
              <a:rPr lang="en-US" sz="1200"/>
              <a:t>  @override</a:t>
            </a:r>
          </a:p>
          <a:p>
            <a:r>
              <a:rPr lang="en-US" sz="1200"/>
              <a:t>  State&lt;TodoListScreen&gt; createState() =&gt; _TodoListScreenState();</a:t>
            </a:r>
          </a:p>
          <a:p>
            <a:r>
              <a:rPr lang="en-US" sz="1200"/>
              <a:t>}</a:t>
            </a:r>
          </a:p>
          <a:p>
            <a:endParaRPr lang="en-US" sz="1200"/>
          </a:p>
          <a:p>
            <a:r>
              <a:rPr lang="en-US" sz="1200"/>
              <a:t>class _TodoListScreenState extends State&lt;TodoListScreen&gt; {</a:t>
            </a:r>
          </a:p>
          <a:p>
            <a:r>
              <a:rPr lang="en-US" sz="1200"/>
              <a:t>  final db = FakeDatabase.instance;</a:t>
            </a:r>
          </a:p>
          <a:p>
            <a:r>
              <a:rPr lang="en-US" sz="1200"/>
              <a:t>  List&lt;Todo&gt; todos = [];</a:t>
            </a:r>
          </a:p>
          <a:p>
            <a:r>
              <a:rPr lang="en-US" sz="1200"/>
              <a:t>  bool loading = true;</a:t>
            </a:r>
          </a:p>
          <a:p>
            <a:endParaRPr lang="en-US" sz="1200"/>
          </a:p>
          <a:p>
            <a:r>
              <a:rPr lang="en-US" sz="1200"/>
              <a:t>  @override</a:t>
            </a:r>
          </a:p>
          <a:p>
            <a:r>
              <a:rPr lang="en-US" sz="1200"/>
              <a:t>  void initState() {</a:t>
            </a:r>
          </a:p>
          <a:p>
            <a:r>
              <a:rPr lang="en-US" sz="1200"/>
              <a:t>    super.initState();</a:t>
            </a:r>
          </a:p>
          <a:p>
            <a:r>
              <a:rPr lang="en-US" sz="1200"/>
              <a:t>    _loadTodos(); // STEP 3: Load data on startup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3: Load all todos from "DB" and map to model</a:t>
            </a:r>
          </a:p>
          <a:p>
            <a:r>
              <a:rPr lang="en-US" sz="1200"/>
              <a:t>  Future&lt;void&gt; _loadTodos() async {</a:t>
            </a:r>
          </a:p>
          <a:p>
            <a:r>
              <a:rPr lang="en-US" sz="1200"/>
              <a:t>    setState(() =&gt; loading = true);</a:t>
            </a:r>
          </a:p>
          <a:p>
            <a:endParaRPr lang="en-US" sz="1200"/>
          </a:p>
          <a:p>
            <a:r>
              <a:rPr lang="en-US" sz="1200"/>
              <a:t>    final rows = await db.queryAll();</a:t>
            </a:r>
          </a:p>
          <a:p>
            <a:r>
              <a:rPr lang="en-US" sz="1200"/>
              <a:t>    todos = rows.map((e) =&gt; Todo.fromMap(e)).toList();</a:t>
            </a:r>
          </a:p>
          <a:p>
            <a:endParaRPr lang="en-US" sz="1200"/>
          </a:p>
          <a:p>
            <a:r>
              <a:rPr lang="en-US" sz="1200"/>
              <a:t>    setState(() =&gt; loading = false);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4: Add new todo via dialog + insert into DB</a:t>
            </a:r>
          </a:p>
          <a:p>
            <a:r>
              <a:rPr lang="en-US" sz="1200"/>
              <a:t>  Future&lt;void&gt; _addTodo() async {</a:t>
            </a:r>
          </a:p>
          <a:p>
            <a:r>
              <a:rPr lang="en-US" sz="1200"/>
              <a:t>    final controller = TextEditingController();</a:t>
            </a:r>
          </a:p>
          <a:p>
            <a:endParaRPr lang="en-US" sz="1200"/>
          </a:p>
          <a:p>
            <a:r>
              <a:rPr lang="en-US" sz="1200"/>
              <a:t>    final result = await showDialog&lt;String&gt;(</a:t>
            </a:r>
          </a:p>
          <a:p>
            <a:r>
              <a:rPr lang="en-US" sz="1200"/>
              <a:t>      context: context,</a:t>
            </a:r>
          </a:p>
          <a:p>
            <a:r>
              <a:rPr lang="en-US" sz="1200"/>
              <a:t>      builder: (context) {</a:t>
            </a:r>
          </a:p>
          <a:p>
            <a:r>
              <a:rPr lang="en-US" sz="1200"/>
              <a:t>        return AlertDialog(</a:t>
            </a:r>
          </a:p>
          <a:p>
            <a:r>
              <a:rPr lang="en-US" sz="1200"/>
              <a:t>          title: const Text("New Task"),</a:t>
            </a:r>
          </a:p>
          <a:p>
            <a:r>
              <a:rPr lang="en-US" sz="1200"/>
              <a:t>          content: TextField(</a:t>
            </a:r>
          </a:p>
          <a:p>
            <a:r>
              <a:rPr lang="en-US" sz="1200"/>
              <a:t>            controller: controller,</a:t>
            </a:r>
          </a:p>
          <a:p>
            <a:r>
              <a:rPr lang="en-US" sz="1200"/>
              <a:t>            autofocus: true,</a:t>
            </a:r>
          </a:p>
          <a:p>
            <a:r>
              <a:rPr lang="en-US" sz="1200"/>
              <a:t>            decoration: const InputDecoration(hintText: "Enter task..."),</a:t>
            </a:r>
          </a:p>
          <a:p>
            <a:r>
              <a:rPr lang="en-US" sz="1200"/>
              <a:t>          ),</a:t>
            </a:r>
          </a:p>
          <a:p>
            <a:r>
              <a:rPr lang="en-US" sz="1200"/>
              <a:t>          actions: [</a:t>
            </a:r>
          </a:p>
          <a:p>
            <a:r>
              <a:rPr lang="en-US" sz="1200"/>
              <a:t>            TextButton(</a:t>
            </a:r>
          </a:p>
          <a:p>
            <a:r>
              <a:rPr lang="en-US" sz="1200"/>
              <a:t>              onPressed: () =&gt; Navigator.pop(context),</a:t>
            </a:r>
          </a:p>
          <a:p>
            <a:r>
              <a:rPr lang="en-US" sz="1200"/>
              <a:t>              child: const Text("Cancel"),</a:t>
            </a:r>
          </a:p>
          <a:p>
            <a:r>
              <a:rPr lang="en-US" sz="1200"/>
              <a:t>            ),</a:t>
            </a:r>
          </a:p>
          <a:p>
            <a:r>
              <a:rPr lang="en-US" sz="1200"/>
              <a:t>            ElevatedButton(</a:t>
            </a:r>
          </a:p>
          <a:p>
            <a:r>
              <a:rPr lang="en-US" sz="1200"/>
              <a:t>              onPressed: () {</a:t>
            </a:r>
          </a:p>
          <a:p>
            <a:r>
              <a:rPr lang="en-US" sz="1200"/>
              <a:t>                if (controller.text.trim().isNotEmpty) {</a:t>
            </a:r>
          </a:p>
          <a:p>
            <a:r>
              <a:rPr lang="en-US" sz="1200"/>
              <a:t>                  Navigator.pop(context, controller.text.trim());</a:t>
            </a:r>
          </a:p>
          <a:p>
            <a:r>
              <a:rPr lang="en-US" sz="1200"/>
              <a:t>                }</a:t>
            </a:r>
          </a:p>
          <a:p>
            <a:r>
              <a:rPr lang="en-US" sz="1200"/>
              <a:t>              },</a:t>
            </a:r>
          </a:p>
          <a:p>
            <a:r>
              <a:rPr lang="en-US" sz="1200"/>
              <a:t>              child: const Text("Add"),</a:t>
            </a:r>
          </a:p>
          <a:p>
            <a:r>
              <a:rPr lang="en-US" sz="1200"/>
              <a:t>            ),</a:t>
            </a:r>
          </a:p>
          <a:p>
            <a:r>
              <a:rPr lang="en-US" sz="1200"/>
              <a:t>          ],</a:t>
            </a:r>
          </a:p>
          <a:p>
            <a:r>
              <a:rPr lang="en-US" sz="1200"/>
              <a:t>        );</a:t>
            </a:r>
          </a:p>
          <a:p>
            <a:r>
              <a:rPr lang="en-US" sz="1200"/>
              <a:t>      },</a:t>
            </a:r>
          </a:p>
          <a:p>
            <a:r>
              <a:rPr lang="en-US" sz="1200"/>
              <a:t>    );</a:t>
            </a:r>
          </a:p>
          <a:p>
            <a:endParaRPr lang="en-US" sz="1200"/>
          </a:p>
          <a:p>
            <a:r>
              <a:rPr lang="en-US" sz="1200"/>
              <a:t>    if (result != null) {</a:t>
            </a:r>
          </a:p>
          <a:p>
            <a:r>
              <a:rPr lang="en-US" sz="1200"/>
              <a:t>      await db.insert(result); // INSERT</a:t>
            </a:r>
          </a:p>
          <a:p>
            <a:r>
              <a:rPr lang="en-US" sz="1200"/>
              <a:t>      _loadTodos();            // Refresh UI</a:t>
            </a:r>
          </a:p>
          <a:p>
            <a:r>
              <a:rPr lang="en-US" sz="1200"/>
              <a:t>    }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5: Toggle completed state and update DB</a:t>
            </a:r>
          </a:p>
          <a:p>
            <a:r>
              <a:rPr lang="en-US" sz="1200"/>
              <a:t>  Future&lt;void&gt; _toggle(Todo todo) async {</a:t>
            </a:r>
          </a:p>
          <a:p>
            <a:r>
              <a:rPr lang="en-US" sz="1200"/>
              <a:t>    await db.update(todo.id, !todo.isDone); // UPDATE</a:t>
            </a:r>
          </a:p>
          <a:p>
            <a:r>
              <a:rPr lang="en-US" sz="1200"/>
              <a:t>    _loadTodos();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6: Delete todo when swiped</a:t>
            </a:r>
          </a:p>
          <a:p>
            <a:r>
              <a:rPr lang="en-US" sz="1200"/>
              <a:t>  Future&lt;void&gt; _delete(Todo todo) async {</a:t>
            </a:r>
          </a:p>
          <a:p>
            <a:r>
              <a:rPr lang="en-US" sz="1200"/>
              <a:t>    await db.delete(todo.id); // DELETE</a:t>
            </a:r>
          </a:p>
          <a:p>
            <a:r>
              <a:rPr lang="en-US" sz="1200"/>
              <a:t>    _loadTodos();</a:t>
            </a:r>
          </a:p>
          <a:p>
            <a:r>
              <a:rPr lang="en-US" sz="1200"/>
              <a:t>  }</a:t>
            </a:r>
          </a:p>
          <a:p>
            <a:endParaRPr lang="en-US" sz="1200"/>
          </a:p>
          <a:p>
            <a:r>
              <a:rPr lang="en-US" sz="1200"/>
              <a:t>  /// STEP 7: Build UI to display and interact with todos</a:t>
            </a:r>
          </a:p>
          <a:p>
            <a:r>
              <a:rPr lang="en-US" sz="1200"/>
              <a:t>  @override</a:t>
            </a:r>
          </a:p>
          <a:p>
            <a:r>
              <a:rPr lang="en-US" sz="1200"/>
              <a:t>  Widget build(BuildContext context) {</a:t>
            </a:r>
          </a:p>
          <a:p>
            <a:r>
              <a:rPr lang="en-US" sz="1200"/>
              <a:t>    return Scaffold(</a:t>
            </a:r>
          </a:p>
          <a:p>
            <a:r>
              <a:rPr lang="en-US" sz="1200"/>
              <a:t>      appBar: AppBar(title: const Text("Demo 9.3 – Fake SQLite")),</a:t>
            </a:r>
          </a:p>
          <a:p>
            <a:r>
              <a:rPr lang="en-US" sz="1200"/>
              <a:t>      floatingActionButton: FloatingActionButton(</a:t>
            </a:r>
          </a:p>
          <a:p>
            <a:r>
              <a:rPr lang="en-US" sz="1200"/>
              <a:t>        onPressed: _addTodo,</a:t>
            </a:r>
          </a:p>
          <a:p>
            <a:r>
              <a:rPr lang="en-US" sz="1200"/>
              <a:t>        child: const Icon(Icons.add),</a:t>
            </a:r>
          </a:p>
          <a:p>
            <a:r>
              <a:rPr lang="en-US" sz="1200"/>
              <a:t>      ),</a:t>
            </a:r>
          </a:p>
          <a:p>
            <a:r>
              <a:rPr lang="en-US" sz="1200"/>
              <a:t>      body: loading</a:t>
            </a:r>
          </a:p>
          <a:p>
            <a:r>
              <a:rPr lang="en-US" sz="1200"/>
              <a:t>          // Loading state</a:t>
            </a:r>
          </a:p>
          <a:p>
            <a:r>
              <a:rPr lang="en-US" sz="1200"/>
              <a:t>          ? const Center(child: CircularProgressIndicator())</a:t>
            </a:r>
          </a:p>
          <a:p>
            <a:r>
              <a:rPr lang="en-US" sz="1200"/>
              <a:t>          : todos.isEmpty</a:t>
            </a:r>
          </a:p>
          <a:p>
            <a:r>
              <a:rPr lang="en-US" sz="1200"/>
              <a:t>              // Empty state</a:t>
            </a:r>
          </a:p>
          <a:p>
            <a:r>
              <a:rPr lang="en-US" sz="1200"/>
              <a:t>              ? const Center(child: Text("No tasks yet. Tap + to add."))</a:t>
            </a:r>
          </a:p>
          <a:p>
            <a:r>
              <a:rPr lang="en-US" sz="1200"/>
              <a:t>              // List of todos</a:t>
            </a:r>
          </a:p>
          <a:p>
            <a:r>
              <a:rPr lang="en-US" sz="1200"/>
              <a:t>              : ListView.builder(</a:t>
            </a:r>
          </a:p>
          <a:p>
            <a:r>
              <a:rPr lang="en-US" sz="1200"/>
              <a:t>                  itemCount: todos.length,</a:t>
            </a:r>
          </a:p>
          <a:p>
            <a:r>
              <a:rPr lang="en-US" sz="1200"/>
              <a:t>                  itemBuilder: (_, i) {</a:t>
            </a:r>
          </a:p>
          <a:p>
            <a:r>
              <a:rPr lang="en-US" sz="1200"/>
              <a:t>                    final todo = todos[i];</a:t>
            </a:r>
          </a:p>
          <a:p>
            <a:r>
              <a:rPr lang="en-US" sz="1200"/>
              <a:t>                    return Dismissible(</a:t>
            </a:r>
          </a:p>
          <a:p>
            <a:r>
              <a:rPr lang="en-US" sz="1200"/>
              <a:t>                      key: ValueKey(todo.id),</a:t>
            </a:r>
          </a:p>
          <a:p>
            <a:r>
              <a:rPr lang="en-US" sz="1200"/>
              <a:t>                      direction: DismissDirection.endToStart,</a:t>
            </a:r>
          </a:p>
          <a:p>
            <a:r>
              <a:rPr lang="en-US" sz="1200"/>
              <a:t>                      background: Container(</a:t>
            </a:r>
          </a:p>
          <a:p>
            <a:r>
              <a:rPr lang="en-US" sz="1200"/>
              <a:t>                        color: Colors.red,</a:t>
            </a:r>
          </a:p>
          <a:p>
            <a:r>
              <a:rPr lang="en-US" sz="1200"/>
              <a:t>                        alignment: Alignment.centerRight,</a:t>
            </a:r>
          </a:p>
          <a:p>
            <a:r>
              <a:rPr lang="en-US" sz="1200"/>
              <a:t>                        padding: const EdgeInsets.symmetric(horizontal: 20),</a:t>
            </a:r>
          </a:p>
          <a:p>
            <a:r>
              <a:rPr lang="en-US" sz="1200"/>
              <a:t>                        child: const Icon(Icons.delete, color: Colors.white),</a:t>
            </a:r>
          </a:p>
          <a:p>
            <a:r>
              <a:rPr lang="en-US" sz="1200"/>
              <a:t>                      ),</a:t>
            </a:r>
          </a:p>
          <a:p>
            <a:r>
              <a:rPr lang="en-US" sz="1200"/>
              <a:t>                      onDismissed: (_) =&gt; _delete(todo),</a:t>
            </a:r>
          </a:p>
          <a:p>
            <a:r>
              <a:rPr lang="en-US" sz="1200"/>
              <a:t>                      child: CheckboxListTile(</a:t>
            </a:r>
          </a:p>
          <a:p>
            <a:r>
              <a:rPr lang="en-US" sz="1200"/>
              <a:t>                        value: todo.isDone,</a:t>
            </a:r>
          </a:p>
          <a:p>
            <a:r>
              <a:rPr lang="en-US" sz="1200"/>
              <a:t>                        title: Text(</a:t>
            </a:r>
          </a:p>
          <a:p>
            <a:r>
              <a:rPr lang="en-US" sz="1200"/>
              <a:t>                          todo.title,</a:t>
            </a:r>
          </a:p>
          <a:p>
            <a:r>
              <a:rPr lang="en-US" sz="1200"/>
              <a:t>                          style: todo.isDone</a:t>
            </a:r>
          </a:p>
          <a:p>
            <a:r>
              <a:rPr lang="en-US" sz="1200"/>
              <a:t>                              ? const TextStyle(</a:t>
            </a:r>
          </a:p>
          <a:p>
            <a:r>
              <a:rPr lang="en-US" sz="1200"/>
              <a:t>                                  decoration: TextDecoration.lineThrough,</a:t>
            </a:r>
          </a:p>
          <a:p>
            <a:r>
              <a:rPr lang="en-US" sz="1200"/>
              <a:t>                                  color: Colors.grey,</a:t>
            </a:r>
          </a:p>
          <a:p>
            <a:r>
              <a:rPr lang="en-US" sz="1200"/>
              <a:t>                                )</a:t>
            </a:r>
          </a:p>
          <a:p>
            <a:r>
              <a:rPr lang="en-US" sz="1200"/>
              <a:t>                              : null,</a:t>
            </a:r>
          </a:p>
          <a:p>
            <a:r>
              <a:rPr lang="en-US" sz="1200"/>
              <a:t>                        ),</a:t>
            </a:r>
          </a:p>
          <a:p>
            <a:r>
              <a:rPr lang="en-US" sz="1200"/>
              <a:t>                        onChanged: (_) =&gt; _toggle(todo),</a:t>
            </a:r>
          </a:p>
          <a:p>
            <a:r>
              <a:rPr lang="en-US" sz="1200"/>
              <a:t>                      ),</a:t>
            </a:r>
          </a:p>
          <a:p>
            <a:r>
              <a:rPr lang="en-US" sz="1200"/>
              <a:t>                    );</a:t>
            </a:r>
          </a:p>
          <a:p>
            <a:r>
              <a:rPr lang="en-US" sz="1200"/>
              <a:t>                  },</a:t>
            </a:r>
          </a:p>
          <a:p>
            <a:r>
              <a:rPr lang="en-US" sz="1200"/>
              <a:t>                ),</a:t>
            </a:r>
          </a:p>
          <a:p>
            <a:r>
              <a:rPr lang="en-US" sz="1200"/>
              <a:t>    );</a:t>
            </a:r>
          </a:p>
          <a:p>
            <a:r>
              <a:rPr lang="en-US" sz="1200"/>
              <a:t>  }</a:t>
            </a:r>
          </a:p>
          <a:p>
            <a:r>
              <a:rPr lang="en-US" sz="1200"/>
              <a:t>}</a:t>
            </a:r>
          </a:p>
          <a:p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762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7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88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AE39-B09B-78B6-8A27-644FB76A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80167-93E5-E6AE-25B3-FE45D559F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D1FD2-BFE6-CCCB-0B0F-2A8610882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 </a:t>
            </a:r>
            <a:r>
              <a:rPr lang="en-US" sz="1200"/>
              <a:t>9.4 - Mini Integrated </a:t>
            </a:r>
          </a:p>
          <a:p>
            <a:endParaRPr lang="en-US" sz="1200"/>
          </a:p>
          <a:p>
            <a:r>
              <a:rPr lang="en-US"/>
              <a:t>import 'package:flutter/material.dart';</a:t>
            </a:r>
          </a:p>
          <a:p>
            <a:endParaRPr lang="en-US"/>
          </a:p>
          <a:p>
            <a:r>
              <a:rPr lang="en-US"/>
              <a:t>void main() {</a:t>
            </a:r>
          </a:p>
          <a:p>
            <a:r>
              <a:rPr lang="en-US"/>
              <a:t>  runApp(const MiniStorageMockApp());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/// Root app: 3 tabs + fake theme persistence</a:t>
            </a:r>
          </a:p>
          <a:p>
            <a:r>
              <a:rPr lang="en-US"/>
              <a:t>class MiniStorageMockApp extends StatefulWidget {</a:t>
            </a:r>
          </a:p>
          <a:p>
            <a:r>
              <a:rPr lang="en-US"/>
              <a:t>  const MiniStorageMockApp({super.key});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State&lt;MiniStorageMockApp&gt; createState() =&gt; _MiniStorageMockAppState();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_MiniStorageMockAppState extends State&lt;MiniStorageMockApp&gt; {</a:t>
            </a:r>
          </a:p>
          <a:p>
            <a:r>
              <a:rPr lang="en-US"/>
              <a:t>  bool _isDark = false;</a:t>
            </a:r>
          </a:p>
          <a:p>
            <a:r>
              <a:rPr lang="en-US"/>
              <a:t>  bool _prefsLoaded = false;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void initState() {</a:t>
            </a:r>
          </a:p>
          <a:p>
            <a:r>
              <a:rPr lang="en-US"/>
              <a:t>    super.initState();</a:t>
            </a:r>
          </a:p>
          <a:p>
            <a:r>
              <a:rPr lang="en-US"/>
              <a:t>    _loadTheme();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// Fake "SharedPreferences" (in-memory only)</a:t>
            </a:r>
          </a:p>
          <a:p>
            <a:r>
              <a:rPr lang="en-US"/>
              <a:t>  Future&lt;void&gt; _loadTheme() async {</a:t>
            </a:r>
          </a:p>
          <a:p>
            <a:r>
              <a:rPr lang="en-US"/>
              <a:t>    final prefs = await FakePrefs.getInstance();</a:t>
            </a:r>
          </a:p>
          <a:p>
            <a:r>
              <a:rPr lang="en-US"/>
              <a:t>    setState(() {</a:t>
            </a:r>
          </a:p>
          <a:p>
            <a:r>
              <a:rPr lang="en-US"/>
              <a:t>      _isDark = prefs.getBool('isDarkMode') ?? false;</a:t>
            </a:r>
          </a:p>
          <a:p>
            <a:r>
              <a:rPr lang="en-US"/>
              <a:t>      _prefsLoaded = true;</a:t>
            </a:r>
          </a:p>
          <a:p>
            <a:r>
              <a:rPr lang="en-US"/>
              <a:t>    });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_toggleTheme(bool value) async {</a:t>
            </a:r>
          </a:p>
          <a:p>
            <a:r>
              <a:rPr lang="en-US"/>
              <a:t>    final prefs = await FakePrefs.getInstance();</a:t>
            </a:r>
          </a:p>
          <a:p>
            <a:r>
              <a:rPr lang="en-US"/>
              <a:t>    await prefs.setBool('isDarkMode', value);</a:t>
            </a:r>
          </a:p>
          <a:p>
            <a:r>
              <a:rPr lang="en-US"/>
              <a:t>    setState(() {</a:t>
            </a:r>
          </a:p>
          <a:p>
            <a:r>
              <a:rPr lang="en-US"/>
              <a:t>      _isDark = value;</a:t>
            </a:r>
          </a:p>
          <a:p>
            <a:r>
              <a:rPr lang="en-US"/>
              <a:t>    });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if (!_prefsLoaded) {</a:t>
            </a:r>
          </a:p>
          <a:p>
            <a:r>
              <a:rPr lang="en-US"/>
              <a:t>      return MaterialApp(</a:t>
            </a:r>
          </a:p>
          <a:p>
            <a:r>
              <a:rPr lang="en-US"/>
              <a:t>        debugShowCheckedModeBanner: false,</a:t>
            </a:r>
          </a:p>
          <a:p>
            <a:r>
              <a:rPr lang="en-US"/>
              <a:t>        theme: ThemeData.dark(),</a:t>
            </a:r>
          </a:p>
          <a:p>
            <a:r>
              <a:rPr lang="en-US"/>
              <a:t>        home: const Scaffold(</a:t>
            </a:r>
          </a:p>
          <a:p>
            <a:r>
              <a:rPr lang="en-US"/>
              <a:t>          body: Center(child: CircularProgressIndicator()),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final lightTheme = ThemeData(</a:t>
            </a:r>
          </a:p>
          <a:p>
            <a:r>
              <a:rPr lang="en-US"/>
              <a:t>      colorScheme: ColorScheme.fromSeed(</a:t>
            </a:r>
          </a:p>
          <a:p>
            <a:r>
              <a:rPr lang="en-US"/>
              <a:t>        seedColor: Colors.blue,</a:t>
            </a:r>
          </a:p>
          <a:p>
            <a:r>
              <a:rPr lang="en-US"/>
              <a:t>        brightness: Brightness.light,</a:t>
            </a:r>
          </a:p>
          <a:p>
            <a:r>
              <a:rPr lang="en-US"/>
              <a:t>      ),</a:t>
            </a:r>
          </a:p>
          <a:p>
            <a:r>
              <a:rPr lang="en-US"/>
              <a:t>      useMaterial3: true,</a:t>
            </a:r>
          </a:p>
          <a:p>
            <a:r>
              <a:rPr lang="en-US"/>
              <a:t>    );</a:t>
            </a:r>
          </a:p>
          <a:p>
            <a:endParaRPr lang="en-US"/>
          </a:p>
          <a:p>
            <a:r>
              <a:rPr lang="en-US"/>
              <a:t>    final darkTheme = ThemeData(</a:t>
            </a:r>
          </a:p>
          <a:p>
            <a:r>
              <a:rPr lang="en-US"/>
              <a:t>      colorScheme: ColorScheme.fromSeed(</a:t>
            </a:r>
          </a:p>
          <a:p>
            <a:r>
              <a:rPr lang="en-US"/>
              <a:t>        seedColor: Colors.deepPurple,</a:t>
            </a:r>
          </a:p>
          <a:p>
            <a:r>
              <a:rPr lang="en-US"/>
              <a:t>        brightness: Brightness.dark,</a:t>
            </a:r>
          </a:p>
          <a:p>
            <a:r>
              <a:rPr lang="en-US"/>
              <a:t>      ),</a:t>
            </a:r>
          </a:p>
          <a:p>
            <a:r>
              <a:rPr lang="en-US"/>
              <a:t>      useMaterial3: true,</a:t>
            </a:r>
          </a:p>
          <a:p>
            <a:r>
              <a:rPr lang="en-US"/>
              <a:t>    );</a:t>
            </a:r>
          </a:p>
          <a:p>
            <a:endParaRPr lang="en-US"/>
          </a:p>
          <a:p>
            <a:r>
              <a:rPr lang="en-US"/>
              <a:t>    return MaterialApp(</a:t>
            </a:r>
          </a:p>
          <a:p>
            <a:r>
              <a:rPr lang="en-US"/>
              <a:t>      title: 'Mini Storage Mock Demo',</a:t>
            </a:r>
          </a:p>
          <a:p>
            <a:r>
              <a:rPr lang="en-US"/>
              <a:t>      debugShowCheckedModeBanner: false,</a:t>
            </a:r>
          </a:p>
          <a:p>
            <a:r>
              <a:rPr lang="en-US"/>
              <a:t>      themeMode: _isDark ? ThemeMode.dark : ThemeMode.light,</a:t>
            </a:r>
          </a:p>
          <a:p>
            <a:r>
              <a:rPr lang="en-US"/>
              <a:t>      theme: lightTheme,</a:t>
            </a:r>
          </a:p>
          <a:p>
            <a:r>
              <a:rPr lang="en-US"/>
              <a:t>      darkTheme: darkTheme,</a:t>
            </a:r>
          </a:p>
          <a:p>
            <a:r>
              <a:rPr lang="en-US"/>
              <a:t>      home: DefaultTabController(</a:t>
            </a:r>
          </a:p>
          <a:p>
            <a:r>
              <a:rPr lang="en-US"/>
              <a:t>        length: 3,</a:t>
            </a:r>
          </a:p>
          <a:p>
            <a:r>
              <a:rPr lang="en-US"/>
              <a:t>        child: Scaffold(</a:t>
            </a:r>
          </a:p>
          <a:p>
            <a:r>
              <a:rPr lang="en-US"/>
              <a:t>          appBar: AppBar(</a:t>
            </a:r>
          </a:p>
          <a:p>
            <a:r>
              <a:rPr lang="en-US"/>
              <a:t>            title: const Text('Mini Storage Mock Demo'),</a:t>
            </a:r>
          </a:p>
          <a:p>
            <a:r>
              <a:rPr lang="en-US"/>
              <a:t>            bottom: const TabBar(</a:t>
            </a:r>
          </a:p>
          <a:p>
            <a:r>
              <a:rPr lang="en-US"/>
              <a:t>              tabs: [</a:t>
            </a:r>
          </a:p>
          <a:p>
            <a:r>
              <a:rPr lang="en-US"/>
              <a:t>                Tab(icon: Icon(Icons.settings), text: 'Settings'),</a:t>
            </a:r>
          </a:p>
          <a:p>
            <a:r>
              <a:rPr lang="en-US"/>
              <a:t>                Tab(icon: Icon(Icons.note), text: 'Notes'),</a:t>
            </a:r>
          </a:p>
          <a:p>
            <a:r>
              <a:rPr lang="en-US"/>
              <a:t>                Tab(icon: Icon(Icons.check_box), text: 'Tasks'),</a:t>
            </a:r>
          </a:p>
          <a:p>
            <a:r>
              <a:rPr lang="en-US"/>
              <a:t>              ],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  body: TabBarView(</a:t>
            </a:r>
          </a:p>
          <a:p>
            <a:r>
              <a:rPr lang="en-US"/>
              <a:t>            children: [</a:t>
            </a:r>
          </a:p>
          <a:p>
            <a:r>
              <a:rPr lang="en-US"/>
              <a:t>              SettingsTab(</a:t>
            </a:r>
          </a:p>
          <a:p>
            <a:r>
              <a:rPr lang="en-US"/>
              <a:t>                isDark: _isDark,</a:t>
            </a:r>
          </a:p>
          <a:p>
            <a:r>
              <a:rPr lang="en-US"/>
              <a:t>                onThemeChanged: _toggleTheme,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const NotesTab(),</a:t>
            </a:r>
          </a:p>
          <a:p>
            <a:r>
              <a:rPr lang="en-US"/>
              <a:t>              const TasksTab(),</a:t>
            </a:r>
          </a:p>
          <a:p>
            <a:r>
              <a:rPr lang="en-US"/>
              <a:t>            ],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 Fake SharedPreferences (Part: Theme Mode)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</a:t>
            </a:r>
          </a:p>
          <a:p>
            <a:endParaRPr lang="en-US"/>
          </a:p>
          <a:p>
            <a:r>
              <a:rPr lang="en-US"/>
              <a:t>class FakePrefs {</a:t>
            </a:r>
          </a:p>
          <a:p>
            <a:r>
              <a:rPr lang="en-US"/>
              <a:t>  FakePrefs._internal();</a:t>
            </a:r>
          </a:p>
          <a:p>
            <a:r>
              <a:rPr lang="en-US"/>
              <a:t>  static final FakePrefs _instance = FakePrefs._internal();</a:t>
            </a:r>
          </a:p>
          <a:p>
            <a:endParaRPr lang="en-US"/>
          </a:p>
          <a:p>
            <a:r>
              <a:rPr lang="en-US"/>
              <a:t>  final Map&lt;String, Object?&gt; _store = {};</a:t>
            </a:r>
          </a:p>
          <a:p>
            <a:endParaRPr lang="en-US"/>
          </a:p>
          <a:p>
            <a:r>
              <a:rPr lang="en-US"/>
              <a:t>  static Future&lt;FakePrefs&gt; getInstance() async {</a:t>
            </a:r>
          </a:p>
          <a:p>
            <a:r>
              <a:rPr lang="en-US"/>
              <a:t>    // simulate async init</a:t>
            </a:r>
          </a:p>
          <a:p>
            <a:r>
              <a:rPr lang="en-US"/>
              <a:t>    await Future.delayed(const Duration(milliseconds: 150));</a:t>
            </a:r>
          </a:p>
          <a:p>
            <a:r>
              <a:rPr lang="en-US"/>
              <a:t>    return _instance;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bool? getBool(String key) {</a:t>
            </a:r>
          </a:p>
          <a:p>
            <a:r>
              <a:rPr lang="en-US"/>
              <a:t>    final v = _store[key];</a:t>
            </a:r>
          </a:p>
          <a:p>
            <a:r>
              <a:rPr lang="en-US"/>
              <a:t>    return v is bool ? v : null;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setBool(String key, bool value) async {</a:t>
            </a:r>
          </a:p>
          <a:p>
            <a:r>
              <a:rPr lang="en-US"/>
              <a:t>    await Future.delayed(const Duration(milliseconds: 80));</a:t>
            </a:r>
          </a:p>
          <a:p>
            <a:r>
              <a:rPr lang="en-US"/>
              <a:t>    _store[key] = value;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 TAB 1: Settings (FakePrefs for theme)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</a:t>
            </a:r>
          </a:p>
          <a:p>
            <a:endParaRPr lang="en-US"/>
          </a:p>
          <a:p>
            <a:r>
              <a:rPr lang="en-US"/>
              <a:t>class SettingsTab extends StatelessWidget {</a:t>
            </a:r>
          </a:p>
          <a:p>
            <a:r>
              <a:rPr lang="en-US"/>
              <a:t>  final bool isDark;</a:t>
            </a:r>
          </a:p>
          <a:p>
            <a:r>
              <a:rPr lang="en-US"/>
              <a:t>  final ValueChanged&lt;bool&gt; onThemeChanged;</a:t>
            </a:r>
          </a:p>
          <a:p>
            <a:endParaRPr lang="en-US"/>
          </a:p>
          <a:p>
            <a:r>
              <a:rPr lang="en-US"/>
              <a:t>  const SettingsTab({</a:t>
            </a:r>
          </a:p>
          <a:p>
            <a:r>
              <a:rPr lang="en-US"/>
              <a:t>    super.key,</a:t>
            </a:r>
          </a:p>
          <a:p>
            <a:r>
              <a:rPr lang="en-US"/>
              <a:t>    required this.isDark,</a:t>
            </a:r>
          </a:p>
          <a:p>
            <a:r>
              <a:rPr lang="en-US"/>
              <a:t>    required this.onThemeChanged,</a:t>
            </a:r>
          </a:p>
          <a:p>
            <a:r>
              <a:rPr lang="en-US"/>
              <a:t>  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ListView(</a:t>
            </a:r>
          </a:p>
          <a:p>
            <a:r>
              <a:rPr lang="en-US"/>
              <a:t>      padding: const EdgeInsets.all(16),</a:t>
            </a:r>
          </a:p>
          <a:p>
            <a:r>
              <a:rPr lang="en-US"/>
              <a:t>      children: [</a:t>
            </a:r>
          </a:p>
          <a:p>
            <a:r>
              <a:rPr lang="en-US"/>
              <a:t>        const Text(</a:t>
            </a:r>
          </a:p>
          <a:p>
            <a:r>
              <a:rPr lang="en-US"/>
              <a:t>          'Theme Settings (FakePrefs)',</a:t>
            </a:r>
          </a:p>
          <a:p>
            <a:r>
              <a:rPr lang="en-US"/>
              <a:t>          style: TextStyle(fontSize: 18, fontWeight: FontWeight.bold),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  const SizedBox(height: 8),</a:t>
            </a:r>
          </a:p>
          <a:p>
            <a:r>
              <a:rPr lang="en-US"/>
              <a:t>        const Text(</a:t>
            </a:r>
          </a:p>
          <a:p>
            <a:r>
              <a:rPr lang="en-US"/>
              <a:t>          'In a real app, this would use SharedPreferences.\n'</a:t>
            </a:r>
          </a:p>
          <a:p>
            <a:r>
              <a:rPr lang="en-US"/>
              <a:t>          'Here we simulate it with FakePrefs (in-memory only).',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  const SizedBox(height: 16),</a:t>
            </a:r>
          </a:p>
          <a:p>
            <a:r>
              <a:rPr lang="en-US"/>
              <a:t>        SwitchListTile(</a:t>
            </a:r>
          </a:p>
          <a:p>
            <a:r>
              <a:rPr lang="en-US"/>
              <a:t>          title: const Text('Enable Dark Mode'),</a:t>
            </a:r>
          </a:p>
          <a:p>
            <a:r>
              <a:rPr lang="en-US"/>
              <a:t>          value: isDark,</a:t>
            </a:r>
          </a:p>
          <a:p>
            <a:r>
              <a:rPr lang="en-US"/>
              <a:t>          onChanged: onThemeChanged,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],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 Fake JSON Store (Part: Local JSON file)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</a:t>
            </a:r>
          </a:p>
          <a:p>
            <a:endParaRPr lang="en-US"/>
          </a:p>
          <a:p>
            <a:r>
              <a:rPr lang="en-US"/>
              <a:t>class FakeJsonNotesStore {</a:t>
            </a:r>
          </a:p>
          <a:p>
            <a:r>
              <a:rPr lang="en-US"/>
              <a:t>  FakeJsonNotesStore._internal();</a:t>
            </a:r>
          </a:p>
          <a:p>
            <a:r>
              <a:rPr lang="en-US"/>
              <a:t>  static final FakeJsonNotesStore instance = FakeJsonNotesStore._internal();</a:t>
            </a:r>
          </a:p>
          <a:p>
            <a:endParaRPr lang="en-US"/>
          </a:p>
          <a:p>
            <a:r>
              <a:rPr lang="en-US"/>
              <a:t>  final List&lt;String&gt; _notes = [];</a:t>
            </a:r>
          </a:p>
          <a:p>
            <a:endParaRPr lang="en-US"/>
          </a:p>
          <a:p>
            <a:r>
              <a:rPr lang="en-US"/>
              <a:t>  Future&lt;List&lt;String&gt;&gt; loadNotes() async {</a:t>
            </a:r>
          </a:p>
          <a:p>
            <a:r>
              <a:rPr lang="en-US"/>
              <a:t>    await Future.delayed(const Duration(milliseconds: 120));</a:t>
            </a:r>
          </a:p>
          <a:p>
            <a:r>
              <a:rPr lang="en-US"/>
              <a:t>    // return a copy to avoid direct mutation</a:t>
            </a:r>
          </a:p>
          <a:p>
            <a:r>
              <a:rPr lang="en-US"/>
              <a:t>    return List&lt;String&gt;.from(_notes);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addNote(String note) async {</a:t>
            </a:r>
          </a:p>
          <a:p>
            <a:r>
              <a:rPr lang="en-US"/>
              <a:t>    await Future.delayed(const Duration(milliseconds: 80));</a:t>
            </a:r>
          </a:p>
          <a:p>
            <a:r>
              <a:rPr lang="en-US"/>
              <a:t>    _notes.add(note);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deleteNoteAt(int index) async {</a:t>
            </a:r>
          </a:p>
          <a:p>
            <a:r>
              <a:rPr lang="en-US"/>
              <a:t>    await Future.delayed(const Duration(milliseconds: 80));</a:t>
            </a:r>
          </a:p>
          <a:p>
            <a:r>
              <a:rPr lang="en-US"/>
              <a:t>    if (index &gt;= 0 &amp;&amp; index &lt; _notes.length) {</a:t>
            </a:r>
          </a:p>
          <a:p>
            <a:r>
              <a:rPr lang="en-US"/>
              <a:t>      _notes.removeAt(index);</a:t>
            </a:r>
          </a:p>
          <a:p>
            <a:r>
              <a:rPr lang="en-US"/>
              <a:t>    }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 TAB 2: Notes (Fake JSON file)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</a:t>
            </a:r>
          </a:p>
          <a:p>
            <a:endParaRPr lang="en-US"/>
          </a:p>
          <a:p>
            <a:r>
              <a:rPr lang="en-US"/>
              <a:t>class NotesTab extends StatefulWidget {</a:t>
            </a:r>
          </a:p>
          <a:p>
            <a:r>
              <a:rPr lang="en-US"/>
              <a:t>  const NotesTab({super.key});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State&lt;NotesTab&gt; createState() =&gt; _NotesTabState();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_NotesTabState extends State&lt;NotesTab&gt; {</a:t>
            </a:r>
          </a:p>
          <a:p>
            <a:r>
              <a:rPr lang="en-US"/>
              <a:t>  bool _loading = true;</a:t>
            </a:r>
          </a:p>
          <a:p>
            <a:r>
              <a:rPr lang="en-US"/>
              <a:t>  List&lt;String&gt; _notes = [];</a:t>
            </a:r>
          </a:p>
          <a:p>
            <a:endParaRPr lang="en-US"/>
          </a:p>
          <a:p>
            <a:r>
              <a:rPr lang="en-US"/>
              <a:t>  final _store = FakeJsonNotesStore.instance;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void initState() {</a:t>
            </a:r>
          </a:p>
          <a:p>
            <a:r>
              <a:rPr lang="en-US"/>
              <a:t>    super.initState();</a:t>
            </a:r>
          </a:p>
          <a:p>
            <a:r>
              <a:rPr lang="en-US"/>
              <a:t>    _loadNotes();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_loadNotes() async {</a:t>
            </a:r>
          </a:p>
          <a:p>
            <a:r>
              <a:rPr lang="en-US"/>
              <a:t>    setState(() =&gt; _loading = true);</a:t>
            </a:r>
          </a:p>
          <a:p>
            <a:r>
              <a:rPr lang="en-US"/>
              <a:t>    _notes = await _store.loadNotes();</a:t>
            </a:r>
          </a:p>
          <a:p>
            <a:r>
              <a:rPr lang="en-US"/>
              <a:t>    setState(() =&gt; _loading = false);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_addNote() async {</a:t>
            </a:r>
          </a:p>
          <a:p>
            <a:r>
              <a:rPr lang="en-US"/>
              <a:t>    final controller = TextEditingController();</a:t>
            </a:r>
          </a:p>
          <a:p>
            <a:endParaRPr lang="en-US"/>
          </a:p>
          <a:p>
            <a:r>
              <a:rPr lang="en-US"/>
              <a:t>    final result = await showDialog&lt;String&gt;(</a:t>
            </a:r>
          </a:p>
          <a:p>
            <a:r>
              <a:rPr lang="en-US"/>
              <a:t>      context: context,</a:t>
            </a:r>
          </a:p>
          <a:p>
            <a:r>
              <a:rPr lang="en-US"/>
              <a:t>      builder: (context) {</a:t>
            </a:r>
          </a:p>
          <a:p>
            <a:r>
              <a:rPr lang="en-US"/>
              <a:t>        return AlertDialog(</a:t>
            </a:r>
          </a:p>
          <a:p>
            <a:r>
              <a:rPr lang="en-US"/>
              <a:t>          title: const Text('New Note'),</a:t>
            </a:r>
          </a:p>
          <a:p>
            <a:r>
              <a:rPr lang="en-US"/>
              <a:t>          content: TextField(</a:t>
            </a:r>
          </a:p>
          <a:p>
            <a:r>
              <a:rPr lang="en-US"/>
              <a:t>            controller: controller,</a:t>
            </a:r>
          </a:p>
          <a:p>
            <a:r>
              <a:rPr lang="en-US"/>
              <a:t>            autofocus: true,</a:t>
            </a:r>
          </a:p>
          <a:p>
            <a:r>
              <a:rPr lang="en-US"/>
              <a:t>            decoration: const InputDecoration(</a:t>
            </a:r>
          </a:p>
          <a:p>
            <a:r>
              <a:rPr lang="en-US"/>
              <a:t>              hintText: 'Type a simple note...',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  maxLines: 3,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  actions: [</a:t>
            </a:r>
          </a:p>
          <a:p>
            <a:r>
              <a:rPr lang="en-US"/>
              <a:t>            TextButton(</a:t>
            </a:r>
          </a:p>
          <a:p>
            <a:r>
              <a:rPr lang="en-US"/>
              <a:t>              onPressed: () =&gt; Navigator.pop(context),</a:t>
            </a:r>
          </a:p>
          <a:p>
            <a:r>
              <a:rPr lang="en-US"/>
              <a:t>              child: const Text('Cancel'),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  ElevatedButton(</a:t>
            </a:r>
          </a:p>
          <a:p>
            <a:r>
              <a:rPr lang="en-US"/>
              <a:t>              onPressed: () {</a:t>
            </a:r>
          </a:p>
          <a:p>
            <a:r>
              <a:rPr lang="en-US"/>
              <a:t>                final text = controller.text.trim();</a:t>
            </a:r>
          </a:p>
          <a:p>
            <a:r>
              <a:rPr lang="en-US"/>
              <a:t>                if (text.isNotEmpty) {</a:t>
            </a:r>
          </a:p>
          <a:p>
            <a:r>
              <a:rPr lang="en-US"/>
              <a:t>                  Navigator.pop(context, text);</a:t>
            </a:r>
          </a:p>
          <a:p>
            <a:r>
              <a:rPr lang="en-US"/>
              <a:t>                }</a:t>
            </a:r>
          </a:p>
          <a:p>
            <a:r>
              <a:rPr lang="en-US"/>
              <a:t>              },</a:t>
            </a:r>
          </a:p>
          <a:p>
            <a:r>
              <a:rPr lang="en-US"/>
              <a:t>              child: const Text('Save'),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],</a:t>
            </a:r>
          </a:p>
          <a:p>
            <a:r>
              <a:rPr lang="en-US"/>
              <a:t>        );</a:t>
            </a:r>
          </a:p>
          <a:p>
            <a:r>
              <a:rPr lang="en-US"/>
              <a:t>      },</a:t>
            </a:r>
          </a:p>
          <a:p>
            <a:r>
              <a:rPr lang="en-US"/>
              <a:t>    );</a:t>
            </a:r>
          </a:p>
          <a:p>
            <a:endParaRPr lang="en-US"/>
          </a:p>
          <a:p>
            <a:r>
              <a:rPr lang="en-US"/>
              <a:t>    if (result != null) {</a:t>
            </a:r>
          </a:p>
          <a:p>
            <a:r>
              <a:rPr lang="en-US"/>
              <a:t>      await _store.addNote(result);</a:t>
            </a:r>
          </a:p>
          <a:p>
            <a:r>
              <a:rPr lang="en-US"/>
              <a:t>      await _loadNotes();</a:t>
            </a:r>
          </a:p>
          <a:p>
            <a:r>
              <a:rPr lang="en-US"/>
              <a:t>    }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_deleteNoteAt(int index) async {</a:t>
            </a:r>
          </a:p>
          <a:p>
            <a:r>
              <a:rPr lang="en-US"/>
              <a:t>    await _store.deleteNoteAt(index);</a:t>
            </a:r>
          </a:p>
          <a:p>
            <a:r>
              <a:rPr lang="en-US"/>
              <a:t>    await _loadNotes();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if (_loading) {</a:t>
            </a:r>
          </a:p>
          <a:p>
            <a:r>
              <a:rPr lang="en-US"/>
              <a:t>      return const Center(child: CircularProgressIndicator());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return Column(</a:t>
            </a:r>
          </a:p>
          <a:p>
            <a:r>
              <a:rPr lang="en-US"/>
              <a:t>      children: [</a:t>
            </a:r>
          </a:p>
          <a:p>
            <a:r>
              <a:rPr lang="en-US"/>
              <a:t>        Padding(</a:t>
            </a:r>
          </a:p>
          <a:p>
            <a:r>
              <a:rPr lang="en-US"/>
              <a:t>          padding: const EdgeInsets.all(16),</a:t>
            </a:r>
          </a:p>
          <a:p>
            <a:r>
              <a:rPr lang="en-US"/>
              <a:t>          child: Row(</a:t>
            </a:r>
          </a:p>
          <a:p>
            <a:r>
              <a:rPr lang="en-US"/>
              <a:t>            children: [</a:t>
            </a:r>
          </a:p>
          <a:p>
            <a:r>
              <a:rPr lang="en-US"/>
              <a:t>              const Expanded(</a:t>
            </a:r>
          </a:p>
          <a:p>
            <a:r>
              <a:rPr lang="en-US"/>
              <a:t>                child: Text(</a:t>
            </a:r>
          </a:p>
          <a:p>
            <a:r>
              <a:rPr lang="en-US"/>
              <a:t>                  'Notes (Fake JSON Store)',</a:t>
            </a:r>
          </a:p>
          <a:p>
            <a:r>
              <a:rPr lang="en-US"/>
              <a:t>                  style: TextStyle(fontSize: 18, fontWeight: FontWeight.bold),</a:t>
            </a:r>
          </a:p>
          <a:p>
            <a:r>
              <a:rPr lang="en-US"/>
              <a:t>                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ElevatedButton.icon(</a:t>
            </a:r>
          </a:p>
          <a:p>
            <a:r>
              <a:rPr lang="en-US"/>
              <a:t>                onPressed: _addNote,</a:t>
            </a:r>
          </a:p>
          <a:p>
            <a:r>
              <a:rPr lang="en-US"/>
              <a:t>                icon: const Icon(Icons.add),</a:t>
            </a:r>
          </a:p>
          <a:p>
            <a:r>
              <a:rPr lang="en-US"/>
              <a:t>                label: const Text('Add'),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],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  Expanded(</a:t>
            </a:r>
          </a:p>
          <a:p>
            <a:r>
              <a:rPr lang="en-US"/>
              <a:t>          child: _notes.isEmpty</a:t>
            </a:r>
          </a:p>
          <a:p>
            <a:r>
              <a:rPr lang="en-US"/>
              <a:t>              ? const Center(child: Text('No notes yet. Tap "Add" to create.'))</a:t>
            </a:r>
          </a:p>
          <a:p>
            <a:r>
              <a:rPr lang="en-US"/>
              <a:t>              : ListView.builder(</a:t>
            </a:r>
          </a:p>
          <a:p>
            <a:r>
              <a:rPr lang="en-US"/>
              <a:t>                  itemCount: _notes.length,</a:t>
            </a:r>
          </a:p>
          <a:p>
            <a:r>
              <a:rPr lang="en-US"/>
              <a:t>                  itemBuilder: (context, index) {</a:t>
            </a:r>
          </a:p>
          <a:p>
            <a:r>
              <a:rPr lang="en-US"/>
              <a:t>                    final note = _notes[index];</a:t>
            </a:r>
          </a:p>
          <a:p>
            <a:r>
              <a:rPr lang="en-US"/>
              <a:t>                    return Dismissible(</a:t>
            </a:r>
          </a:p>
          <a:p>
            <a:r>
              <a:rPr lang="en-US"/>
              <a:t>                      key: ValueKey('$note-$index'),</a:t>
            </a:r>
          </a:p>
          <a:p>
            <a:r>
              <a:rPr lang="en-US"/>
              <a:t>                      direction: DismissDirection.endToStart,</a:t>
            </a:r>
          </a:p>
          <a:p>
            <a:r>
              <a:rPr lang="en-US"/>
              <a:t>                      background: Container(</a:t>
            </a:r>
          </a:p>
          <a:p>
            <a:r>
              <a:rPr lang="en-US"/>
              <a:t>                        color: Colors.red,</a:t>
            </a:r>
          </a:p>
          <a:p>
            <a:r>
              <a:rPr lang="en-US"/>
              <a:t>                        alignment: Alignment.centerRight,</a:t>
            </a:r>
          </a:p>
          <a:p>
            <a:r>
              <a:rPr lang="en-US"/>
              <a:t>                        padding: const EdgeInsets.symmetric(horizontal: 16),</a:t>
            </a:r>
          </a:p>
          <a:p>
            <a:r>
              <a:rPr lang="en-US"/>
              <a:t>                        child: const Icon(Icons.delete, color: Colors.white),</a:t>
            </a:r>
          </a:p>
          <a:p>
            <a:r>
              <a:rPr lang="en-US"/>
              <a:t>                      ),</a:t>
            </a:r>
          </a:p>
          <a:p>
            <a:r>
              <a:rPr lang="en-US"/>
              <a:t>                      onDismissed: (_) =&gt; _deleteNoteAt(index),</a:t>
            </a:r>
          </a:p>
          <a:p>
            <a:r>
              <a:rPr lang="en-US"/>
              <a:t>                      child: ListTile(</a:t>
            </a:r>
          </a:p>
          <a:p>
            <a:r>
              <a:rPr lang="en-US"/>
              <a:t>                        title: Text(note),</a:t>
            </a:r>
          </a:p>
          <a:p>
            <a:r>
              <a:rPr lang="en-US"/>
              <a:t>                      ),</a:t>
            </a:r>
          </a:p>
          <a:p>
            <a:r>
              <a:rPr lang="en-US"/>
              <a:t>                    );</a:t>
            </a:r>
          </a:p>
          <a:p>
            <a:r>
              <a:rPr lang="en-US"/>
              <a:t>                  },</a:t>
            </a:r>
          </a:p>
          <a:p>
            <a:r>
              <a:rPr lang="en-US"/>
              <a:t>      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],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 Fake "SQLite" for Tasks (like FakeDatabase)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</a:t>
            </a:r>
          </a:p>
          <a:p>
            <a:endParaRPr lang="en-US"/>
          </a:p>
          <a:p>
            <a:r>
              <a:rPr lang="en-US"/>
              <a:t>class FakeTaskDb {</a:t>
            </a:r>
          </a:p>
          <a:p>
            <a:r>
              <a:rPr lang="en-US"/>
              <a:t>  FakeTaskDb._internal();</a:t>
            </a:r>
          </a:p>
          <a:p>
            <a:r>
              <a:rPr lang="en-US"/>
              <a:t>  static final FakeTaskDb instance = FakeTaskDb._internal();</a:t>
            </a:r>
          </a:p>
          <a:p>
            <a:endParaRPr lang="en-US"/>
          </a:p>
          <a:p>
            <a:r>
              <a:rPr lang="en-US"/>
              <a:t>  final List&lt;Map&lt;String, dynamic&gt;&gt; _rows = [];</a:t>
            </a:r>
          </a:p>
          <a:p>
            <a:r>
              <a:rPr lang="en-US"/>
              <a:t>  int _autoId = 0;</a:t>
            </a:r>
          </a:p>
          <a:p>
            <a:endParaRPr lang="en-US"/>
          </a:p>
          <a:p>
            <a:r>
              <a:rPr lang="en-US"/>
              <a:t>  Future&lt;List&lt;Map&lt;String, dynamic&gt;&gt;&gt; queryAll() async {</a:t>
            </a:r>
          </a:p>
          <a:p>
            <a:r>
              <a:rPr lang="en-US"/>
              <a:t>    await Future.delayed(const Duration(milliseconds: 100));</a:t>
            </a:r>
          </a:p>
          <a:p>
            <a:r>
              <a:rPr lang="en-US"/>
              <a:t>    return List&lt;Map&lt;String, dynamic&gt;&gt;.from(_rows.reversed);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Future&lt;int&gt; insert(String title) async {</a:t>
            </a:r>
          </a:p>
          <a:p>
            <a:r>
              <a:rPr lang="en-US"/>
              <a:t>    await Future.delayed(const Duration(milliseconds: 80));</a:t>
            </a:r>
          </a:p>
          <a:p>
            <a:r>
              <a:rPr lang="en-US"/>
              <a:t>    final row = {</a:t>
            </a:r>
          </a:p>
          <a:p>
            <a:r>
              <a:rPr lang="en-US"/>
              <a:t>      'id': ++_autoId,</a:t>
            </a:r>
          </a:p>
          <a:p>
            <a:r>
              <a:rPr lang="en-US"/>
              <a:t>      'title': title,</a:t>
            </a:r>
          </a:p>
          <a:p>
            <a:r>
              <a:rPr lang="en-US"/>
              <a:t>      'isDone': 0,</a:t>
            </a:r>
          </a:p>
          <a:p>
            <a:r>
              <a:rPr lang="en-US"/>
              <a:t>    };</a:t>
            </a:r>
          </a:p>
          <a:p>
            <a:r>
              <a:rPr lang="en-US"/>
              <a:t>    _rows.add(row);</a:t>
            </a:r>
          </a:p>
          <a:p>
            <a:r>
              <a:rPr lang="en-US"/>
              <a:t>    return row['id'] as int;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update(int id, bool isDone) async {</a:t>
            </a:r>
          </a:p>
          <a:p>
            <a:r>
              <a:rPr lang="en-US"/>
              <a:t>    await Future.delayed(const Duration(milliseconds: 80));</a:t>
            </a:r>
          </a:p>
          <a:p>
            <a:r>
              <a:rPr lang="en-US"/>
              <a:t>    final index = _rows.indexWhere((r) =&gt; r['id'] == id);</a:t>
            </a:r>
          </a:p>
          <a:p>
            <a:r>
              <a:rPr lang="en-US"/>
              <a:t>    if (index != -1) {</a:t>
            </a:r>
          </a:p>
          <a:p>
            <a:r>
              <a:rPr lang="en-US"/>
              <a:t>      _rows[index]['isDone'] = isDone ? 1 : 0;</a:t>
            </a:r>
          </a:p>
          <a:p>
            <a:r>
              <a:rPr lang="en-US"/>
              <a:t>    }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delete(int id) async {</a:t>
            </a:r>
          </a:p>
          <a:p>
            <a:r>
              <a:rPr lang="en-US"/>
              <a:t>    await Future.delayed(const Duration(milliseconds: 80));</a:t>
            </a:r>
          </a:p>
          <a:p>
            <a:r>
              <a:rPr lang="en-US"/>
              <a:t>    _rows.removeWhere((r) =&gt; r['id'] == id);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Task {</a:t>
            </a:r>
          </a:p>
          <a:p>
            <a:r>
              <a:rPr lang="en-US"/>
              <a:t>  final int id;</a:t>
            </a:r>
          </a:p>
          <a:p>
            <a:r>
              <a:rPr lang="en-US"/>
              <a:t>  final String title;</a:t>
            </a:r>
          </a:p>
          <a:p>
            <a:r>
              <a:rPr lang="en-US"/>
              <a:t>  final bool isDone;</a:t>
            </a:r>
          </a:p>
          <a:p>
            <a:endParaRPr lang="en-US"/>
          </a:p>
          <a:p>
            <a:r>
              <a:rPr lang="en-US"/>
              <a:t>  Task({</a:t>
            </a:r>
          </a:p>
          <a:p>
            <a:r>
              <a:rPr lang="en-US"/>
              <a:t>    required this.id,</a:t>
            </a:r>
          </a:p>
          <a:p>
            <a:r>
              <a:rPr lang="en-US"/>
              <a:t>    required this.title,</a:t>
            </a:r>
          </a:p>
          <a:p>
            <a:r>
              <a:rPr lang="en-US"/>
              <a:t>    required this.isDone,</a:t>
            </a:r>
          </a:p>
          <a:p>
            <a:r>
              <a:rPr lang="en-US"/>
              <a:t>  });</a:t>
            </a:r>
          </a:p>
          <a:p>
            <a:endParaRPr lang="en-US"/>
          </a:p>
          <a:p>
            <a:r>
              <a:rPr lang="en-US"/>
              <a:t>  factory Task.fromMap(Map&lt;String, dynamic&gt; map) {</a:t>
            </a:r>
          </a:p>
          <a:p>
            <a:r>
              <a:rPr lang="en-US"/>
              <a:t>    return Task(</a:t>
            </a:r>
          </a:p>
          <a:p>
            <a:r>
              <a:rPr lang="en-US"/>
              <a:t>      id: map['id'] as int,</a:t>
            </a:r>
          </a:p>
          <a:p>
            <a:r>
              <a:rPr lang="en-US"/>
              <a:t>      title: map['title'] as String,</a:t>
            </a:r>
          </a:p>
          <a:p>
            <a:r>
              <a:rPr lang="en-US"/>
              <a:t>      isDone: (map['isDone'] as int) == 1,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//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 TAB 3: Tasks (Fake SQLite)</a:t>
            </a:r>
          </a:p>
          <a:p>
            <a:r>
              <a:rPr lang="en-US"/>
              <a:t>// ──────────────────────────────────────────────</a:t>
            </a:r>
          </a:p>
          <a:p>
            <a:r>
              <a:rPr lang="en-US"/>
              <a:t>//</a:t>
            </a:r>
          </a:p>
          <a:p>
            <a:endParaRPr lang="en-US"/>
          </a:p>
          <a:p>
            <a:r>
              <a:rPr lang="en-US"/>
              <a:t>class TasksTab extends StatefulWidget {</a:t>
            </a:r>
          </a:p>
          <a:p>
            <a:r>
              <a:rPr lang="en-US"/>
              <a:t>  const TasksTab({super.key});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State&lt;TasksTab&gt; createState() =&gt; _TasksTabState();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_TasksTabState extends State&lt;TasksTab&gt; {</a:t>
            </a:r>
          </a:p>
          <a:p>
            <a:r>
              <a:rPr lang="en-US"/>
              <a:t>  final _db = FakeTaskDb.instance;</a:t>
            </a:r>
          </a:p>
          <a:p>
            <a:r>
              <a:rPr lang="en-US"/>
              <a:t>  bool _loading = true;</a:t>
            </a:r>
          </a:p>
          <a:p>
            <a:r>
              <a:rPr lang="en-US"/>
              <a:t>  List&lt;Task&gt; _tasks = [];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void initState() {</a:t>
            </a:r>
          </a:p>
          <a:p>
            <a:r>
              <a:rPr lang="en-US"/>
              <a:t>    super.initState();</a:t>
            </a:r>
          </a:p>
          <a:p>
            <a:r>
              <a:rPr lang="en-US"/>
              <a:t>    _loadTasks();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_loadTasks() async {</a:t>
            </a:r>
          </a:p>
          <a:p>
            <a:r>
              <a:rPr lang="en-US"/>
              <a:t>    setState(() =&gt; _loading = true);</a:t>
            </a:r>
          </a:p>
          <a:p>
            <a:r>
              <a:rPr lang="en-US"/>
              <a:t>    final rows = await _db.queryAll();</a:t>
            </a:r>
          </a:p>
          <a:p>
            <a:r>
              <a:rPr lang="en-US"/>
              <a:t>    _tasks = rows.map((e) =&gt; Task.fromMap(e)).toList();</a:t>
            </a:r>
          </a:p>
          <a:p>
            <a:r>
              <a:rPr lang="en-US"/>
              <a:t>    setState(() =&gt; _loading = false);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_addTask() async {</a:t>
            </a:r>
          </a:p>
          <a:p>
            <a:r>
              <a:rPr lang="en-US"/>
              <a:t>    final controller = TextEditingController();</a:t>
            </a:r>
          </a:p>
          <a:p>
            <a:endParaRPr lang="en-US"/>
          </a:p>
          <a:p>
            <a:r>
              <a:rPr lang="en-US"/>
              <a:t>    final result = await showDialog&lt;String&gt;(</a:t>
            </a:r>
          </a:p>
          <a:p>
            <a:r>
              <a:rPr lang="en-US"/>
              <a:t>      context: context,</a:t>
            </a:r>
          </a:p>
          <a:p>
            <a:r>
              <a:rPr lang="en-US"/>
              <a:t>      builder: (context) {</a:t>
            </a:r>
          </a:p>
          <a:p>
            <a:r>
              <a:rPr lang="en-US"/>
              <a:t>        return AlertDialog(</a:t>
            </a:r>
          </a:p>
          <a:p>
            <a:r>
              <a:rPr lang="en-US"/>
              <a:t>          title: const Text('New Task'),</a:t>
            </a:r>
          </a:p>
          <a:p>
            <a:r>
              <a:rPr lang="en-US"/>
              <a:t>          content: TextField(</a:t>
            </a:r>
          </a:p>
          <a:p>
            <a:r>
              <a:rPr lang="en-US"/>
              <a:t>            controller: controller,</a:t>
            </a:r>
          </a:p>
          <a:p>
            <a:r>
              <a:rPr lang="en-US"/>
              <a:t>            autofocus: true,</a:t>
            </a:r>
          </a:p>
          <a:p>
            <a:r>
              <a:rPr lang="en-US"/>
              <a:t>            decoration: const InputDecoration(hintText: 'Enter task...'),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  actions: [</a:t>
            </a:r>
          </a:p>
          <a:p>
            <a:r>
              <a:rPr lang="en-US"/>
              <a:t>            TextButton(</a:t>
            </a:r>
          </a:p>
          <a:p>
            <a:r>
              <a:rPr lang="en-US"/>
              <a:t>              onPressed: () =&gt; Navigator.pop(context),</a:t>
            </a:r>
          </a:p>
          <a:p>
            <a:r>
              <a:rPr lang="en-US"/>
              <a:t>              child: const Text('Cancel'),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  ElevatedButton(</a:t>
            </a:r>
          </a:p>
          <a:p>
            <a:r>
              <a:rPr lang="en-US"/>
              <a:t>              onPressed: () {</a:t>
            </a:r>
          </a:p>
          <a:p>
            <a:r>
              <a:rPr lang="en-US"/>
              <a:t>                final text = controller.text.trim();</a:t>
            </a:r>
          </a:p>
          <a:p>
            <a:r>
              <a:rPr lang="en-US"/>
              <a:t>                if (text.isNotEmpty) {</a:t>
            </a:r>
          </a:p>
          <a:p>
            <a:r>
              <a:rPr lang="en-US"/>
              <a:t>                  Navigator.pop(context, text);</a:t>
            </a:r>
          </a:p>
          <a:p>
            <a:r>
              <a:rPr lang="en-US"/>
              <a:t>                }</a:t>
            </a:r>
          </a:p>
          <a:p>
            <a:r>
              <a:rPr lang="en-US"/>
              <a:t>              },</a:t>
            </a:r>
          </a:p>
          <a:p>
            <a:r>
              <a:rPr lang="en-US"/>
              <a:t>              child: const Text('Add'),</a:t>
            </a:r>
          </a:p>
          <a:p>
            <a:r>
              <a:rPr lang="en-US"/>
              <a:t>            ),</a:t>
            </a:r>
          </a:p>
          <a:p>
            <a:r>
              <a:rPr lang="en-US"/>
              <a:t>          ],</a:t>
            </a:r>
          </a:p>
          <a:p>
            <a:r>
              <a:rPr lang="en-US"/>
              <a:t>        );</a:t>
            </a:r>
          </a:p>
          <a:p>
            <a:r>
              <a:rPr lang="en-US"/>
              <a:t>      },</a:t>
            </a:r>
          </a:p>
          <a:p>
            <a:r>
              <a:rPr lang="en-US"/>
              <a:t>    );</a:t>
            </a:r>
          </a:p>
          <a:p>
            <a:endParaRPr lang="en-US"/>
          </a:p>
          <a:p>
            <a:r>
              <a:rPr lang="en-US"/>
              <a:t>    if (result != null) {</a:t>
            </a:r>
          </a:p>
          <a:p>
            <a:r>
              <a:rPr lang="en-US"/>
              <a:t>      await _db.insert(result);</a:t>
            </a:r>
          </a:p>
          <a:p>
            <a:r>
              <a:rPr lang="en-US"/>
              <a:t>      await _loadTasks();</a:t>
            </a:r>
          </a:p>
          <a:p>
            <a:r>
              <a:rPr lang="en-US"/>
              <a:t>    }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_toggleTask(Task task) async {</a:t>
            </a:r>
          </a:p>
          <a:p>
            <a:r>
              <a:rPr lang="en-US"/>
              <a:t>    await _db.update(task.id, !task.isDone);</a:t>
            </a:r>
          </a:p>
          <a:p>
            <a:r>
              <a:rPr lang="en-US"/>
              <a:t>    await _loadTasks();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_deleteTask(Task task) async {</a:t>
            </a:r>
          </a:p>
          <a:p>
            <a:r>
              <a:rPr lang="en-US"/>
              <a:t>    await _db.delete(task.id);</a:t>
            </a:r>
          </a:p>
          <a:p>
            <a:r>
              <a:rPr lang="en-US"/>
              <a:t>    await _loadTasks();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if (_loading) {</a:t>
            </a:r>
          </a:p>
          <a:p>
            <a:r>
              <a:rPr lang="en-US"/>
              <a:t>      return const Center(child: CircularProgressIndicator());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return Column(</a:t>
            </a:r>
          </a:p>
          <a:p>
            <a:r>
              <a:rPr lang="en-US"/>
              <a:t>      children: [</a:t>
            </a:r>
          </a:p>
          <a:p>
            <a:r>
              <a:rPr lang="en-US"/>
              <a:t>        Padding(</a:t>
            </a:r>
          </a:p>
          <a:p>
            <a:r>
              <a:rPr lang="en-US"/>
              <a:t>          padding: const EdgeInsets.all(16),</a:t>
            </a:r>
          </a:p>
          <a:p>
            <a:r>
              <a:rPr lang="en-US"/>
              <a:t>          child: Row(</a:t>
            </a:r>
          </a:p>
          <a:p>
            <a:r>
              <a:rPr lang="en-US"/>
              <a:t>            children: [</a:t>
            </a:r>
          </a:p>
          <a:p>
            <a:r>
              <a:rPr lang="en-US"/>
              <a:t>              const Expanded(</a:t>
            </a:r>
          </a:p>
          <a:p>
            <a:r>
              <a:rPr lang="en-US"/>
              <a:t>                child: Text(</a:t>
            </a:r>
          </a:p>
          <a:p>
            <a:r>
              <a:rPr lang="en-US"/>
              <a:t>                  'Tasks (Fake SQLite)',</a:t>
            </a:r>
          </a:p>
          <a:p>
            <a:r>
              <a:rPr lang="en-US"/>
              <a:t>                  style: TextStyle(fontSize: 18, fontWeight: FontWeight.bold),</a:t>
            </a:r>
          </a:p>
          <a:p>
            <a:r>
              <a:rPr lang="en-US"/>
              <a:t>                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  ElevatedButton.icon(</a:t>
            </a:r>
          </a:p>
          <a:p>
            <a:r>
              <a:rPr lang="en-US"/>
              <a:t>                onPressed: _addTask,</a:t>
            </a:r>
          </a:p>
          <a:p>
            <a:r>
              <a:rPr lang="en-US"/>
              <a:t>                icon: const Icon(Icons.add),</a:t>
            </a:r>
          </a:p>
          <a:p>
            <a:r>
              <a:rPr lang="en-US"/>
              <a:t>                label: const Text('Add'),</a:t>
            </a:r>
          </a:p>
          <a:p>
            <a:r>
              <a:rPr lang="en-US"/>
              <a:t>              ),</a:t>
            </a:r>
          </a:p>
          <a:p>
            <a:r>
              <a:rPr lang="en-US"/>
              <a:t>            ],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  Expanded(</a:t>
            </a:r>
          </a:p>
          <a:p>
            <a:r>
              <a:rPr lang="en-US"/>
              <a:t>          child: _tasks.isEmpty</a:t>
            </a:r>
          </a:p>
          <a:p>
            <a:r>
              <a:rPr lang="en-US"/>
              <a:t>              ? const Center(child: Text('No tasks yet. Tap "Add" to create.'))</a:t>
            </a:r>
          </a:p>
          <a:p>
            <a:r>
              <a:rPr lang="en-US"/>
              <a:t>              : ListView.builder(</a:t>
            </a:r>
          </a:p>
          <a:p>
            <a:r>
              <a:rPr lang="en-US"/>
              <a:t>                  itemCount: _tasks.length,</a:t>
            </a:r>
          </a:p>
          <a:p>
            <a:r>
              <a:rPr lang="en-US"/>
              <a:t>                  itemBuilder: (context, index) {</a:t>
            </a:r>
          </a:p>
          <a:p>
            <a:r>
              <a:rPr lang="en-US"/>
              <a:t>                    final task = _tasks[index];</a:t>
            </a:r>
          </a:p>
          <a:p>
            <a:r>
              <a:rPr lang="en-US"/>
              <a:t>                    return Dismissible(</a:t>
            </a:r>
          </a:p>
          <a:p>
            <a:r>
              <a:rPr lang="en-US"/>
              <a:t>                      key: ValueKey(task.id),</a:t>
            </a:r>
          </a:p>
          <a:p>
            <a:r>
              <a:rPr lang="en-US"/>
              <a:t>                      direction: DismissDirection.endToStart,</a:t>
            </a:r>
          </a:p>
          <a:p>
            <a:r>
              <a:rPr lang="en-US"/>
              <a:t>                      background: Container(</a:t>
            </a:r>
          </a:p>
          <a:p>
            <a:r>
              <a:rPr lang="en-US"/>
              <a:t>                        color: Colors.red,</a:t>
            </a:r>
          </a:p>
          <a:p>
            <a:r>
              <a:rPr lang="en-US"/>
              <a:t>                        alignment: Alignment.centerRight,</a:t>
            </a:r>
          </a:p>
          <a:p>
            <a:r>
              <a:rPr lang="en-US"/>
              <a:t>                        padding: const EdgeInsets.symmetric(horizontal: 16),</a:t>
            </a:r>
          </a:p>
          <a:p>
            <a:r>
              <a:rPr lang="en-US"/>
              <a:t>                        child: const Icon(Icons.delete, color: Colors.white),</a:t>
            </a:r>
          </a:p>
          <a:p>
            <a:r>
              <a:rPr lang="en-US"/>
              <a:t>                      ),</a:t>
            </a:r>
          </a:p>
          <a:p>
            <a:r>
              <a:rPr lang="en-US"/>
              <a:t>                      onDismissed: (_) =&gt; _deleteTask(task),</a:t>
            </a:r>
          </a:p>
          <a:p>
            <a:r>
              <a:rPr lang="en-US"/>
              <a:t>                      child: CheckboxListTile(</a:t>
            </a:r>
          </a:p>
          <a:p>
            <a:r>
              <a:rPr lang="en-US"/>
              <a:t>                        value: task.isDone,</a:t>
            </a:r>
          </a:p>
          <a:p>
            <a:r>
              <a:rPr lang="en-US"/>
              <a:t>                        title: Text(</a:t>
            </a:r>
          </a:p>
          <a:p>
            <a:r>
              <a:rPr lang="en-US"/>
              <a:t>                          task.title,</a:t>
            </a:r>
          </a:p>
          <a:p>
            <a:r>
              <a:rPr lang="en-US"/>
              <a:t>                          style: task.isDone</a:t>
            </a:r>
          </a:p>
          <a:p>
            <a:r>
              <a:rPr lang="en-US"/>
              <a:t>                              ? const TextStyle(</a:t>
            </a:r>
          </a:p>
          <a:p>
            <a:r>
              <a:rPr lang="en-US"/>
              <a:t>                                  decoration: TextDecoration.lineThrough,</a:t>
            </a:r>
          </a:p>
          <a:p>
            <a:r>
              <a:rPr lang="en-US"/>
              <a:t>                                  color: Colors.grey,</a:t>
            </a:r>
          </a:p>
          <a:p>
            <a:r>
              <a:rPr lang="en-US"/>
              <a:t>                                )</a:t>
            </a:r>
          </a:p>
          <a:p>
            <a:r>
              <a:rPr lang="en-US"/>
              <a:t>                              : null,</a:t>
            </a:r>
          </a:p>
          <a:p>
            <a:r>
              <a:rPr lang="en-US"/>
              <a:t>                        ),</a:t>
            </a:r>
          </a:p>
          <a:p>
            <a:r>
              <a:rPr lang="en-US"/>
              <a:t>                        onChanged: (_) =&gt; _toggleTask(task),</a:t>
            </a:r>
          </a:p>
          <a:p>
            <a:r>
              <a:rPr lang="en-US"/>
              <a:t>                      ),</a:t>
            </a:r>
          </a:p>
          <a:p>
            <a:r>
              <a:rPr lang="en-US"/>
              <a:t>                    );</a:t>
            </a:r>
          </a:p>
          <a:p>
            <a:r>
              <a:rPr lang="en-US"/>
              <a:t>                  },</a:t>
            </a:r>
          </a:p>
          <a:p>
            <a:r>
              <a:rPr lang="en-US"/>
              <a:t>                ),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],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9DBF-E072-347E-6891-DF0DD2AA5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73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7DE-B4D6-9270-6366-E375AB40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C3A7-7616-997E-68E2-64EC6F2FE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2479-A35C-BA47-0B21-843F07F39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A2A-C6DF-E673-821D-84F85C65B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8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3A45286F-3AF9-6888-3EBC-0C967C3EF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7" y="106297"/>
            <a:ext cx="2782206" cy="86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D30550E3-856C-1FA2-F55D-DF02257079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1" y="85949"/>
            <a:ext cx="1691830" cy="52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4" y="3797574"/>
            <a:ext cx="7620000" cy="18276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/>
              <a:t>Module 9 - Local Storage &amp; Persistence in Flutter</a:t>
            </a:r>
            <a:br>
              <a:rPr lang="en-US" sz="4000"/>
            </a:b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Learning Objectives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745" y="1012892"/>
            <a:ext cx="8229203" cy="5531497"/>
          </a:xfrm>
        </p:spPr>
        <p:txBody>
          <a:bodyPr/>
          <a:lstStyle/>
          <a:p>
            <a:pPr marL="0" indent="0"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/>
              <a:t>Content: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Understand the 3 main local storage methods in Flutter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Store &amp; retrieve key–value data with SharedPreferences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Read &amp; write local JSON files using Dart IO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Build CRUD operations using SQLite (sqflite)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Apply offline-first strategies to improve user experience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Combine multiple storage methods into a practical mini-app</a:t>
            </a: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Why Local Storage?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97" y="1322243"/>
            <a:ext cx="4623336" cy="4322201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Key Concepts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Local storage is data saved directly on the user's device: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Available offline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Persistent across restarts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Faster than API calls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Stores personalized user choices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000" b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A5E00A-7B6E-71B9-8771-A1750E7838C1}"/>
              </a:ext>
            </a:extLst>
          </p:cNvPr>
          <p:cNvSpPr txBox="1">
            <a:spLocks/>
          </p:cNvSpPr>
          <p:nvPr/>
        </p:nvSpPr>
        <p:spPr bwMode="auto">
          <a:xfrm>
            <a:off x="6451063" y="1326503"/>
            <a:ext cx="4623336" cy="431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Examples: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Dark mode settings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Recently viewed items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Saved filters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Favorites/watchlist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Onboarding flag (“first-time user?”)</a:t>
            </a:r>
            <a:endParaRPr lang="en-US" sz="20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1D91C-DEBE-BF5E-FEA0-100F89646198}"/>
              </a:ext>
            </a:extLst>
          </p:cNvPr>
          <p:cNvSpPr txBox="1"/>
          <p:nvPr/>
        </p:nvSpPr>
        <p:spPr>
          <a:xfrm>
            <a:off x="1377244" y="5866178"/>
            <a:ext cx="9482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= better UX + higher app reliability.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69" y="275167"/>
            <a:ext cx="10972271" cy="1143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/>
              <a:t>Types of Local Storage in Flutter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77E65ED-1832-E255-4D10-34510F1732E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6958743"/>
              </p:ext>
            </p:extLst>
          </p:nvPr>
        </p:nvGraphicFramePr>
        <p:xfrm>
          <a:off x="700180" y="1694039"/>
          <a:ext cx="5847645" cy="3469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215">
                  <a:extLst>
                    <a:ext uri="{9D8B030D-6E8A-4147-A177-3AD203B41FA5}">
                      <a16:colId xmlns:a16="http://schemas.microsoft.com/office/drawing/2014/main" val="339562665"/>
                    </a:ext>
                  </a:extLst>
                </a:gridCol>
                <a:gridCol w="1949215">
                  <a:extLst>
                    <a:ext uri="{9D8B030D-6E8A-4147-A177-3AD203B41FA5}">
                      <a16:colId xmlns:a16="http://schemas.microsoft.com/office/drawing/2014/main" val="3384682733"/>
                    </a:ext>
                  </a:extLst>
                </a:gridCol>
                <a:gridCol w="1949215">
                  <a:extLst>
                    <a:ext uri="{9D8B030D-6E8A-4147-A177-3AD203B41FA5}">
                      <a16:colId xmlns:a16="http://schemas.microsoft.com/office/drawing/2014/main" val="823961092"/>
                    </a:ext>
                  </a:extLst>
                </a:gridCol>
              </a:tblGrid>
              <a:tr h="51319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Storage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Best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132683"/>
                  </a:ext>
                </a:extLst>
              </a:tr>
              <a:tr h="9855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SharedPreferences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Simple key–value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Settings, flags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981240"/>
                  </a:ext>
                </a:extLst>
              </a:tr>
              <a:tr h="9855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JSON File (dart:io)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Simple lists, export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Notes,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321703"/>
                  </a:ext>
                </a:extLst>
              </a:tr>
              <a:tr h="9855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SQLite (sqflite)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Structured relational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Todo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3487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7BB0512-438D-FDEA-765F-648D4C9B0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085" y="1689806"/>
            <a:ext cx="4814182" cy="36627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69" y="275167"/>
            <a:ext cx="10972271" cy="1143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/>
              <a:t>What is SharedPreferences?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 wrap="square" anchor="t">
            <a:normAutofit fontScale="4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5000"/>
              <a:t>Lightweight and easy to use</a:t>
            </a:r>
          </a:p>
          <a:p>
            <a:pPr>
              <a:lnSpc>
                <a:spcPct val="150000"/>
              </a:lnSpc>
            </a:pPr>
            <a:r>
              <a:rPr lang="en-US" sz="5000" b="0"/>
              <a:t>Stores simple key-value pairs</a:t>
            </a:r>
          </a:p>
          <a:p>
            <a:pPr>
              <a:lnSpc>
                <a:spcPct val="150000"/>
              </a:lnSpc>
            </a:pPr>
            <a:r>
              <a:rPr lang="en-US" sz="5000" b="0"/>
              <a:t>Persistent across app restarts</a:t>
            </a:r>
          </a:p>
          <a:p>
            <a:pPr>
              <a:lnSpc>
                <a:spcPct val="150000"/>
              </a:lnSpc>
            </a:pPr>
            <a:r>
              <a:rPr lang="en-US" sz="5000" b="0"/>
              <a:t>Works synchronously and asynchronously</a:t>
            </a:r>
          </a:p>
          <a:p>
            <a:pPr>
              <a:lnSpc>
                <a:spcPct val="150000"/>
              </a:lnSpc>
            </a:pPr>
            <a:r>
              <a:rPr lang="en-US" sz="5000" b="0"/>
              <a:t>NOT for complex objects or large data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/>
          </a:p>
          <a:p>
            <a:pPr marL="0" indent="0">
              <a:lnSpc>
                <a:spcPct val="150000"/>
              </a:lnSpc>
              <a:buNone/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F3427C-F92B-E9AD-706E-24D02D61B1C5}"/>
              </a:ext>
            </a:extLst>
          </p:cNvPr>
          <p:cNvSpPr txBox="1">
            <a:spLocks/>
          </p:cNvSpPr>
          <p:nvPr/>
        </p:nvSpPr>
        <p:spPr bwMode="auto">
          <a:xfrm>
            <a:off x="6434667" y="1600202"/>
            <a:ext cx="5384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  <a:normAutofit/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18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/>
              <a:t>Example use cases: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Dark/Light theme preference</a:t>
            </a:r>
          </a:p>
          <a:p>
            <a:pPr>
              <a:lnSpc>
                <a:spcPct val="150000"/>
              </a:lnSpc>
            </a:pPr>
            <a:r>
              <a:rPr lang="en-US" sz="2400" b="0"/>
              <a:t>“Onboarding completed” flag</a:t>
            </a:r>
          </a:p>
          <a:p>
            <a:pPr>
              <a:lnSpc>
                <a:spcPct val="150000"/>
              </a:lnSpc>
            </a:pPr>
            <a:r>
              <a:rPr lang="en-US" sz="2400" b="0"/>
              <a:t>User login state</a:t>
            </a:r>
          </a:p>
          <a:p>
            <a:pPr>
              <a:lnSpc>
                <a:spcPct val="150000"/>
              </a:lnSpc>
            </a:pPr>
            <a:r>
              <a:rPr lang="en-US" sz="2400" b="0"/>
              <a:t>Default filter/sort mode</a:t>
            </a:r>
            <a:endParaRPr lang="en-US" sz="2000"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SharedPreferences Workflow</a:t>
            </a:r>
            <a:endParaRPr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D6EAD9-41B2-5324-69B4-90065FF4B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09" y="2250990"/>
            <a:ext cx="5972025" cy="304376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EA307E-67D3-8B2F-52BE-9FF886D7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666" y="1509892"/>
            <a:ext cx="4763911" cy="4525963"/>
          </a:xfrm>
        </p:spPr>
        <p:txBody>
          <a:bodyPr wrap="square" anchor="t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/>
              <a:t>What it does</a:t>
            </a:r>
          </a:p>
          <a:p>
            <a:pPr>
              <a:lnSpc>
                <a:spcPct val="120000"/>
              </a:lnSpc>
            </a:pPr>
            <a:r>
              <a:rPr lang="en-US" b="0"/>
              <a:t>Stores simple key–value data on the device.</a:t>
            </a:r>
          </a:p>
          <a:p>
            <a:pPr>
              <a:lnSpc>
                <a:spcPct val="120000"/>
              </a:lnSpc>
            </a:pPr>
            <a:r>
              <a:rPr lang="en-US" b="0"/>
              <a:t>Data persists even after the app is closed or restarted.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/>
              <a:t>Process</a:t>
            </a:r>
          </a:p>
          <a:p>
            <a:pPr>
              <a:lnSpc>
                <a:spcPct val="120000"/>
              </a:lnSpc>
            </a:pPr>
            <a:r>
              <a:rPr lang="en-US" b="0"/>
              <a:t>Load SharedPreferences instance</a:t>
            </a:r>
          </a:p>
          <a:p>
            <a:pPr>
              <a:lnSpc>
                <a:spcPct val="120000"/>
              </a:lnSpc>
            </a:pPr>
            <a:r>
              <a:rPr lang="en-US" b="0"/>
              <a:t>Read stored values</a:t>
            </a:r>
          </a:p>
          <a:p>
            <a:pPr>
              <a:lnSpc>
                <a:spcPct val="120000"/>
              </a:lnSpc>
            </a:pPr>
            <a:r>
              <a:rPr lang="en-US" b="0"/>
              <a:t>Update values when the user interacts</a:t>
            </a:r>
          </a:p>
          <a:p>
            <a:pPr>
              <a:lnSpc>
                <a:spcPct val="120000"/>
              </a:lnSpc>
            </a:pPr>
            <a:r>
              <a:rPr lang="en-US" b="0"/>
              <a:t>Save the new key–value pairs</a:t>
            </a:r>
          </a:p>
          <a:p>
            <a:pPr>
              <a:lnSpc>
                <a:spcPct val="120000"/>
              </a:lnSpc>
            </a:pPr>
            <a:r>
              <a:rPr lang="en-US" b="0"/>
              <a:t>Refresh UI to reflect updated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2CED-89DB-4BFD-3863-D96B7169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SharedPreferences Support Across Environments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3FBF75-E6E7-B9E6-3573-97A8E6EF5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94325"/>
              </p:ext>
            </p:extLst>
          </p:nvPr>
        </p:nvGraphicFramePr>
        <p:xfrm>
          <a:off x="609600" y="1600200"/>
          <a:ext cx="10972797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>
                  <a:extLst>
                    <a:ext uri="{9D8B030D-6E8A-4147-A177-3AD203B41FA5}">
                      <a16:colId xmlns:a16="http://schemas.microsoft.com/office/drawing/2014/main" val="2404900429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355213540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961688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SharedPreferences Support?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74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Flutter App (Android/iOS)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Saves data to the device’s persistent storage. Reopen the app → data remains.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625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Flutter Web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(via localStorage)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SharedPreferences automatically maps to browser localStorage.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903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DartPad (Flutter Mode)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native storage → must use a </a:t>
                      </a:r>
                      <a:r>
                        <a:rPr lang="en-US" b="1"/>
                        <a:t>FakePrefs</a:t>
                      </a:r>
                      <a:r>
                        <a:rPr lang="en-US"/>
                        <a:t> mock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54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DartPad (Dart Mode)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plugins and no Flutter widgets. Pure Dart environment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47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95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468-B109-8BB1-918E-B7B80A76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34" y="214313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9.1: Saving App Settings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F1B936-6559-E12A-04DC-921474462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43" y="1497236"/>
            <a:ext cx="5110979" cy="482014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OBJECTIVES</a:t>
            </a:r>
          </a:p>
          <a:p>
            <a:r>
              <a:rPr lang="en-US" b="0"/>
              <a:t>Understand how to store simple data using SharedPreferences.</a:t>
            </a:r>
          </a:p>
          <a:p>
            <a:r>
              <a:rPr lang="en-US" b="0"/>
              <a:t>Save theme state (dark/light) and retain it when reopening the app.</a:t>
            </a:r>
          </a:p>
          <a:p>
            <a:r>
              <a:rPr lang="en-US" b="0"/>
              <a:t>Practice the lifecycle: load → update → save → refresh UI.</a:t>
            </a:r>
          </a:p>
          <a:p>
            <a:r>
              <a:rPr lang="en-US" b="0"/>
              <a:t>Compare how to use SharedPreferences on a real device and when there is no native storage (DartPad).</a:t>
            </a:r>
          </a:p>
          <a:p>
            <a:pPr lvl="1"/>
            <a:endParaRPr lang="en-US" b="0"/>
          </a:p>
          <a:p>
            <a:endParaRPr lang="en-US"/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8C914E7E-BB17-3834-AC7B-8465073A3722}"/>
              </a:ext>
            </a:extLst>
          </p:cNvPr>
          <p:cNvSpPr txBox="1">
            <a:spLocks/>
          </p:cNvSpPr>
          <p:nvPr/>
        </p:nvSpPr>
        <p:spPr bwMode="auto">
          <a:xfrm>
            <a:off x="5873145" y="1497236"/>
            <a:ext cx="6172099" cy="482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Steps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Add dependency: shared_preferences: ^2.x.x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Load saved theme: use SharedPreferences.getInstance() and read "isDarkMode"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Update state: toggle the switch to change the theme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Save value: prefs.setBool("isDarkMode", value)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Refresh UI: call setState() (or use a state management tool)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Restart app: the saved theme is restored automatically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61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CC3D-CC73-7774-3B02-5B925500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D6E9-F984-5EEF-87B4-D9E6AD78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329" y="44980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9.1: Saving App Settings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A5F8C-B3D2-1D7E-8805-13EBF7A6F197}"/>
              </a:ext>
            </a:extLst>
          </p:cNvPr>
          <p:cNvSpPr txBox="1"/>
          <p:nvPr/>
        </p:nvSpPr>
        <p:spPr>
          <a:xfrm>
            <a:off x="349956" y="1047220"/>
            <a:ext cx="4549422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Steps (DartPad Version)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 SharedPreferences plugin in DartPad → use a mock class (FakePrefs)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Load initial value from an in-memory map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Update state when the switch is toggled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Save value back into the mock storage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Refresh UI using setState()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Note: data resets on reload (not persistent)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0DA12B-F03B-A281-6FF1-93E7AA89D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66" y="1047220"/>
            <a:ext cx="3170537" cy="5305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84E3E8-E82D-77D4-3F78-344DD6E18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537" y="1047220"/>
            <a:ext cx="3352800" cy="5286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655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E1-16E0-5E36-1177-0F5990DF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 Why Use Local Files? File Storage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117-6CCB-94C9-C577-E21292D2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72082"/>
            <a:ext cx="4456289" cy="4502940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You need files when:</a:t>
            </a:r>
          </a:p>
          <a:p>
            <a:r>
              <a:rPr lang="en-US" sz="2000" b="0"/>
              <a:t>Data is bigger than key–value storage</a:t>
            </a:r>
          </a:p>
          <a:p>
            <a:r>
              <a:rPr lang="en-US" sz="2000" b="0"/>
              <a:t>Data has structure but doesn't require SQL</a:t>
            </a:r>
          </a:p>
          <a:p>
            <a:pPr>
              <a:lnSpc>
                <a:spcPct val="150000"/>
              </a:lnSpc>
            </a:pPr>
            <a:r>
              <a:rPr lang="en-US" sz="2000" b="0"/>
              <a:t>You want simple offline documents</a:t>
            </a:r>
          </a:p>
          <a:p>
            <a:r>
              <a:rPr lang="en-US" sz="2000" b="0"/>
              <a:t>You want to export/import JSON</a:t>
            </a:r>
          </a:p>
          <a:p>
            <a:r>
              <a:rPr lang="en-US" sz="2000" b="0"/>
              <a:t>You want to cache API responses locally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b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28296C-D781-A52D-4931-B9FF14C1C7A2}"/>
              </a:ext>
            </a:extLst>
          </p:cNvPr>
          <p:cNvSpPr txBox="1">
            <a:spLocks/>
          </p:cNvSpPr>
          <p:nvPr/>
        </p:nvSpPr>
        <p:spPr bwMode="auto">
          <a:xfrm>
            <a:off x="5906911" y="1554876"/>
            <a:ext cx="5235222" cy="478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/>
              <a:t>Key packages:</a:t>
            </a:r>
          </a:p>
          <a:p>
            <a:pPr>
              <a:lnSpc>
                <a:spcPct val="150000"/>
              </a:lnSpc>
            </a:pPr>
            <a:r>
              <a:rPr lang="en-US" sz="2000" b="0"/>
              <a:t>path_provider → find app directories</a:t>
            </a:r>
          </a:p>
          <a:p>
            <a:pPr>
              <a:lnSpc>
                <a:spcPct val="150000"/>
              </a:lnSpc>
            </a:pPr>
            <a:r>
              <a:rPr lang="en-US" sz="2000" b="0"/>
              <a:t>dart:io → read/write</a:t>
            </a:r>
          </a:p>
          <a:p>
            <a:pPr>
              <a:lnSpc>
                <a:spcPct val="150000"/>
              </a:lnSpc>
            </a:pPr>
            <a:r>
              <a:rPr lang="en-US" sz="2000" b="0"/>
              <a:t>json.encode / json.decode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/>
              <a:t>Short snippet:</a:t>
            </a:r>
          </a:p>
          <a:p>
            <a:pPr marL="400040" lvl="1" indent="0">
              <a:lnSpc>
                <a:spcPct val="150000"/>
              </a:lnSpc>
              <a:buNone/>
            </a:pPr>
            <a:r>
              <a:rPr lang="en-US" b="0"/>
              <a:t>final file = File(path);</a:t>
            </a:r>
          </a:p>
          <a:p>
            <a:pPr marL="400040" lvl="1" indent="0">
              <a:lnSpc>
                <a:spcPct val="150000"/>
              </a:lnSpc>
              <a:buNone/>
            </a:pPr>
            <a:r>
              <a:rPr lang="en-US" b="0"/>
              <a:t>await file.writeAsString(jsonString);</a:t>
            </a:r>
          </a:p>
          <a:p>
            <a:pPr marL="400040" lvl="1" indent="0">
              <a:lnSpc>
                <a:spcPct val="150000"/>
              </a:lnSpc>
              <a:buNone/>
            </a:pPr>
            <a:r>
              <a:rPr lang="en-US" b="0"/>
              <a:t>final content = await file.readAsString();</a:t>
            </a:r>
          </a:p>
          <a:p>
            <a:pPr marL="0" indent="0">
              <a:buFont typeface="Arial" pitchFamily="34" charset="0"/>
              <a:buNone/>
            </a:pP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77419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95D9-A437-44AC-FCC9-94E04CB4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4786-6AC0-ECC0-118C-33FCB1E3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Key-Value Persistence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E6E7-0C04-750F-C832-87BA4BA9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767" y="1518484"/>
            <a:ext cx="10803265" cy="508551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What Is Key-Value Storage?</a:t>
            </a:r>
          </a:p>
          <a:p>
            <a:r>
              <a:rPr lang="en-US" b="0"/>
              <a:t>Lightweight way to store small app settings</a:t>
            </a:r>
          </a:p>
          <a:p>
            <a:r>
              <a:rPr lang="en-US" b="0"/>
              <a:t>Data saved by key → value pairs</a:t>
            </a:r>
          </a:p>
          <a:p>
            <a:r>
              <a:rPr lang="en-US" b="0"/>
              <a:t>Used for: theme mode, username, onboarding flags, user preferences</a:t>
            </a:r>
          </a:p>
          <a:p>
            <a:pPr marL="0" indent="0">
              <a:buNone/>
            </a:pPr>
            <a:r>
              <a:rPr lang="en-US"/>
              <a:t>How It Works Across Environments</a:t>
            </a:r>
          </a:p>
          <a:p>
            <a:r>
              <a:rPr lang="en-US" b="0"/>
              <a:t>Flutter App (Android/iOS): SharedPreferences → device storage</a:t>
            </a:r>
          </a:p>
          <a:p>
            <a:r>
              <a:rPr lang="en-US" b="0"/>
              <a:t>Flutter Web: maps to browser localStorage</a:t>
            </a:r>
          </a:p>
          <a:p>
            <a:r>
              <a:rPr lang="en-US" b="0"/>
              <a:t>DartPad: plugins not supported → use custom FakePrefs</a:t>
            </a:r>
          </a:p>
          <a:p>
            <a:pPr marL="0" indent="0">
              <a:buNone/>
            </a:pPr>
            <a:r>
              <a:rPr lang="en-US"/>
              <a:t>High-Level Flow</a:t>
            </a:r>
          </a:p>
          <a:p>
            <a:r>
              <a:rPr lang="en-US" b="0"/>
              <a:t>Load storage instance </a:t>
            </a:r>
            <a:r>
              <a:rPr lang="en-US" b="0">
                <a:sym typeface="Wingdings" panose="05000000000000000000" pitchFamily="2" charset="2"/>
              </a:rPr>
              <a:t></a:t>
            </a:r>
            <a:r>
              <a:rPr lang="en-US" b="0"/>
              <a:t> Read existing value </a:t>
            </a:r>
            <a:r>
              <a:rPr lang="en-US" b="0">
                <a:sym typeface="Wingdings" panose="05000000000000000000" pitchFamily="2" charset="2"/>
              </a:rPr>
              <a:t> </a:t>
            </a:r>
            <a:r>
              <a:rPr lang="en-US" b="0"/>
              <a:t>Update value based on user action </a:t>
            </a:r>
            <a:r>
              <a:rPr lang="en-US" b="0">
                <a:sym typeface="Wingdings" panose="05000000000000000000" pitchFamily="2" charset="2"/>
              </a:rPr>
              <a:t></a:t>
            </a:r>
            <a:r>
              <a:rPr lang="en-US" b="0"/>
              <a:t>Save back to storage </a:t>
            </a:r>
            <a:r>
              <a:rPr lang="en-US" b="0">
                <a:sym typeface="Wingdings" panose="05000000000000000000" pitchFamily="2" charset="2"/>
              </a:rPr>
              <a:t></a:t>
            </a:r>
            <a:r>
              <a:rPr lang="en-US" b="0"/>
              <a:t> Refresh the UI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9.2: Key-Value Storage (DartPad Version)”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395B-4010-0F0F-99FC-5F0217B0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0" y="1511007"/>
            <a:ext cx="6071408" cy="4842404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Objective</a:t>
            </a:r>
          </a:p>
          <a:p>
            <a:r>
              <a:rPr lang="en-US" sz="2000" b="0"/>
              <a:t>Simulate key-value storage using a mock class (FakePrefs)</a:t>
            </a:r>
          </a:p>
          <a:p>
            <a:r>
              <a:rPr lang="en-US" sz="2000" b="0"/>
              <a:t>Save and load a simple value (e.g., username)</a:t>
            </a:r>
          </a:p>
          <a:p>
            <a:pPr marL="0" indent="0">
              <a:buNone/>
            </a:pPr>
            <a:r>
              <a:rPr lang="en-US" sz="2000"/>
              <a:t>Steps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Create a FakePrefs class to simulate SharedPreferences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Initialize storage using FakePrefs.getInstance()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Load saved value into the TextField 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Update value when user edits the input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Save value using setString(key, value)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Refresh UI with setState()</a:t>
            </a:r>
          </a:p>
          <a:p>
            <a:pPr marL="0" indent="0">
              <a:buNone/>
            </a:pPr>
            <a:endParaRPr lang="en-US" sz="2000" b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CF85F-278F-8CE9-8F09-228252977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998" y="1664847"/>
            <a:ext cx="3108247" cy="468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150" y="327379"/>
            <a:ext cx="8229600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Why SQLite?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26347A-9AF8-3421-D548-0E969E30A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69" y="1145882"/>
            <a:ext cx="5813509" cy="525491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Use SQLite when your app needs:</a:t>
            </a:r>
          </a:p>
          <a:p>
            <a:r>
              <a:rPr lang="en-US" b="0"/>
              <a:t>Structured data (rows, columns)</a:t>
            </a:r>
          </a:p>
          <a:p>
            <a:r>
              <a:rPr lang="en-US" b="0"/>
              <a:t>Fast read/write operations</a:t>
            </a:r>
          </a:p>
          <a:p>
            <a:r>
              <a:rPr lang="en-US" b="0"/>
              <a:t>Sorting &amp; filtering (ORDER BY, WHERE)</a:t>
            </a:r>
          </a:p>
          <a:p>
            <a:r>
              <a:rPr lang="en-US" b="0"/>
              <a:t>Data relationships (1–N, N–N)</a:t>
            </a:r>
          </a:p>
          <a:p>
            <a:r>
              <a:rPr lang="en-US" b="0"/>
              <a:t>Long-term reliable storage</a:t>
            </a:r>
          </a:p>
          <a:p>
            <a:r>
              <a:rPr lang="en-US" b="0"/>
              <a:t>Offline capability</a:t>
            </a:r>
          </a:p>
          <a:p>
            <a:pPr marL="0" indent="0">
              <a:buNone/>
            </a:pPr>
            <a:r>
              <a:rPr lang="en-US"/>
              <a:t>Real Use Cases</a:t>
            </a:r>
          </a:p>
          <a:p>
            <a:r>
              <a:rPr lang="en-US" b="0"/>
              <a:t>To-Do / Notes app - Inventory tracking</a:t>
            </a:r>
          </a:p>
          <a:p>
            <a:r>
              <a:rPr lang="en-US" b="0"/>
              <a:t>Offline e-commerce cart - Local user profile database - Bookmark / favorites storage</a:t>
            </a:r>
          </a:p>
        </p:txBody>
      </p:sp>
      <p:pic>
        <p:nvPicPr>
          <p:cNvPr id="2050" name="Picture 2" descr="SQLite Sample Database And Its Diagram (in PDF format)">
            <a:extLst>
              <a:ext uri="{FF2B5EF4-FFF2-40B4-BE49-F238E27FC236}">
                <a16:creationId xmlns:a16="http://schemas.microsoft.com/office/drawing/2014/main" id="{155A0A77-8AC6-41D6-6FAD-37E57EF1A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964385"/>
            <a:ext cx="5708460" cy="349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SQFLite vs SQLite: What’s the Difference?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087" y="1378514"/>
            <a:ext cx="6708624" cy="477191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Why not name it SQLite?</a:t>
            </a:r>
          </a:p>
          <a:p>
            <a:r>
              <a:rPr lang="en-US" b="0"/>
              <a:t>SQLite = the actual storage engine</a:t>
            </a:r>
          </a:p>
          <a:p>
            <a:r>
              <a:rPr lang="en-US" b="0"/>
              <a:t>SQFlite = Flutter SDK wrapper built on top of SQLite</a:t>
            </a:r>
          </a:p>
          <a:p>
            <a:r>
              <a:rPr lang="en-US" b="0"/>
              <a:t>The “F” in SQFlite = Flutter (SQLite for Flutter)</a:t>
            </a:r>
          </a:p>
          <a:p>
            <a:pPr marL="0" indent="0">
              <a:buNone/>
            </a:pPr>
            <a:r>
              <a:rPr lang="en-US"/>
              <a:t>Why this matters?</a:t>
            </a:r>
          </a:p>
          <a:p>
            <a:r>
              <a:rPr lang="en-US" b="0"/>
              <a:t>SQFlite is not a database, but a plugin</a:t>
            </a:r>
          </a:p>
          <a:p>
            <a:r>
              <a:rPr lang="en-US" b="0"/>
              <a:t>Helps clarify why SQFlite doesn’t work on Web</a:t>
            </a:r>
          </a:p>
          <a:p>
            <a:r>
              <a:rPr lang="en-US" b="0"/>
              <a:t>Explains that database operations still follow real SQL rules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A20E6D-C358-346F-F05E-41CC57E6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002" y="1290562"/>
            <a:ext cx="3239911" cy="48598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E5BF-974F-D2C9-0D1A-CCEEC74A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SQLite vs SQFlite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3D84B4-6A3F-1A62-2DB5-535AAA2EF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2230"/>
              </p:ext>
            </p:extLst>
          </p:nvPr>
        </p:nvGraphicFramePr>
        <p:xfrm>
          <a:off x="609600" y="1600200"/>
          <a:ext cx="10972797" cy="3846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933">
                  <a:extLst>
                    <a:ext uri="{9D8B030D-6E8A-4147-A177-3AD203B41FA5}">
                      <a16:colId xmlns:a16="http://schemas.microsoft.com/office/drawing/2014/main" val="115860235"/>
                    </a:ext>
                  </a:extLst>
                </a:gridCol>
                <a:gridCol w="3996265">
                  <a:extLst>
                    <a:ext uri="{9D8B030D-6E8A-4147-A177-3AD203B41FA5}">
                      <a16:colId xmlns:a16="http://schemas.microsoft.com/office/drawing/2014/main" val="683997984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4091546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133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b="1"/>
                        <a:t>SQLite Engine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A lightweight relational database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Stores and queries data locally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161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b="1"/>
                        <a:t>SQFlite Plugin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A Flutter plugin written in Dart + native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Bridges Flutter → 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451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b="1"/>
                        <a:t>App UI (Flutter Widgets)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Your application screens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Sends commands to SQFlite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66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b="1"/>
                        <a:t>Database File (.db)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Local file stored on the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Holds tables &amp;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4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054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SQFlite Basics (CRUD + Setup)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723" y="1609727"/>
            <a:ext cx="4988278" cy="488138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Key points </a:t>
            </a:r>
          </a:p>
          <a:p>
            <a:r>
              <a:rPr lang="en-US" b="0"/>
              <a:t>sqflite = SQLite database for Flutter (Android, iOS)</a:t>
            </a:r>
          </a:p>
          <a:p>
            <a:r>
              <a:rPr lang="en-US" b="0"/>
              <a:t>Work with Database object:</a:t>
            </a:r>
          </a:p>
          <a:p>
            <a:pPr lvl="1"/>
            <a:r>
              <a:rPr lang="en-US" b="0"/>
              <a:t>openDatabase() – open/create DB</a:t>
            </a:r>
          </a:p>
          <a:p>
            <a:pPr lvl="1"/>
            <a:r>
              <a:rPr lang="en-US" b="0"/>
              <a:t>onCreate – create tables (run CREATE TABLE)</a:t>
            </a:r>
          </a:p>
          <a:p>
            <a:pPr lvl="1"/>
            <a:r>
              <a:rPr lang="en-US" b="0"/>
              <a:t>insert() – add a row</a:t>
            </a:r>
          </a:p>
          <a:p>
            <a:pPr lvl="1"/>
            <a:r>
              <a:rPr lang="en-US" b="0"/>
              <a:t>query() – read rows</a:t>
            </a:r>
          </a:p>
          <a:p>
            <a:pPr lvl="1"/>
            <a:r>
              <a:rPr lang="en-US" b="0"/>
              <a:t>update() – change rows</a:t>
            </a:r>
          </a:p>
          <a:p>
            <a:pPr lvl="1"/>
            <a:r>
              <a:rPr lang="en-US" b="0"/>
              <a:t>delete() – remove rows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B92C2B-39FE-D0DD-8846-F7C39B78E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386" y="1609727"/>
            <a:ext cx="4743450" cy="5029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66A7-0F27-D5E2-F9B1-3AA9C118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5C8-F41C-6841-3EFE-DADEBFD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SQL SELECT Recap (for SQFlite)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955C16-6899-8A94-724A-73CAB2120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819678" y="2520774"/>
            <a:ext cx="5506241" cy="366553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DEB7A8-5496-3A2C-D891-ABAA62B1E9C8}"/>
              </a:ext>
            </a:extLst>
          </p:cNvPr>
          <p:cNvSpPr txBox="1"/>
          <p:nvPr/>
        </p:nvSpPr>
        <p:spPr>
          <a:xfrm>
            <a:off x="1049866" y="1971511"/>
            <a:ext cx="4820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Syntax block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969280-ED4C-7949-F9C8-74D1075DE78B}"/>
              </a:ext>
            </a:extLst>
          </p:cNvPr>
          <p:cNvSpPr txBox="1">
            <a:spLocks/>
          </p:cNvSpPr>
          <p:nvPr/>
        </p:nvSpPr>
        <p:spPr bwMode="auto">
          <a:xfrm>
            <a:off x="6619522" y="2433176"/>
            <a:ext cx="4988278" cy="366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/>
              <a:t>SELECT – which columns to return</a:t>
            </a:r>
          </a:p>
          <a:p>
            <a:r>
              <a:rPr lang="en-US" b="0"/>
              <a:t>FROM – which table</a:t>
            </a:r>
          </a:p>
          <a:p>
            <a:r>
              <a:rPr lang="en-US" b="0"/>
              <a:t>WHERE – filter rows</a:t>
            </a:r>
          </a:p>
          <a:p>
            <a:r>
              <a:rPr lang="en-US" b="0"/>
              <a:t>GROUP BY + HAVING – group &amp; filter groups (for SUM, COUNT, …)</a:t>
            </a:r>
          </a:p>
          <a:p>
            <a:r>
              <a:rPr lang="en-US" b="0"/>
              <a:t>ORDER BY – sort result</a:t>
            </a:r>
          </a:p>
          <a:p>
            <a:r>
              <a:rPr lang="en-US" b="0"/>
              <a:t>LIMIT / OFFSET – pagination (useful for mobile lists)</a:t>
            </a:r>
          </a:p>
        </p:txBody>
      </p:sp>
    </p:spTree>
    <p:extLst>
      <p:ext uri="{BB962C8B-B14F-4D97-AF65-F5344CB8AC3E}">
        <p14:creationId xmlns:p14="http://schemas.microsoft.com/office/powerpoint/2010/main" val="3591317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467" y="321916"/>
            <a:ext cx="10972800" cy="818503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Database Workflow Diagram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341144"/>
            <a:ext cx="3620911" cy="4845226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400"/>
              <a:t>Why this matters</a:t>
            </a:r>
          </a:p>
          <a:p>
            <a:pPr>
              <a:defRPr sz="1800"/>
            </a:pPr>
            <a:r>
              <a:rPr lang="en-US" sz="2000" b="0"/>
              <a:t>SQLite operations follow a predictable lifecycle.</a:t>
            </a:r>
          </a:p>
          <a:p>
            <a:pPr>
              <a:defRPr sz="1800"/>
            </a:pPr>
            <a:r>
              <a:rPr lang="en-US" sz="2000" b="0"/>
              <a:t>Understanding the flow helps reduce bugs and avoid bad database practices.</a:t>
            </a:r>
          </a:p>
          <a:p>
            <a:pPr>
              <a:defRPr sz="1800"/>
            </a:pPr>
            <a:r>
              <a:rPr lang="en-US" sz="2000" b="0"/>
              <a:t>Applies to: SQFlite, Moor/Drift, Hive (conceptually), and most SQL engines.</a:t>
            </a:r>
            <a:endParaRPr sz="20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0F54D-4AB6-FB77-A6F4-96E6246F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1341144"/>
            <a:ext cx="6832600" cy="45809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9.3: Offline Todo App (SQLite)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11" y="1476319"/>
            <a:ext cx="6784622" cy="5093813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Objective</a:t>
            </a:r>
          </a:p>
          <a:p>
            <a:pPr marL="400040" lvl="1" indent="0">
              <a:buNone/>
            </a:pPr>
            <a:r>
              <a:rPr lang="en-US" b="0"/>
              <a:t>Build a simple offline Todo list.</a:t>
            </a:r>
          </a:p>
          <a:p>
            <a:pPr marL="400040" lvl="1" indent="0">
              <a:buNone/>
            </a:pPr>
            <a:r>
              <a:rPr lang="en-US"/>
              <a:t>Simulate SQLite CRUD using an in-memory FakeDatabase</a:t>
            </a:r>
          </a:p>
          <a:p>
            <a:pPr marL="400040" lvl="1" indent="0">
              <a:buNone/>
            </a:pPr>
            <a:r>
              <a:rPr lang="en-US"/>
              <a:t>Practice insert, query, update, delete before real SQFLite</a:t>
            </a:r>
            <a:endParaRPr lang="en-US" b="0"/>
          </a:p>
          <a:p>
            <a:pPr marL="0" indent="0">
              <a:buNone/>
            </a:pPr>
            <a:r>
              <a:rPr lang="en-US" sz="2000"/>
              <a:t>Steps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Create Todo model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Implement FakeDatabase (insert/query/update/delete)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Load todos on startup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Add new todo (dialog → insert)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Toggle completed (update)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Delete task (Dismissible → delete)</a:t>
            </a:r>
          </a:p>
          <a:p>
            <a:pPr marL="742940" lvl="1" indent="-342900">
              <a:buFont typeface="+mj-lt"/>
              <a:buAutoNum type="arabicPeriod"/>
            </a:pPr>
            <a:r>
              <a:rPr lang="en-US" b="0"/>
              <a:t>Refresh UI after each operation</a:t>
            </a:r>
            <a:endParaRPr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596CC0-BF33-2FC0-1E12-40F4DB92C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669" y="1479588"/>
            <a:ext cx="3143620" cy="52511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Offline-First Concept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680" y="1349491"/>
            <a:ext cx="7486342" cy="535616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Offline First = App still works when offline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Key Idea: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/>
              <a:t>Load local data first (SharedPreferences / JSON / SQLite)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/>
              <a:t>Sync server when online (Module 10)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/>
              <a:t>Minimize errors, increase user experience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How it works: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/>
              <a:t>Store offline → Use offline → Sync online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/>
              <a:t>Resolve conflicts</a:t>
            </a:r>
          </a:p>
          <a:p>
            <a:pPr marL="74294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/>
              <a:t>Cache expiration</a:t>
            </a:r>
            <a:endParaRPr b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8C6C-474F-DD13-BF4F-D55CEA51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When to Use Which Storage?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B8FE2A-FAD4-9F6D-0813-759569A04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57" y="1601262"/>
            <a:ext cx="4913287" cy="45256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Rules of thumb:</a:t>
            </a:r>
          </a:p>
          <a:p>
            <a:pPr>
              <a:lnSpc>
                <a:spcPct val="150000"/>
              </a:lnSpc>
            </a:pPr>
            <a:r>
              <a:rPr lang="en-US" b="0"/>
              <a:t>Key-value → SharedPreferences</a:t>
            </a:r>
          </a:p>
          <a:p>
            <a:pPr>
              <a:lnSpc>
                <a:spcPct val="150000"/>
              </a:lnSpc>
            </a:pPr>
            <a:r>
              <a:rPr lang="en-US" b="0"/>
              <a:t>Small list → JSON file</a:t>
            </a:r>
          </a:p>
          <a:p>
            <a:pPr>
              <a:lnSpc>
                <a:spcPct val="150000"/>
              </a:lnSpc>
            </a:pPr>
            <a:r>
              <a:rPr lang="en-US" b="0"/>
              <a:t>Complex/multi-screen data → SQLite</a:t>
            </a:r>
          </a:p>
          <a:p>
            <a:pPr>
              <a:lnSpc>
                <a:spcPct val="150000"/>
              </a:lnSpc>
            </a:pPr>
            <a:r>
              <a:rPr lang="en-US" b="0"/>
              <a:t>Need sync → SQLite + backend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E19092-FC39-751F-3E25-EB5BC7C44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25116"/>
              </p:ext>
            </p:extLst>
          </p:nvPr>
        </p:nvGraphicFramePr>
        <p:xfrm>
          <a:off x="5962044" y="2165208"/>
          <a:ext cx="5645756" cy="252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878">
                  <a:extLst>
                    <a:ext uri="{9D8B030D-6E8A-4147-A177-3AD203B41FA5}">
                      <a16:colId xmlns:a16="http://schemas.microsoft.com/office/drawing/2014/main" val="1983860718"/>
                    </a:ext>
                  </a:extLst>
                </a:gridCol>
                <a:gridCol w="2822878">
                  <a:extLst>
                    <a:ext uri="{9D8B030D-6E8A-4147-A177-3AD203B41FA5}">
                      <a16:colId xmlns:a16="http://schemas.microsoft.com/office/drawing/2014/main" val="3851973311"/>
                    </a:ext>
                  </a:extLst>
                </a:gridCol>
              </a:tblGrid>
              <a:tr h="4718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2341"/>
                  </a:ext>
                </a:extLst>
              </a:tr>
              <a:tr h="471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Theme, small flags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SharedPreferences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025367"/>
                  </a:ext>
                </a:extLst>
              </a:tr>
              <a:tr h="471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notes, 1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Local JSON file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590977"/>
                  </a:ext>
                </a:extLst>
              </a:tr>
              <a:tr h="471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structured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SQLite (SQFlite)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421330"/>
                  </a:ext>
                </a:extLst>
              </a:tr>
              <a:tr h="471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Offline-first + 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SQLite + Firebase/REST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8681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13C68E-D229-B3B9-D1CF-66268C2E5BCA}"/>
              </a:ext>
            </a:extLst>
          </p:cNvPr>
          <p:cNvSpPr txBox="1"/>
          <p:nvPr/>
        </p:nvSpPr>
        <p:spPr>
          <a:xfrm>
            <a:off x="5836356" y="16012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Which storage for which use case?</a:t>
            </a:r>
          </a:p>
        </p:txBody>
      </p:sp>
    </p:spTree>
    <p:extLst>
      <p:ext uri="{BB962C8B-B14F-4D97-AF65-F5344CB8AC3E}">
        <p14:creationId xmlns:p14="http://schemas.microsoft.com/office/powerpoint/2010/main" val="882875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2A2B-6C09-A5D6-D1FF-553B2DFA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9876-EF44-F6C9-FE6B-520DBBAB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Lab 9 Overview (Offline-First Mini App)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B5053-96EF-8590-9D90-8A67E92F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30" y="1433689"/>
            <a:ext cx="6800548" cy="4915377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Objectives: Build an Offline-First Multi-Storage App</a:t>
            </a:r>
          </a:p>
          <a:p>
            <a:r>
              <a:rPr lang="en-US" sz="2000"/>
              <a:t>You will:</a:t>
            </a:r>
          </a:p>
          <a:p>
            <a:pPr lvl="1"/>
            <a:r>
              <a:rPr lang="en-US" b="0"/>
              <a:t>Use SharedPreferences to save app theme (Dark/Light mode)</a:t>
            </a:r>
          </a:p>
          <a:p>
            <a:pPr lvl="1"/>
            <a:r>
              <a:rPr lang="en-US" b="0"/>
              <a:t>Save &amp; load notes using a local JSON file</a:t>
            </a:r>
          </a:p>
          <a:p>
            <a:pPr lvl="1"/>
            <a:r>
              <a:rPr lang="en-US" b="0"/>
              <a:t>CRUD tasks using SQLite (or FakeSQLite)</a:t>
            </a:r>
          </a:p>
          <a:p>
            <a:pPr lvl="1"/>
            <a:r>
              <a:rPr lang="en-US" b="0"/>
              <a:t>Handle UI refresh after local storage updates</a:t>
            </a:r>
          </a:p>
          <a:p>
            <a:pPr lvl="1"/>
            <a:r>
              <a:rPr lang="en-US" b="0"/>
              <a:t>Understand how three storage layers can work together</a:t>
            </a:r>
          </a:p>
          <a:p>
            <a:r>
              <a:rPr lang="en-US"/>
              <a:t>Note:</a:t>
            </a:r>
          </a:p>
          <a:p>
            <a:pPr lvl="1"/>
            <a:r>
              <a:rPr lang="en-US" b="0" i="1"/>
              <a:t>This lab combines concepts from all Demos 9.1 → 9.3.</a:t>
            </a:r>
            <a:endParaRPr lang="en-US" b="0"/>
          </a:p>
          <a:p>
            <a:pPr marL="456712" lvl="1" indent="0">
              <a:buNone/>
            </a:pPr>
            <a:endParaRPr lang="en-US" sz="18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7C390-28A5-2486-B10E-F56DD463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045" y="1433689"/>
            <a:ext cx="3321756" cy="51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46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4F37-1B9C-2421-DDB6-C6AA320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F06-E657-9371-C4DA-7F147F6B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03200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82C1-55BA-F0EB-6E98-573CB14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0" y="1066313"/>
            <a:ext cx="10855869" cy="506616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You learned the three main local-storage methods in Flutter:</a:t>
            </a:r>
          </a:p>
          <a:p>
            <a:pPr marL="456712" lvl="1" indent="0">
              <a:lnSpc>
                <a:spcPct val="150000"/>
              </a:lnSpc>
              <a:buNone/>
            </a:pPr>
            <a:r>
              <a:rPr lang="en-US" b="1"/>
              <a:t>SharedPreferences, Local JSON files, and SQLite/SQFlite.</a:t>
            </a:r>
          </a:p>
          <a:p>
            <a:pPr>
              <a:lnSpc>
                <a:spcPct val="150000"/>
              </a:lnSpc>
            </a:pPr>
            <a:r>
              <a:rPr lang="en-US" b="0"/>
              <a:t>SharedPreferences: best for small key-value data (theme, flags), fast and simple.</a:t>
            </a:r>
          </a:p>
          <a:p>
            <a:pPr>
              <a:lnSpc>
                <a:spcPct val="150000"/>
              </a:lnSpc>
            </a:pPr>
            <a:r>
              <a:rPr lang="en-US" b="0"/>
              <a:t>JSON files: good for document-style data (notes, cache), flexible and easy to import/export.</a:t>
            </a:r>
          </a:p>
          <a:p>
            <a:pPr>
              <a:lnSpc>
                <a:spcPct val="150000"/>
              </a:lnSpc>
            </a:pPr>
            <a:r>
              <a:rPr lang="en-US" b="0"/>
              <a:t>SQLite/SQFlite: ideal for large, structured data with full CRUD and query support.</a:t>
            </a:r>
          </a:p>
          <a:p>
            <a:pPr>
              <a:lnSpc>
                <a:spcPct val="150000"/>
              </a:lnSpc>
            </a:pPr>
            <a:r>
              <a:rPr lang="en-US" b="0"/>
              <a:t>Demos 9.1 → 9.3 built an Offline-First mini app: save theme → save notes → manage todos with SQLite.</a:t>
            </a:r>
          </a:p>
        </p:txBody>
      </p:sp>
    </p:spTree>
    <p:extLst>
      <p:ext uri="{BB962C8B-B14F-4D97-AF65-F5344CB8AC3E}">
        <p14:creationId xmlns:p14="http://schemas.microsoft.com/office/powerpoint/2010/main" val="296034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870" y="1828800"/>
            <a:ext cx="8524606" cy="4297630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nb-NO" sz="2400" b="0"/>
              <a:t>Mastering Flutter 2025, Chapters 9, 11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docs.flutter.dev</a:t>
            </a:r>
            <a:endParaRPr lang="en-US" sz="2400" b="0"/>
          </a:p>
          <a:p>
            <a:pPr>
              <a:lnSpc>
                <a:spcPct val="150000"/>
              </a:lnSpc>
              <a:defRPr sz="1800"/>
            </a:pPr>
            <a:r>
              <a:rPr lang="en-US" sz="2400">
                <a:hlinkClick r:id="rId3"/>
              </a:rPr>
              <a:t>https://dartpad.dev</a:t>
            </a:r>
            <a:endParaRPr lang="en-US" sz="2400"/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path_provider Flutter plugin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SharedPreferences Flutter plugin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10494</TotalTime>
  <Words>7571</Words>
  <Application>Microsoft Office PowerPoint</Application>
  <PresentationFormat>Widescreen</PresentationFormat>
  <Paragraphs>1353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Myriad Pro</vt:lpstr>
      <vt:lpstr>Tahoma</vt:lpstr>
      <vt:lpstr>Times New Roman</vt:lpstr>
      <vt:lpstr>Wingdings</vt:lpstr>
      <vt:lpstr>Theme1</vt:lpstr>
      <vt:lpstr>Module 9 - Local Storage &amp; Persistence in Flutter </vt:lpstr>
      <vt:lpstr>Learning Objectives</vt:lpstr>
      <vt:lpstr>Why Local Storage?</vt:lpstr>
      <vt:lpstr>Types of Local Storage in Flutter</vt:lpstr>
      <vt:lpstr>What is SharedPreferences?</vt:lpstr>
      <vt:lpstr>SharedPreferences Workflow</vt:lpstr>
      <vt:lpstr>SharedPreferences Support Across Environments</vt:lpstr>
      <vt:lpstr>Demo 9.1: Saving App Settings</vt:lpstr>
      <vt:lpstr>Demo 9.1: Saving App Settings</vt:lpstr>
      <vt:lpstr> Why Use Local Files? File Storage Basics</vt:lpstr>
      <vt:lpstr>Key-Value Persistence Overview</vt:lpstr>
      <vt:lpstr>Demo 9.2: Key-Value Storage (DartPad Version)”</vt:lpstr>
      <vt:lpstr>Why SQLite?</vt:lpstr>
      <vt:lpstr>SQFLite vs SQLite: What’s the Difference?</vt:lpstr>
      <vt:lpstr>SQLite vs SQFlite</vt:lpstr>
      <vt:lpstr>SQFlite Basics (CRUD + Setup)</vt:lpstr>
      <vt:lpstr>SQL SELECT Recap (for SQFlite)</vt:lpstr>
      <vt:lpstr>Database Workflow Diagram</vt:lpstr>
      <vt:lpstr>Demo 9.3: Offline Todo App (SQLite)</vt:lpstr>
      <vt:lpstr>Offline-First Concept</vt:lpstr>
      <vt:lpstr>When to Use Which Storage?</vt:lpstr>
      <vt:lpstr>Lab 9 Overview (Offline-First Mini App)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36</cp:revision>
  <dcterms:created xsi:type="dcterms:W3CDTF">2013-01-27T09:14:16Z</dcterms:created>
  <dcterms:modified xsi:type="dcterms:W3CDTF">2025-12-11T06:33:34Z</dcterms:modified>
  <cp:category/>
</cp:coreProperties>
</file>