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4"/>
  </p:notesMasterIdLst>
  <p:sldIdLst>
    <p:sldId id="276" r:id="rId2"/>
    <p:sldId id="275" r:id="rId3"/>
    <p:sldId id="257" r:id="rId4"/>
    <p:sldId id="306" r:id="rId5"/>
    <p:sldId id="317" r:id="rId6"/>
    <p:sldId id="260" r:id="rId7"/>
    <p:sldId id="307" r:id="rId8"/>
    <p:sldId id="308" r:id="rId9"/>
    <p:sldId id="309" r:id="rId10"/>
    <p:sldId id="310" r:id="rId11"/>
    <p:sldId id="311" r:id="rId12"/>
    <p:sldId id="280" r:id="rId13"/>
    <p:sldId id="318" r:id="rId14"/>
    <p:sldId id="261" r:id="rId15"/>
    <p:sldId id="319" r:id="rId16"/>
    <p:sldId id="263" r:id="rId17"/>
    <p:sldId id="320" r:id="rId18"/>
    <p:sldId id="300" r:id="rId19"/>
    <p:sldId id="321" r:id="rId20"/>
    <p:sldId id="316" r:id="rId21"/>
    <p:sldId id="290" r:id="rId22"/>
    <p:sldId id="274" r:id="rId23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61" autoAdjust="0"/>
    <p:restoredTop sz="84387" autoAdjust="0"/>
  </p:normalViewPr>
  <p:slideViewPr>
    <p:cSldViewPr snapToGrid="0" snapToObjects="1">
      <p:cViewPr varScale="1">
        <p:scale>
          <a:sx n="70" d="100"/>
          <a:sy n="70" d="100"/>
        </p:scale>
        <p:origin x="1152" y="5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112553-EA1B-4B29-ADCC-3A47A68A6AD6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B56F68-4D1E-40C7-852D-6D05FEA8C4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3230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1805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Emphasize practical learning and demo-driven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737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7946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F10F5-E92A-BB56-693C-B253FB7B7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77D1E7-DF7F-48E1-0CBE-99DADBF698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E49D2F-1628-FA49-FE3A-5E4DA01A7B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8B3F1D-A5C1-8CA0-65AD-91B43C5C53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6929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92799-C0A8-37BA-F00F-62A2C2175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61F04C-4F21-B844-B1BA-878F70996C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6FC5FF4-5413-0544-8C12-F247D95687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BF78E7-32AD-64AA-9840-53334D9AAE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3109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0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1232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12765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61A93-6704-3F5F-86CC-6F8D97523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E9A452-9361-B1BE-0304-01F8AA94C2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5D05AF-2DAB-806D-A870-9464309375C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6E2D4B-AC35-8FA2-792D-EC0A613C62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7762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This one app will support all examples and Lab 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38659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3FF74-C224-F4B2-2EA6-1AE653EA8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226A65-8182-2794-392A-255DA5F081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4DE4B41-2557-E72F-00D0-137E248D9B3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DB6CE6-2868-382C-44C2-5219BE6418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2267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test/unit/demo_11_1_task_model_test.dart</a:t>
            </a:r>
            <a:endParaRPr lang="en-US" b="1"/>
          </a:p>
          <a:p>
            <a:endParaRPr lang="en-US" b="0"/>
          </a:p>
          <a:p>
            <a:r>
              <a:rPr lang="en-US" b="0"/>
              <a:t>import 'package:flutter_test/flutter_test.dart';</a:t>
            </a:r>
          </a:p>
          <a:p>
            <a:r>
              <a:rPr lang="en-US" b="0"/>
              <a:t>import 'package:demo11_taskly/models/task.dart';</a:t>
            </a:r>
          </a:p>
          <a:p>
            <a:endParaRPr lang="en-US" b="0"/>
          </a:p>
          <a:p>
            <a:r>
              <a:rPr lang="en-US" b="0"/>
              <a:t>void main() {</a:t>
            </a:r>
          </a:p>
          <a:p>
            <a:r>
              <a:rPr lang="en-US" b="0"/>
              <a:t>  group('Task model – Demo 11.1', () {</a:t>
            </a:r>
          </a:p>
          <a:p>
            <a:r>
              <a:rPr lang="en-US" b="0"/>
              <a:t>    test('toggle() should switch completed state', () {</a:t>
            </a:r>
          </a:p>
          <a:p>
            <a:r>
              <a:rPr lang="en-US" b="0"/>
              <a:t>      // STEP 1 – Arrange</a:t>
            </a:r>
          </a:p>
          <a:p>
            <a:r>
              <a:rPr lang="en-US" b="0"/>
              <a:t>      final task = Task(id: '1', title: 'Demo task');</a:t>
            </a:r>
          </a:p>
          <a:p>
            <a:endParaRPr lang="en-US" b="0"/>
          </a:p>
          <a:p>
            <a:r>
              <a:rPr lang="en-US" b="0"/>
              <a:t>      expect(task.completed, false);</a:t>
            </a:r>
          </a:p>
          <a:p>
            <a:endParaRPr lang="en-US" b="0"/>
          </a:p>
          <a:p>
            <a:r>
              <a:rPr lang="en-US" b="0"/>
              <a:t>      // STEP 2 – Act</a:t>
            </a:r>
          </a:p>
          <a:p>
            <a:r>
              <a:rPr lang="en-US" b="0"/>
              <a:t>      task.toggle();</a:t>
            </a:r>
          </a:p>
          <a:p>
            <a:endParaRPr lang="en-US" b="0"/>
          </a:p>
          <a:p>
            <a:r>
              <a:rPr lang="en-US" b="0"/>
              <a:t>      // STEP 3 – Assert</a:t>
            </a:r>
          </a:p>
          <a:p>
            <a:r>
              <a:rPr lang="en-US" b="0"/>
              <a:t>      expect(task.completed, true);</a:t>
            </a:r>
          </a:p>
          <a:p>
            <a:endParaRPr lang="en-US" b="0"/>
          </a:p>
          <a:p>
            <a:r>
              <a:rPr lang="en-US" b="0"/>
              <a:t>      // Optional: toggle again</a:t>
            </a:r>
          </a:p>
          <a:p>
            <a:r>
              <a:rPr lang="en-US" b="0"/>
              <a:t>      task.toggle();</a:t>
            </a:r>
          </a:p>
          <a:p>
            <a:r>
              <a:rPr lang="en-US" b="0"/>
              <a:t>      expect(task.completed, false);</a:t>
            </a:r>
          </a:p>
          <a:p>
            <a:r>
              <a:rPr lang="en-US" b="0"/>
              <a:t>    });</a:t>
            </a:r>
          </a:p>
          <a:p>
            <a:r>
              <a:rPr lang="en-US" b="0"/>
              <a:t>  });</a:t>
            </a:r>
          </a:p>
          <a:p>
            <a:r>
              <a:rPr lang="en-US" b="0"/>
              <a:t>}</a:t>
            </a:r>
          </a:p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5186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35F6F-3BBE-09F6-D9D1-899FEFC72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3825936-C8AE-6640-D1D7-11F2A1C812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F5D7B1-6AE3-E2D9-F461-A153634A3C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1 — Create the correct file path 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test/unit/demo_11_1_task_model_test.dart</a:t>
            </a:r>
            <a:endParaRPr lang="en-US" b="1"/>
          </a:p>
          <a:p>
            <a:pPr rtl="0"/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2 — Copy the sample test content </a:t>
            </a:r>
          </a:p>
          <a:p>
            <a:pPr rtl="0"/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STEP 3 — Run the test using the terminal (flutter test)</a:t>
            </a:r>
          </a:p>
          <a:p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3DB5EF-E99B-F8A0-BEBC-97E7E55450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48088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/>
              <a:t>import 'package:flutter/material.dart';</a:t>
            </a:r>
          </a:p>
          <a:p>
            <a:r>
              <a:rPr lang="en-US" b="0"/>
              <a:t>import 'package:flutter_test/flutter_test.dart';</a:t>
            </a:r>
          </a:p>
          <a:p>
            <a:r>
              <a:rPr lang="en-US" b="0"/>
              <a:t>import 'package:provider/provider.dart';</a:t>
            </a:r>
          </a:p>
          <a:p>
            <a:endParaRPr lang="en-US" b="0"/>
          </a:p>
          <a:p>
            <a:r>
              <a:rPr lang="en-US" b="0"/>
              <a:t>import 'package:demo11_taskly/providers/task_provider.dart';</a:t>
            </a:r>
          </a:p>
          <a:p>
            <a:r>
              <a:rPr lang="en-US" b="0"/>
              <a:t>import 'package:demo11_taskly/repository/task_repository.dart';</a:t>
            </a:r>
          </a:p>
          <a:p>
            <a:r>
              <a:rPr lang="en-US" b="0"/>
              <a:t>import 'package:demo11_taskly/screens/task_list_screen.dart';</a:t>
            </a:r>
          </a:p>
          <a:p>
            <a:endParaRPr lang="en-US" b="0"/>
          </a:p>
          <a:p>
            <a:r>
              <a:rPr lang="en-US" b="0"/>
              <a:t>Widget createTaskListTestApp() {</a:t>
            </a:r>
          </a:p>
          <a:p>
            <a:r>
              <a:rPr lang="en-US" b="0"/>
              <a:t>  return ChangeNotifierProvider(</a:t>
            </a:r>
          </a:p>
          <a:p>
            <a:r>
              <a:rPr lang="en-US" b="0"/>
              <a:t>    create: (_) =&gt; TaskProvider(TaskRepository()),</a:t>
            </a:r>
          </a:p>
          <a:p>
            <a:r>
              <a:rPr lang="en-US" b="0"/>
              <a:t>    child: const MaterialApp(</a:t>
            </a:r>
          </a:p>
          <a:p>
            <a:r>
              <a:rPr lang="en-US" b="0"/>
              <a:t>      home: TaskListScreen(),</a:t>
            </a:r>
          </a:p>
          <a:p>
            <a:r>
              <a:rPr lang="en-US" b="0"/>
              <a:t>    ),</a:t>
            </a:r>
          </a:p>
          <a:p>
            <a:r>
              <a:rPr lang="en-US" b="0"/>
              <a:t>  );</a:t>
            </a:r>
          </a:p>
          <a:p>
            <a:r>
              <a:rPr lang="en-US" b="0"/>
              <a:t>}</a:t>
            </a:r>
          </a:p>
          <a:p>
            <a:endParaRPr lang="en-US" b="0"/>
          </a:p>
          <a:p>
            <a:r>
              <a:rPr lang="en-US" b="0"/>
              <a:t>void main() {</a:t>
            </a:r>
          </a:p>
          <a:p>
            <a:r>
              <a:rPr lang="en-US" b="0"/>
              <a:t>  group('Task List – Demo 11.2', () {</a:t>
            </a:r>
          </a:p>
          <a:p>
            <a:r>
              <a:rPr lang="en-US" b="0"/>
              <a:t>    testWidgets('adding a task should display it in the list',</a:t>
            </a:r>
          </a:p>
          <a:p>
            <a:r>
              <a:rPr lang="en-US" b="0"/>
              <a:t>        (WidgetTester tester) async {</a:t>
            </a:r>
          </a:p>
          <a:p>
            <a:r>
              <a:rPr lang="en-US" b="0"/>
              <a:t>      // STEP 1 – Arrange</a:t>
            </a:r>
          </a:p>
          <a:p>
            <a:r>
              <a:rPr lang="en-US" b="0"/>
              <a:t>      await tester.pumpWidget(createTaskListTestApp());</a:t>
            </a:r>
          </a:p>
          <a:p>
            <a:r>
              <a:rPr lang="en-US" b="0"/>
              <a:t>      expect(find.text('No tasks yet. Add one!'), findsOneWidget);</a:t>
            </a:r>
          </a:p>
          <a:p>
            <a:endParaRPr lang="en-US" b="0"/>
          </a:p>
          <a:p>
            <a:r>
              <a:rPr lang="en-US" b="0"/>
              <a:t>      // STEP 2 – Act</a:t>
            </a:r>
          </a:p>
          <a:p>
            <a:r>
              <a:rPr lang="en-US" b="0"/>
              <a:t>      await tester.enterText(</a:t>
            </a:r>
          </a:p>
          <a:p>
            <a:r>
              <a:rPr lang="en-US" b="0"/>
              <a:t>        find.byKey(const Key('taskTextField')),</a:t>
            </a:r>
          </a:p>
          <a:p>
            <a:r>
              <a:rPr lang="en-US" b="0"/>
              <a:t>        'Buy milk',</a:t>
            </a:r>
          </a:p>
          <a:p>
            <a:r>
              <a:rPr lang="en-US" b="0"/>
              <a:t>      );</a:t>
            </a:r>
          </a:p>
          <a:p>
            <a:r>
              <a:rPr lang="en-US" b="0"/>
              <a:t>      await tester.tap(find.byKey(const Key('addTaskButton')));</a:t>
            </a:r>
          </a:p>
          <a:p>
            <a:r>
              <a:rPr lang="en-US" b="0"/>
              <a:t>      await tester.pump();</a:t>
            </a:r>
          </a:p>
          <a:p>
            <a:endParaRPr lang="en-US" b="0"/>
          </a:p>
          <a:p>
            <a:r>
              <a:rPr lang="en-US" b="0"/>
              <a:t>      // STEP 3 – Assert</a:t>
            </a:r>
          </a:p>
          <a:p>
            <a:r>
              <a:rPr lang="en-US" b="0"/>
              <a:t>      expect(find.text('Buy milk'), findsOneWidget);</a:t>
            </a:r>
          </a:p>
          <a:p>
            <a:r>
              <a:rPr lang="en-US" b="0"/>
              <a:t>      expect(find.text('No tasks yet. Add one!'), findsNothing);</a:t>
            </a:r>
          </a:p>
          <a:p>
            <a:r>
              <a:rPr lang="en-US" b="0"/>
              <a:t>    });</a:t>
            </a:r>
          </a:p>
          <a:p>
            <a:r>
              <a:rPr lang="en-US" b="0"/>
              <a:t>  });</a:t>
            </a:r>
          </a:p>
          <a:p>
            <a:r>
              <a:rPr lang="en-US" b="0"/>
              <a:t>}</a:t>
            </a:r>
          </a:p>
          <a:p>
            <a:endParaRPr lang="en-US" b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9204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E232B-90C7-A63E-929D-44FBEE927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09A50B7-CAC8-6991-5C6F-8AF00108CF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8641B2-92D2-5C1E-7960-EB484949EE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FF8651-DC7D-B041-CA99-1BD87E4748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2516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798830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150F7-1E1E-06CC-BB53-8F7B9ED051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737436-03A1-9DC9-3F91-32DC1C2132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14B5AC-055C-36C5-0142-85EB45111B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ED52D6-D87D-2472-752A-8CBF8AD0C1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3857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import 'package:flutter/material.dart';</a:t>
            </a:r>
          </a:p>
          <a:p>
            <a:r>
              <a:rPr lang="en-US"/>
              <a:t>import 'package:flutter_test/flutter_test.dart';</a:t>
            </a:r>
          </a:p>
          <a:p>
            <a:r>
              <a:rPr lang="en-US"/>
              <a:t>import 'package:provider/provider.dart';</a:t>
            </a:r>
          </a:p>
          <a:p>
            <a:endParaRPr lang="en-US"/>
          </a:p>
          <a:p>
            <a:r>
              <a:rPr lang="en-US"/>
              <a:t>import 'package:demo11_taskly/providers/task_provider.dart';</a:t>
            </a:r>
          </a:p>
          <a:p>
            <a:r>
              <a:rPr lang="en-US"/>
              <a:t>import 'package:demo11_taskly/repository/task_repository.dart';</a:t>
            </a:r>
          </a:p>
          <a:p>
            <a:r>
              <a:rPr lang="en-US"/>
              <a:t>import 'package:demo11_taskly/screens/task_list_screen.dart';</a:t>
            </a:r>
          </a:p>
          <a:p>
            <a:endParaRPr lang="en-US"/>
          </a:p>
          <a:p>
            <a:r>
              <a:rPr lang="en-US"/>
              <a:t>Widget createFullAppForIntegration() {</a:t>
            </a:r>
          </a:p>
          <a:p>
            <a:r>
              <a:rPr lang="en-US"/>
              <a:t>  return ChangeNotifierProvider(</a:t>
            </a:r>
          </a:p>
          <a:p>
            <a:r>
              <a:rPr lang="en-US"/>
              <a:t>    create: (_) =&gt; TaskProvider(TaskRepository()),</a:t>
            </a:r>
          </a:p>
          <a:p>
            <a:r>
              <a:rPr lang="en-US"/>
              <a:t>    child: const MaterialApp(</a:t>
            </a:r>
          </a:p>
          <a:p>
            <a:r>
              <a:rPr lang="en-US"/>
              <a:t>      home: TaskListScreen(),</a:t>
            </a:r>
          </a:p>
          <a:p>
            <a:r>
              <a:rPr lang="en-US"/>
              <a:t>    ),</a:t>
            </a:r>
          </a:p>
          <a:p>
            <a:r>
              <a:rPr lang="en-US"/>
              <a:t>  );</a:t>
            </a:r>
          </a:p>
          <a:p>
            <a:r>
              <a:rPr lang="en-US"/>
              <a:t>}</a:t>
            </a:r>
          </a:p>
          <a:p>
            <a:endParaRPr lang="en-US"/>
          </a:p>
          <a:p>
            <a:r>
              <a:rPr lang="en-US"/>
              <a:t>void main() {</a:t>
            </a:r>
          </a:p>
          <a:p>
            <a:r>
              <a:rPr lang="en-US"/>
              <a:t>  group('Integration flow – Demo 11.4', () {</a:t>
            </a:r>
          </a:p>
          <a:p>
            <a:r>
              <a:rPr lang="en-US"/>
              <a:t>    testWidgets('add, open detail, edit, save and return to updated list',</a:t>
            </a:r>
          </a:p>
          <a:p>
            <a:r>
              <a:rPr lang="en-US"/>
              <a:t>        (WidgetTester tester) async {</a:t>
            </a:r>
          </a:p>
          <a:p>
            <a:r>
              <a:rPr lang="en-US"/>
              <a:t>      // STEP 1 – Arrange</a:t>
            </a:r>
          </a:p>
          <a:p>
            <a:r>
              <a:rPr lang="en-US"/>
              <a:t>      await tester.pumpWidget(createFullAppForIntegration());</a:t>
            </a:r>
          </a:p>
          <a:p>
            <a:endParaRPr lang="en-US"/>
          </a:p>
          <a:p>
            <a:r>
              <a:rPr lang="en-US"/>
              <a:t>      // STEP 2 – Act: add a new task</a:t>
            </a:r>
          </a:p>
          <a:p>
            <a:r>
              <a:rPr lang="en-US"/>
              <a:t>      await tester.enterText(</a:t>
            </a:r>
          </a:p>
          <a:p>
            <a:r>
              <a:rPr lang="en-US"/>
              <a:t>        find.byKey(const Key('taskTextField')),</a:t>
            </a:r>
          </a:p>
          <a:p>
            <a:r>
              <a:rPr lang="en-US"/>
              <a:t>        'Original title',</a:t>
            </a:r>
          </a:p>
          <a:p>
            <a:r>
              <a:rPr lang="en-US"/>
              <a:t>      );</a:t>
            </a:r>
          </a:p>
          <a:p>
            <a:r>
              <a:rPr lang="en-US"/>
              <a:t>      await tester.tap(find.byKey(const Key('addTaskButton')));</a:t>
            </a:r>
          </a:p>
          <a:p>
            <a:r>
              <a:rPr lang="en-US"/>
              <a:t>      await tester.pump();</a:t>
            </a:r>
          </a:p>
          <a:p>
            <a:endParaRPr lang="en-US"/>
          </a:p>
          <a:p>
            <a:r>
              <a:rPr lang="en-US"/>
              <a:t>      // Open detail</a:t>
            </a:r>
          </a:p>
          <a:p>
            <a:r>
              <a:rPr lang="en-US"/>
              <a:t>      await tester.tap(find.text('Original title'));</a:t>
            </a:r>
          </a:p>
          <a:p>
            <a:r>
              <a:rPr lang="en-US"/>
              <a:t>      await tester.pumpAndSettle();</a:t>
            </a:r>
          </a:p>
          <a:p>
            <a:r>
              <a:rPr lang="en-US"/>
              <a:t>      expect(find.text('Task Detail'), findsOneWidget);</a:t>
            </a:r>
          </a:p>
          <a:p>
            <a:endParaRPr lang="en-US"/>
          </a:p>
          <a:p>
            <a:r>
              <a:rPr lang="en-US"/>
              <a:t>      // Edit title</a:t>
            </a:r>
          </a:p>
          <a:p>
            <a:r>
              <a:rPr lang="en-US"/>
              <a:t>      await tester.enterText(</a:t>
            </a:r>
          </a:p>
          <a:p>
            <a:r>
              <a:rPr lang="en-US"/>
              <a:t>        find.byKey(const Key('detailTitleField')),</a:t>
            </a:r>
          </a:p>
          <a:p>
            <a:r>
              <a:rPr lang="en-US"/>
              <a:t>        'Updated title',</a:t>
            </a:r>
          </a:p>
          <a:p>
            <a:r>
              <a:rPr lang="en-US"/>
              <a:t>      );</a:t>
            </a:r>
          </a:p>
          <a:p>
            <a:r>
              <a:rPr lang="en-US"/>
              <a:t>      await tester.tap(find.byKey(const Key('detailSaveButton')));</a:t>
            </a:r>
          </a:p>
          <a:p>
            <a:r>
              <a:rPr lang="en-US"/>
              <a:t>      await tester.pumpAndSettle();</a:t>
            </a:r>
          </a:p>
          <a:p>
            <a:endParaRPr lang="en-US"/>
          </a:p>
          <a:p>
            <a:r>
              <a:rPr lang="en-US"/>
              <a:t>      // STEP 3 – Assert</a:t>
            </a:r>
          </a:p>
          <a:p>
            <a:r>
              <a:rPr lang="en-US"/>
              <a:t>      expect(find.text('Updated title'), findsOneWidget);</a:t>
            </a:r>
          </a:p>
          <a:p>
            <a:r>
              <a:rPr lang="en-US"/>
              <a:t>      expect(find.text('Original title'), findsNothing);</a:t>
            </a:r>
          </a:p>
          <a:p>
            <a:r>
              <a:rPr lang="en-US"/>
              <a:t>    });</a:t>
            </a:r>
          </a:p>
          <a:p>
            <a:r>
              <a:rPr lang="en-US"/>
              <a:t>  });</a:t>
            </a:r>
          </a:p>
          <a:p>
            <a:r>
              <a:rPr lang="en-US"/>
              <a:t>}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46880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C95BF-1872-6CFF-762F-ACD1DDA91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184C57-B171-B029-6EBB-7C4C46B8D7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9BD8A9-DA99-09D7-61BB-86C2CE78C1D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Why integration tests are important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Validate entire user journey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200">
                <a:latin typeface="Times New Roman" panose="02020603050405020304" pitchFamily="18" charset="0"/>
                <a:cs typeface="Times New Roman" panose="02020603050405020304" pitchFamily="18" charset="0"/>
              </a:rPr>
              <a:t>Ensure that all layers (UI → Provider → Repository) interact correctly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2030D1-EE82-301D-2483-CBBC55CCB6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5298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C0B95-DAF4-3F64-122E-0453BBD4DD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402F60-2F42-BB13-0E38-E99E487003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8F52D6-1EC0-EA96-ACF3-FA1223C02D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747C06-59EB-E530-57F6-70F65489EB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49178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347DE-B4D6-9270-6366-E375AB403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2EC3A7-7616-997E-68E2-64EC6F2FE5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DEF2479-A35C-BA47-0B21-843F07F395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1E1A2A-C6DF-E673-821D-84F85C65B6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71980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CB56F68-4D1E-40C7-852D-6D05FEA8C46B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4072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0" y="2747700"/>
            <a:ext cx="8890000" cy="41103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619503" y="3175003"/>
            <a:ext cx="8394700" cy="1827699"/>
          </a:xfrm>
        </p:spPr>
        <p:txBody>
          <a:bodyPr>
            <a:normAutofit/>
          </a:bodyPr>
          <a:lstStyle>
            <a:lvl1pPr>
              <a:defRPr sz="3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19500" y="5143500"/>
            <a:ext cx="8407400" cy="990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  <a:lvl2pPr marL="457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4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6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82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9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3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u="sng"/>
            </a:lvl1pPr>
          </a:lstStyle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026" name="Picture 2" descr="Trường Đại học FPT - Trang thông tin chính thức của Trường Đại học FPT">
            <a:extLst>
              <a:ext uri="{FF2B5EF4-FFF2-40B4-BE49-F238E27FC236}">
                <a16:creationId xmlns:a16="http://schemas.microsoft.com/office/drawing/2014/main" id="{927C769E-55C7-471C-1D7E-23073626EE8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57" y="73724"/>
            <a:ext cx="2745295" cy="851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525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508000"/>
            <a:ext cx="10972800" cy="818503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2050" name="Picture 2" descr="Trường Đại học FPT - Trang thông tin chính thức của Trường Đại học FPT">
            <a:extLst>
              <a:ext uri="{FF2B5EF4-FFF2-40B4-BE49-F238E27FC236}">
                <a16:creationId xmlns:a16="http://schemas.microsoft.com/office/drawing/2014/main" id="{C3B57BE2-AC6B-6184-13BB-8E589C94BF2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07" y="67662"/>
            <a:ext cx="1710118" cy="5304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98075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393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5"/>
            <a:ext cx="5386917" cy="639763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166" indent="0">
              <a:buNone/>
              <a:defRPr sz="2000" b="1"/>
            </a:lvl2pPr>
            <a:lvl3pPr marL="914331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5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18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2" y="1535115"/>
            <a:ext cx="5389033" cy="639763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166" indent="0">
              <a:buNone/>
              <a:defRPr sz="2000" b="1"/>
            </a:lvl2pPr>
            <a:lvl3pPr marL="914331" indent="0">
              <a:buNone/>
              <a:defRPr sz="1800" b="1"/>
            </a:lvl3pPr>
            <a:lvl4pPr marL="1371498" indent="0">
              <a:buNone/>
              <a:defRPr sz="1600" b="1"/>
            </a:lvl4pPr>
            <a:lvl5pPr marL="1828664" indent="0">
              <a:buNone/>
              <a:defRPr sz="1600" b="1"/>
            </a:lvl5pPr>
            <a:lvl6pPr marL="2285829" indent="0">
              <a:buNone/>
              <a:defRPr sz="1600" b="1"/>
            </a:lvl6pPr>
            <a:lvl7pPr marL="2742995" indent="0">
              <a:buNone/>
              <a:defRPr sz="1600" b="1"/>
            </a:lvl7pPr>
            <a:lvl8pPr marL="3200160" indent="0">
              <a:buNone/>
              <a:defRPr sz="1600" b="1"/>
            </a:lvl8pPr>
            <a:lvl9pPr marL="365732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000"/>
            </a:lvl2pPr>
            <a:lvl3pPr>
              <a:spcBef>
                <a:spcPts val="450"/>
              </a:spcBef>
              <a:spcAft>
                <a:spcPts val="450"/>
              </a:spcAft>
              <a:defRPr sz="1800"/>
            </a:lvl3pPr>
            <a:lvl4pPr>
              <a:spcBef>
                <a:spcPts val="450"/>
              </a:spcBef>
              <a:spcAft>
                <a:spcPts val="450"/>
              </a:spcAft>
              <a:defRPr sz="1600"/>
            </a:lvl4pPr>
            <a:lvl5pPr>
              <a:spcBef>
                <a:spcPts val="450"/>
              </a:spcBef>
              <a:spcAft>
                <a:spcPts val="450"/>
              </a:spcAft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29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4875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964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1"/>
            <a:ext cx="4011084" cy="1162051"/>
          </a:xfrm>
        </p:spPr>
        <p:txBody>
          <a:bodyPr anchor="b"/>
          <a:lstStyle>
            <a:lvl1pPr algn="l">
              <a:defRPr sz="20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4"/>
            <a:ext cx="6815667" cy="5853113"/>
          </a:xfrm>
        </p:spPr>
        <p:txBody>
          <a:bodyPr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spcBef>
                <a:spcPts val="450"/>
              </a:spcBef>
              <a:spcAft>
                <a:spcPts val="450"/>
              </a:spcAft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spcBef>
                <a:spcPts val="450"/>
              </a:spcBef>
              <a:spcAft>
                <a:spcPts val="450"/>
              </a:spcAft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spcBef>
                <a:spcPts val="450"/>
              </a:spcBef>
              <a:spcAft>
                <a:spcPts val="450"/>
              </a:spcAft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66" indent="0">
              <a:buNone/>
              <a:defRPr sz="1200"/>
            </a:lvl2pPr>
            <a:lvl3pPr marL="914331" indent="0">
              <a:buNone/>
              <a:defRPr sz="1000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29" indent="0">
              <a:buNone/>
              <a:defRPr sz="900"/>
            </a:lvl6pPr>
            <a:lvl7pPr marL="2742995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21225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2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66" indent="0">
              <a:buNone/>
              <a:defRPr sz="2800"/>
            </a:lvl2pPr>
            <a:lvl3pPr marL="914331" indent="0">
              <a:buNone/>
              <a:defRPr sz="2400"/>
            </a:lvl3pPr>
            <a:lvl4pPr marL="1371498" indent="0">
              <a:buNone/>
              <a:defRPr sz="2000"/>
            </a:lvl4pPr>
            <a:lvl5pPr marL="1828664" indent="0">
              <a:buNone/>
              <a:defRPr sz="2000"/>
            </a:lvl5pPr>
            <a:lvl6pPr marL="2285829" indent="0">
              <a:buNone/>
              <a:defRPr sz="2000"/>
            </a:lvl6pPr>
            <a:lvl7pPr marL="2742995" indent="0">
              <a:buNone/>
              <a:defRPr sz="2000"/>
            </a:lvl7pPr>
            <a:lvl8pPr marL="3200160" indent="0">
              <a:buNone/>
              <a:defRPr sz="2000"/>
            </a:lvl8pPr>
            <a:lvl9pPr marL="3657326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40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166" indent="0">
              <a:buNone/>
              <a:defRPr sz="1200"/>
            </a:lvl2pPr>
            <a:lvl3pPr marL="914331" indent="0">
              <a:buNone/>
              <a:defRPr sz="1000"/>
            </a:lvl3pPr>
            <a:lvl4pPr marL="1371498" indent="0">
              <a:buNone/>
              <a:defRPr sz="900"/>
            </a:lvl4pPr>
            <a:lvl5pPr marL="1828664" indent="0">
              <a:buNone/>
              <a:defRPr sz="900"/>
            </a:lvl5pPr>
            <a:lvl6pPr marL="2285829" indent="0">
              <a:buNone/>
              <a:defRPr sz="900"/>
            </a:lvl6pPr>
            <a:lvl7pPr marL="2742995" indent="0">
              <a:buNone/>
              <a:defRPr sz="900"/>
            </a:lvl7pPr>
            <a:lvl8pPr marL="3200160" indent="0">
              <a:buNone/>
              <a:defRPr sz="900"/>
            </a:lvl8pPr>
            <a:lvl9pPr marL="3657326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708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8816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99595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869" y="275167"/>
            <a:ext cx="10972271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869" y="1600731"/>
            <a:ext cx="10972271" cy="45256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15500" y="6350001"/>
            <a:ext cx="1143000" cy="317500"/>
          </a:xfrm>
          <a:prstGeom prst="rect">
            <a:avLst/>
          </a:prstGeom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  <a:latin typeface="Myriad Pro" pitchFamily="34" charset="0"/>
              </a:defRPr>
            </a:lvl1pPr>
          </a:lstStyle>
          <a:p>
            <a:fld id="{5BCAD085-E8A6-8845-BD4E-CB4CCA059FC4}" type="datetimeFigureOut">
              <a:rPr lang="en-US" smtClean="0"/>
              <a:t>11-Dec-25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35003" y="6350002"/>
            <a:ext cx="3860271" cy="365125"/>
          </a:xfrm>
          <a:prstGeom prst="rect">
            <a:avLst/>
          </a:prstGeom>
        </p:spPr>
        <p:txBody>
          <a:bodyPr vert="horz" lIns="91435" tIns="45718" rIns="91435" bIns="45718" rtlCol="0" anchor="ctr"/>
          <a:lstStyle>
            <a:lvl1pPr algn="l" defTabSz="914331" eaLnBrk="1" fontAlgn="auto" hangingPunct="1">
              <a:spcBef>
                <a:spcPts val="0"/>
              </a:spcBef>
              <a:spcAft>
                <a:spcPts val="0"/>
              </a:spcAft>
              <a:defRPr sz="1200" u="sng" smtClean="0">
                <a:solidFill>
                  <a:schemeClr val="tx1">
                    <a:tint val="75000"/>
                  </a:schemeClr>
                </a:solidFill>
                <a:latin typeface="Myriad Pro"/>
                <a:ea typeface="+mn-ea"/>
                <a:cs typeface="Myriad Pro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049003" y="6350003"/>
            <a:ext cx="596636" cy="310887"/>
          </a:xfrm>
          <a:prstGeom prst="rect">
            <a:avLst/>
          </a:prstGeom>
        </p:spPr>
        <p:txBody>
          <a:bodyPr vert="horz" wrap="square" lIns="91435" tIns="45718" rIns="91435" bIns="45718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Myriad Pro" pitchFamily="34" charset="0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5438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txStyles>
    <p:titleStyle>
      <a:lvl1pPr algn="l" defTabSz="913425" rtl="0" eaLnBrk="1" fontAlgn="base" hangingPunct="1">
        <a:spcBef>
          <a:spcPct val="0"/>
        </a:spcBef>
        <a:spcAft>
          <a:spcPct val="0"/>
        </a:spcAft>
        <a:defRPr sz="2800" b="1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1pPr>
      <a:lvl2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2pPr>
      <a:lvl3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3pPr>
      <a:lvl4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4pPr>
      <a:lvl5pPr algn="l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Myriad Pro" pitchFamily="34" charset="0"/>
          <a:ea typeface="ＭＳ Ｐゴシック" charset="0"/>
        </a:defRPr>
      </a:lvl5pPr>
      <a:lvl6pPr marL="320032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6pPr>
      <a:lvl7pPr marL="640064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7pPr>
      <a:lvl8pPr marL="960096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8pPr>
      <a:lvl9pPr marL="1280128" algn="ctr" defTabSz="913425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tx1"/>
          </a:solidFill>
          <a:latin typeface="Tahoma" panose="020B0604030504040204" pitchFamily="34" charset="0"/>
        </a:defRPr>
      </a:lvl9pPr>
    </p:titleStyle>
    <p:bodyStyle>
      <a:lvl1pPr marL="342257" indent="-342257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200" b="1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1pPr>
      <a:lvl2pPr marL="742297" indent="-285585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2pPr>
      <a:lvl3pPr marL="1142336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3pPr>
      <a:lvl4pPr marL="1599049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i="1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4pPr>
      <a:lvl5pPr marL="2056873" indent="-227801" algn="l" defTabSz="913425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Myriad Pro"/>
          <a:ea typeface="ＭＳ Ｐゴシック" charset="0"/>
          <a:cs typeface="Myriad Pro"/>
        </a:defRPr>
      </a:lvl5pPr>
      <a:lvl6pPr marL="2514411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7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09" indent="-228584" algn="l" defTabSz="914331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6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1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29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5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6" algn="l" defTabSz="91433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flutter.dev/cookbook/testing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pi.flutter.dev/flutter/flutter_test/flutter_test-library.html" TargetMode="External"/><Relationship Id="rId5" Type="http://schemas.openxmlformats.org/officeDocument/2006/relationships/hyperlink" Target="https://pub.dev/packages/provider" TargetMode="External"/><Relationship Id="rId4" Type="http://schemas.openxmlformats.org/officeDocument/2006/relationships/hyperlink" Target="https://docs.flutter.dev/tools/devtools/overview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8B5F414-5C89-8AF0-685A-A02E882168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53543" y="3797574"/>
            <a:ext cx="7794171" cy="1827699"/>
          </a:xfrm>
        </p:spPr>
        <p:txBody>
          <a:bodyPr>
            <a:normAutofit/>
          </a:bodyPr>
          <a:lstStyle/>
          <a:p>
            <a:r>
              <a:rPr lang="en-US" sz="4000"/>
              <a:t>Module 11 - Testing &amp; Debugging 			in Flutter</a:t>
            </a:r>
            <a:endParaRPr lang="en-US" sz="3600"/>
          </a:p>
        </p:txBody>
      </p:sp>
    </p:spTree>
    <p:extLst>
      <p:ext uri="{BB962C8B-B14F-4D97-AF65-F5344CB8AC3E}">
        <p14:creationId xmlns:p14="http://schemas.microsoft.com/office/powerpoint/2010/main" val="1757101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604CB-0E6B-D061-0990-333BDC659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338667"/>
            <a:ext cx="8229600" cy="818503"/>
          </a:xfrm>
        </p:spPr>
        <p:txBody>
          <a:bodyPr/>
          <a:lstStyle/>
          <a:p>
            <a:pPr algn="ctr"/>
            <a:r>
              <a:rPr lang="en-US" sz="3200"/>
              <a:t>Learning Objectives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B415528-BB05-41C8-4355-5639D534B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6267" y="1012892"/>
            <a:ext cx="9026676" cy="4582365"/>
          </a:xfrm>
        </p:spPr>
        <p:txBody>
          <a:bodyPr/>
          <a:lstStyle/>
          <a:p>
            <a:pPr marL="0" indent="0" defTabSz="914400" ea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2800"/>
              <a:t>Content:</a:t>
            </a:r>
          </a:p>
          <a:p>
            <a:pPr defTabSz="914400" ea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Identify common issues in Flutter apps</a:t>
            </a:r>
          </a:p>
          <a:p>
            <a:pPr defTabSz="914400" ea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Test logic, UI behavior, and navigation</a:t>
            </a:r>
          </a:p>
          <a:p>
            <a:pPr defTabSz="914400" ea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Validate complete user flows</a:t>
            </a:r>
          </a:p>
          <a:p>
            <a:pPr defTabSz="914400" ea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Use DevTools for debugging UI and performance</a:t>
            </a:r>
          </a:p>
          <a:p>
            <a:pPr defTabSz="914400" ea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b="0"/>
              <a:t>Apply these techniques in Lab 11</a:t>
            </a:r>
            <a:endParaRPr lang="en-US" sz="2000" b="0"/>
          </a:p>
        </p:txBody>
      </p:sp>
    </p:spTree>
    <p:extLst>
      <p:ext uri="{BB962C8B-B14F-4D97-AF65-F5344CB8AC3E}">
        <p14:creationId xmlns:p14="http://schemas.microsoft.com/office/powerpoint/2010/main" val="851030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5000" y="235857"/>
            <a:ext cx="10972800" cy="818503"/>
          </a:xfrm>
        </p:spPr>
        <p:txBody>
          <a:bodyPr>
            <a:normAutofit/>
          </a:bodyPr>
          <a:lstStyle/>
          <a:p>
            <a:pPr algn="ctr"/>
            <a:r>
              <a:rPr lang="en-US" sz="3200"/>
              <a:t>Why Performance Matters</a:t>
            </a:r>
            <a:endParaRPr sz="32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3514" y="1322243"/>
            <a:ext cx="9067800" cy="5027757"/>
          </a:xfrm>
        </p:spPr>
        <p:txBody>
          <a:bodyPr/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0"/>
              <a:t>Users expect smooth 60–120 FPS experiences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0"/>
              <a:t>Poor rebuild patterns increase CPU load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0"/>
              <a:t>Large assets slow startup times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0"/>
              <a:t>Inefficient list rendering affects scrolling</a:t>
            </a: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2400" b="0"/>
              <a:t>App size impacts downloads &amp; Play Store acceptance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70CC8-CEDD-6810-0941-1D7204093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6B884-E386-4703-7412-7956A18AF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0174" y="279400"/>
            <a:ext cx="10972800" cy="818503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/>
              <a:t>Example of a Flutter UI Problem</a:t>
            </a:r>
            <a:endParaRPr lang="en-US" sz="3200" b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50779C7-7D21-21A0-0104-B1BD26D21574}"/>
              </a:ext>
            </a:extLst>
          </p:cNvPr>
          <p:cNvSpPr txBox="1">
            <a:spLocks/>
          </p:cNvSpPr>
          <p:nvPr/>
        </p:nvSpPr>
        <p:spPr bwMode="auto">
          <a:xfrm>
            <a:off x="750174" y="1457709"/>
            <a:ext cx="5345826" cy="50277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35" tIns="45718" rIns="91435" bIns="45718" numCol="1" anchor="t" anchorCtr="0" compatLnSpc="1">
            <a:prstTxWarp prst="textNoShape">
              <a:avLst/>
            </a:prstTxWarp>
          </a:bodyPr>
          <a:lstStyle>
            <a:lvl1pPr marL="342257" indent="-342257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200" b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1pPr>
            <a:lvl2pPr marL="742297" indent="-285585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2pPr>
            <a:lvl3pPr marL="1142336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3pPr>
            <a:lvl4pPr marL="1599049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–"/>
              <a:defRPr sz="2000" i="1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4pPr>
            <a:lvl5pPr marL="2056873" indent="-227801" algn="l" defTabSz="913425" rtl="0" eaLnBrk="1" fontAlgn="base" hangingPunct="1">
              <a:spcBef>
                <a:spcPts val="450"/>
              </a:spcBef>
              <a:spcAft>
                <a:spcPts val="450"/>
              </a:spcAft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ＭＳ Ｐゴシック" charset="0"/>
                <a:cs typeface="Times New Roman" panose="02020603050405020304" pitchFamily="18" charset="0"/>
              </a:defRPr>
            </a:lvl5pPr>
            <a:lvl6pPr marL="2514411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577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744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5909" indent="-228584" algn="l" defTabSz="914331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400"/>
              <a:t>UI Overflow Error Example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b="0"/>
              <a:t>Occurs when a widget exceeds its layout constraints.</a:t>
            </a: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</a:pPr>
            <a:r>
              <a:rPr lang="en-US" sz="2400" b="0"/>
              <a:t>Explain that these issues do not crash the app, so tests or DevTools are needed to detect them.</a:t>
            </a:r>
          </a:p>
        </p:txBody>
      </p:sp>
      <p:pic>
        <p:nvPicPr>
          <p:cNvPr id="4" name="Picture 3" descr="A screenshot of a phone&#10;&#10;AI-generated content may be incorrect.">
            <a:extLst>
              <a:ext uri="{FF2B5EF4-FFF2-40B4-BE49-F238E27FC236}">
                <a16:creationId xmlns:a16="http://schemas.microsoft.com/office/drawing/2014/main" id="{14BFF901-C4D2-B9C8-8824-BF9F2BE2D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9475" y="1547134"/>
            <a:ext cx="2861582" cy="4371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9114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B797A-1BB3-96AE-211D-32B1EA32C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307F4-FE89-D34B-AEAB-AEDEAA9F51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indent="0" algn="ctr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/>
              <a:t>Types of Tests in Flutter</a:t>
            </a:r>
            <a:endParaRPr lang="en-US" sz="3200" b="0"/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1588BB18-8643-1C5E-C3C6-4889CBBD66F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35000" y="1770673"/>
            <a:ext cx="4985388" cy="4054231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Three essential test types: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/>
              <a:t>Unit Tests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/>
              <a:t>Validate logic without UI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/>
              <a:t>Widget Tests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/>
              <a:t>Validate UI rendering &amp; interaction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b="0"/>
              <a:t>Integration Tests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/>
              <a:t>Validate full user flows from start to finish</a:t>
            </a:r>
          </a:p>
        </p:txBody>
      </p:sp>
      <p:pic>
        <p:nvPicPr>
          <p:cNvPr id="1026" name="Picture 2" descr="Widget Testing With Flutter: Getting Started | Kodeco">
            <a:extLst>
              <a:ext uri="{FF2B5EF4-FFF2-40B4-BE49-F238E27FC236}">
                <a16:creationId xmlns:a16="http://schemas.microsoft.com/office/drawing/2014/main" id="{F55B21FF-C51A-1967-3F90-21B82FC07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5744" y="2183283"/>
            <a:ext cx="4708956" cy="3531717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14126D6-8D82-7177-D73F-1812331ABC1B}"/>
              </a:ext>
            </a:extLst>
          </p:cNvPr>
          <p:cNvSpPr txBox="1"/>
          <p:nvPr/>
        </p:nvSpPr>
        <p:spPr>
          <a:xfrm>
            <a:off x="6121400" y="1570618"/>
            <a:ext cx="57766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Layered Architecture Diagram</a:t>
            </a:r>
          </a:p>
        </p:txBody>
      </p:sp>
    </p:spTree>
    <p:extLst>
      <p:ext uri="{BB962C8B-B14F-4D97-AF65-F5344CB8AC3E}">
        <p14:creationId xmlns:p14="http://schemas.microsoft.com/office/powerpoint/2010/main" val="39846017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The Flutter Testing Pyramid</a:t>
            </a:r>
            <a:endParaRPr sz="320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1EA307E-67D3-8B2F-52BE-9FF886D7E6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20853" y="1473906"/>
            <a:ext cx="6274604" cy="4525963"/>
          </a:xfrm>
        </p:spPr>
        <p:txBody>
          <a:bodyPr wrap="square" anchor="t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/>
              <a:t>Why It Matters</a:t>
            </a:r>
            <a:r>
              <a:rPr lang="en-US" b="0"/>
              <a:t> </a:t>
            </a:r>
          </a:p>
          <a:p>
            <a:pPr>
              <a:lnSpc>
                <a:spcPct val="120000"/>
              </a:lnSpc>
            </a:pPr>
            <a:r>
              <a:rPr lang="en-US"/>
              <a:t>Unit Tests → many</a:t>
            </a:r>
          </a:p>
          <a:p>
            <a:pPr marL="742940" lvl="1" indent="-342900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b="0"/>
              <a:t>Fast, stable, cheap. Catch logic bugs early.</a:t>
            </a:r>
          </a:p>
          <a:p>
            <a:pPr>
              <a:lnSpc>
                <a:spcPct val="120000"/>
              </a:lnSpc>
            </a:pPr>
            <a:r>
              <a:rPr lang="en-US"/>
              <a:t>Widget Tests → moderate</a:t>
            </a:r>
          </a:p>
          <a:p>
            <a:pPr marL="742940" lvl="1" indent="-342900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b="0"/>
              <a:t>Validate UI behavior and interactions.</a:t>
            </a:r>
          </a:p>
          <a:p>
            <a:pPr>
              <a:lnSpc>
                <a:spcPct val="120000"/>
              </a:lnSpc>
            </a:pPr>
            <a:r>
              <a:rPr lang="en-US"/>
              <a:t>Integration Tests → few</a:t>
            </a:r>
          </a:p>
          <a:p>
            <a:pPr marL="742940" lvl="1" indent="-342900">
              <a:lnSpc>
                <a:spcPct val="120000"/>
              </a:lnSpc>
              <a:buFont typeface="Courier New" panose="02070309020205020404" pitchFamily="49" charset="0"/>
              <a:buChar char="o"/>
            </a:pPr>
            <a:r>
              <a:rPr lang="en-US" b="0"/>
              <a:t>Slow &amp; expensive. Use for critical user flows only.</a:t>
            </a:r>
          </a:p>
        </p:txBody>
      </p:sp>
      <p:pic>
        <p:nvPicPr>
          <p:cNvPr id="5" name="Picture 4" descr="A diagram of testing process&#10;&#10;AI-generated content may be incorrect.">
            <a:extLst>
              <a:ext uri="{FF2B5EF4-FFF2-40B4-BE49-F238E27FC236}">
                <a16:creationId xmlns:a16="http://schemas.microsoft.com/office/drawing/2014/main" id="{A9468CA4-2D0F-D35E-71BC-59FD84FC0F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5457" y="1473906"/>
            <a:ext cx="4699000" cy="4525963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A2CED-89DB-4BFD-3863-D96B71690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Flutter Testing Workflow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2321D38-5B04-BC46-1489-CF651C5DD0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133" y="1600731"/>
            <a:ext cx="5170311" cy="428844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/>
              <a:t>General steps for any Flutter test:</a:t>
            </a:r>
          </a:p>
          <a:p>
            <a:pPr>
              <a:lnSpc>
                <a:spcPct val="150000"/>
              </a:lnSpc>
            </a:pPr>
            <a:r>
              <a:rPr lang="en-US" sz="2400" b="0"/>
              <a:t>Define the expected behavior</a:t>
            </a:r>
          </a:p>
          <a:p>
            <a:pPr>
              <a:lnSpc>
                <a:spcPct val="150000"/>
              </a:lnSpc>
            </a:pPr>
            <a:r>
              <a:rPr lang="en-US" sz="2400" b="0"/>
              <a:t>Prepare the test environment</a:t>
            </a:r>
          </a:p>
          <a:p>
            <a:pPr>
              <a:lnSpc>
                <a:spcPct val="150000"/>
              </a:lnSpc>
            </a:pPr>
            <a:r>
              <a:rPr lang="en-US" sz="2400" b="0"/>
              <a:t>Execute logic / render widget</a:t>
            </a:r>
          </a:p>
          <a:p>
            <a:pPr>
              <a:lnSpc>
                <a:spcPct val="150000"/>
              </a:lnSpc>
            </a:pPr>
            <a:r>
              <a:rPr lang="en-US" sz="2400" b="0"/>
              <a:t>Simulate interactions</a:t>
            </a:r>
          </a:p>
          <a:p>
            <a:pPr>
              <a:lnSpc>
                <a:spcPct val="150000"/>
              </a:lnSpc>
            </a:pPr>
            <a:r>
              <a:rPr lang="en-US" sz="2400" b="0"/>
              <a:t>Use expect() to verify the results</a:t>
            </a:r>
            <a:endParaRPr lang="en-US" sz="1800" b="0"/>
          </a:p>
        </p:txBody>
      </p:sp>
      <p:pic>
        <p:nvPicPr>
          <p:cNvPr id="2050" name="Picture 2" descr="Arrange/Act/Assert Pattern in Java: Enhance Testing Clarity ...">
            <a:extLst>
              <a:ext uri="{FF2B5EF4-FFF2-40B4-BE49-F238E27FC236}">
                <a16:creationId xmlns:a16="http://schemas.microsoft.com/office/drawing/2014/main" id="{68EC0DA8-FFEE-BB71-4B52-843A2BD742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6971" y="1600731"/>
            <a:ext cx="2493108" cy="5016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6499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07468-B109-8BB1-918E-B7B80A767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4079" y="417513"/>
            <a:ext cx="10972800" cy="818503"/>
          </a:xfrm>
        </p:spPr>
        <p:txBody>
          <a:bodyPr/>
          <a:lstStyle/>
          <a:p>
            <a:pPr algn="ctr"/>
            <a:r>
              <a:rPr lang="en-US" sz="3200"/>
              <a:t>Debugging Goals in Flutter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42F1B936-6559-E12A-04DC-9214744624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022" y="1497235"/>
            <a:ext cx="4632008" cy="4446365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/>
              <a:t>Debugging in Flutter focuses on:</a:t>
            </a:r>
          </a:p>
          <a:p>
            <a:pPr>
              <a:lnSpc>
                <a:spcPct val="150000"/>
              </a:lnSpc>
            </a:pPr>
            <a:r>
              <a:rPr lang="en-US" sz="2400" b="0"/>
              <a:t>Layout issues (constraints, overflow)</a:t>
            </a:r>
          </a:p>
          <a:p>
            <a:pPr>
              <a:lnSpc>
                <a:spcPct val="150000"/>
              </a:lnSpc>
            </a:pPr>
            <a:r>
              <a:rPr lang="en-US" sz="2400" b="0"/>
              <a:t>State update failures</a:t>
            </a:r>
          </a:p>
          <a:p>
            <a:pPr>
              <a:lnSpc>
                <a:spcPct val="150000"/>
              </a:lnSpc>
            </a:pPr>
            <a:r>
              <a:rPr lang="en-US" sz="2400" b="0"/>
              <a:t>Performance slowdowns</a:t>
            </a:r>
          </a:p>
          <a:p>
            <a:pPr>
              <a:lnSpc>
                <a:spcPct val="150000"/>
              </a:lnSpc>
            </a:pPr>
            <a:r>
              <a:rPr lang="en-US" sz="2400" b="0"/>
              <a:t>Frequent unnecessary rebuilds</a:t>
            </a:r>
          </a:p>
          <a:p>
            <a:pPr>
              <a:lnSpc>
                <a:spcPct val="150000"/>
              </a:lnSpc>
            </a:pPr>
            <a:r>
              <a:rPr lang="en-US" sz="2400" b="0"/>
              <a:t>Navigation issues</a:t>
            </a:r>
          </a:p>
        </p:txBody>
      </p:sp>
      <p:pic>
        <p:nvPicPr>
          <p:cNvPr id="3074" name="Picture 2" descr="Debug your layout with Layout Inspector | Android Studio | Android ...">
            <a:extLst>
              <a:ext uri="{FF2B5EF4-FFF2-40B4-BE49-F238E27FC236}">
                <a16:creationId xmlns:a16="http://schemas.microsoft.com/office/drawing/2014/main" id="{51DE39EA-E5F9-46EE-6D82-DAAD05F112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796144"/>
            <a:ext cx="5461777" cy="4147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58210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6FCC3D-CC73-7774-3B02-5B9255009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3D6E9-F984-5EEF-87B4-D9E6AD781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1507" y="228541"/>
            <a:ext cx="10972800" cy="818503"/>
          </a:xfrm>
        </p:spPr>
        <p:txBody>
          <a:bodyPr/>
          <a:lstStyle/>
          <a:p>
            <a:pPr algn="ctr"/>
            <a:r>
              <a:rPr lang="en-US" sz="3200"/>
              <a:t>How Tests Map to Real Flutter Problems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A49812C-FC3F-0122-8CB1-FDE7A496CC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328145"/>
              </p:ext>
            </p:extLst>
          </p:nvPr>
        </p:nvGraphicFramePr>
        <p:xfrm>
          <a:off x="1661886" y="3327853"/>
          <a:ext cx="8127999" cy="30038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83039400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64677824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427690289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US" sz="2000"/>
                        <a:t>Flutter Issue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US" sz="2000"/>
                        <a:t>Recommended 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buNone/>
                      </a:pPr>
                      <a:r>
                        <a:rPr lang="en-US" sz="2000"/>
                        <a:t>Why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56578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000"/>
                        <a:t>Logic failure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000"/>
                        <a:t>Unit 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000"/>
                        <a:t>Fast + stable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47999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000"/>
                        <a:t>UI not updating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000"/>
                        <a:t>Widget 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000"/>
                        <a:t>Validate rebuild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128698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000"/>
                        <a:t>Wrong navigation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000"/>
                        <a:t>Navigation 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000"/>
                        <a:t>Checks route +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87953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000"/>
                        <a:t>Entire feature broken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000"/>
                        <a:t>Integration 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200000"/>
                        </a:lnSpc>
                        <a:buNone/>
                      </a:pPr>
                      <a:r>
                        <a:rPr lang="en-US" sz="2000"/>
                        <a:t>Simulates real use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739361"/>
                  </a:ext>
                </a:extLst>
              </a:tr>
            </a:tbl>
          </a:graphicData>
        </a:graphic>
      </p:graphicFrame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B711EA92-4D31-DD87-2D4A-745990205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5200" y="1371600"/>
            <a:ext cx="10616940" cy="5148943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Key Insight</a:t>
            </a:r>
          </a:p>
          <a:p>
            <a:r>
              <a:rPr lang="en-US" b="0"/>
              <a:t>Most UI issues start from logic → unit tests catch problems early.</a:t>
            </a:r>
          </a:p>
          <a:p>
            <a:r>
              <a:rPr lang="en-US" b="0"/>
              <a:t>Layout &amp; interaction problems → widget tests detect what unit tests cannot see.</a:t>
            </a:r>
          </a:p>
          <a:p>
            <a:r>
              <a:rPr lang="en-US" b="0"/>
              <a:t>Multi-screen or user-flow bugs → integration tests validate the entire experience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0131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DDAE1-16E0-5E36-1177-0F5990DF7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Introducing the Taskly Demo App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7AD117-6CCB-94C9-C577-E21292D2D6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04872" y="1672082"/>
            <a:ext cx="5675489" cy="4502940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400"/>
              <a:t>We use Taskly, a simple Todo App, to demonstrate each test type: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400"/>
              <a:t>Features:</a:t>
            </a:r>
          </a:p>
          <a:p>
            <a:pPr>
              <a:lnSpc>
                <a:spcPct val="150000"/>
              </a:lnSpc>
            </a:pPr>
            <a:r>
              <a:rPr lang="en-US" sz="2400" b="0"/>
              <a:t>Task List screen</a:t>
            </a:r>
          </a:p>
          <a:p>
            <a:pPr>
              <a:lnSpc>
                <a:spcPct val="150000"/>
              </a:lnSpc>
            </a:pPr>
            <a:r>
              <a:rPr lang="en-US" sz="2400" b="0"/>
              <a:t>Task Detail screen</a:t>
            </a:r>
          </a:p>
          <a:p>
            <a:pPr>
              <a:lnSpc>
                <a:spcPct val="150000"/>
              </a:lnSpc>
            </a:pPr>
            <a:r>
              <a:rPr lang="en-US" sz="2400" b="0"/>
              <a:t>Add, delete, toggle tasks</a:t>
            </a:r>
          </a:p>
          <a:p>
            <a:pPr>
              <a:lnSpc>
                <a:spcPct val="150000"/>
              </a:lnSpc>
            </a:pPr>
            <a:r>
              <a:rPr lang="en-US" sz="2400" b="0"/>
              <a:t>Edit and save tasks</a:t>
            </a:r>
          </a:p>
        </p:txBody>
      </p:sp>
      <p:pic>
        <p:nvPicPr>
          <p:cNvPr id="9" name="Picture 8" descr="A screenshot of a cell phone&#10;&#10;AI-generated content may be incorrect.">
            <a:extLst>
              <a:ext uri="{FF2B5EF4-FFF2-40B4-BE49-F238E27FC236}">
                <a16:creationId xmlns:a16="http://schemas.microsoft.com/office/drawing/2014/main" id="{A1D42345-9ED8-5829-B3E3-77E07B203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0524" y="1672082"/>
            <a:ext cx="2600326" cy="4845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5731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7795D9-A437-44AC-FCC9-94E04CB4A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E4786-6AC0-ECC0-118C-33FCB1E37B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Taskly App Overview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89E6E7-0C04-750F-C832-87BA4BA9B5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7914" y="1409626"/>
            <a:ext cx="5025572" cy="5085516"/>
          </a:xfrm>
        </p:spPr>
        <p:txBody>
          <a:bodyPr/>
          <a:lstStyle/>
          <a:p>
            <a:pPr marL="0" indent="0">
              <a:buNone/>
            </a:pPr>
            <a:r>
              <a:rPr lang="en-US" sz="1800"/>
              <a:t>App Structure </a:t>
            </a:r>
          </a:p>
          <a:p>
            <a:r>
              <a:rPr lang="en-US" sz="1800" b="0"/>
              <a:t>TasklyApp is the application's entry point.</a:t>
            </a:r>
          </a:p>
          <a:p>
            <a:r>
              <a:rPr lang="en-US" sz="1800" b="0"/>
              <a:t>Provider (TaskProvider) manages app-wide state.</a:t>
            </a:r>
          </a:p>
          <a:p>
            <a:r>
              <a:rPr lang="en-US" sz="1800" b="0"/>
              <a:t>TaskRepository handles CRUD logic for tasks.</a:t>
            </a:r>
          </a:p>
          <a:p>
            <a:r>
              <a:rPr lang="en-US" sz="1800" b="0"/>
              <a:t>TaskListScreen is the primary </a:t>
            </a:r>
            <a:r>
              <a:rPr lang="en-US" sz="1800"/>
              <a:t>UI used in testing.</a:t>
            </a:r>
          </a:p>
          <a:p>
            <a:pPr marL="0" indent="0">
              <a:buNone/>
            </a:pPr>
            <a:r>
              <a:rPr lang="en-US" sz="1800"/>
              <a:t>Why This Matters for Testing</a:t>
            </a:r>
          </a:p>
          <a:p>
            <a:r>
              <a:rPr lang="en-US" sz="1800" b="0"/>
              <a:t>Shows which widget is pumped during tests.</a:t>
            </a:r>
          </a:p>
          <a:p>
            <a:r>
              <a:rPr lang="en-US" sz="1800" b="0"/>
              <a:t>Defines the state flow: UI → Provider → Repository.</a:t>
            </a:r>
          </a:p>
          <a:p>
            <a:r>
              <a:rPr lang="en-US" sz="1800" b="0"/>
              <a:t>Provides context for unit, widget, navigation, and integration testing.</a:t>
            </a:r>
          </a:p>
          <a:p>
            <a:endParaRPr lang="en-US" sz="1800"/>
          </a:p>
          <a:p>
            <a:pPr marL="0" indent="0">
              <a:spcBef>
                <a:spcPts val="600"/>
              </a:spcBef>
              <a:spcAft>
                <a:spcPts val="0"/>
              </a:spcAft>
              <a:buNone/>
            </a:pPr>
            <a:endParaRPr lang="en-US" sz="1800" b="0"/>
          </a:p>
        </p:txBody>
      </p:sp>
      <p:pic>
        <p:nvPicPr>
          <p:cNvPr id="9" name="Picture 8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0B851554-BFC3-89D5-2E84-9302F16199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4379" y="1765521"/>
            <a:ext cx="5227392" cy="410431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19049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9822D-57C8-17C7-48C4-DB31DA7EB0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8F89A-9CCB-8B7E-3AA6-4619C2AD2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085" y="222999"/>
            <a:ext cx="10972800" cy="818503"/>
          </a:xfrm>
        </p:spPr>
        <p:txBody>
          <a:bodyPr/>
          <a:lstStyle/>
          <a:p>
            <a:pPr algn="ctr"/>
            <a:r>
              <a:rPr lang="en-US" sz="3200"/>
              <a:t>Demo 11.1 – Unit Test: Task Model</a:t>
            </a:r>
            <a:endParaRPr sz="3200"/>
          </a:p>
        </p:txBody>
      </p:sp>
      <p:pic>
        <p:nvPicPr>
          <p:cNvPr id="4098" name="Picture 2" descr="Flutter App Architecture: The Repository Pattern">
            <a:extLst>
              <a:ext uri="{FF2B5EF4-FFF2-40B4-BE49-F238E27FC236}">
                <a16:creationId xmlns:a16="http://schemas.microsoft.com/office/drawing/2014/main" id="{1AB314FD-9EF1-A5F7-7127-A5E0C99A0B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9581" y="1386773"/>
            <a:ext cx="2776846" cy="5094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BB99CA82-C8E0-1DFC-B36C-761D2DDDC2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2739" y="1607012"/>
            <a:ext cx="3830336" cy="487427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3693E58-8252-031A-EDD5-15C1706BFC82}"/>
              </a:ext>
            </a:extLst>
          </p:cNvPr>
          <p:cNvSpPr txBox="1"/>
          <p:nvPr/>
        </p:nvSpPr>
        <p:spPr>
          <a:xfrm>
            <a:off x="1145131" y="986663"/>
            <a:ext cx="50633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File: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test/unit/demo_11_1_task_model_test.dart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5890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7BB29-6457-EBAD-0580-02F9037DB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47091-618D-17EA-17D0-F8F929D04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085" y="222999"/>
            <a:ext cx="10972800" cy="818503"/>
          </a:xfrm>
        </p:spPr>
        <p:txBody>
          <a:bodyPr/>
          <a:lstStyle/>
          <a:p>
            <a:pPr algn="ctr"/>
            <a:r>
              <a:rPr lang="en-US" sz="3200"/>
              <a:t>Unit Test Demonstration (Task Model)</a:t>
            </a:r>
            <a:endParaRPr sz="3200"/>
          </a:p>
        </p:txBody>
      </p:sp>
      <p:pic>
        <p:nvPicPr>
          <p:cNvPr id="4" name="Picture 3" descr="A close-up of a white background&#10;&#10;AI-generated content may be incorrect.">
            <a:extLst>
              <a:ext uri="{FF2B5EF4-FFF2-40B4-BE49-F238E27FC236}">
                <a16:creationId xmlns:a16="http://schemas.microsoft.com/office/drawing/2014/main" id="{05F23450-FB3A-1899-87AE-B103A0B11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4944" y="1864014"/>
            <a:ext cx="4788218" cy="10829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06B3C0D5-3C58-2BAD-4194-D681CFD2D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2085" y="1179721"/>
            <a:ext cx="3904344" cy="482486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sz="2000"/>
              <a:t>What we test here</a:t>
            </a:r>
          </a:p>
          <a:p>
            <a:pPr>
              <a:lnSpc>
                <a:spcPct val="150000"/>
              </a:lnSpc>
            </a:pPr>
            <a:r>
              <a:rPr lang="en-US" sz="2000" b="0"/>
              <a:t>Toggle completion</a:t>
            </a:r>
          </a:p>
          <a:p>
            <a:pPr>
              <a:lnSpc>
                <a:spcPct val="150000"/>
              </a:lnSpc>
            </a:pPr>
            <a:r>
              <a:rPr lang="en-US" sz="2000" b="0"/>
              <a:t>Update model state</a:t>
            </a:r>
          </a:p>
          <a:p>
            <a:pPr>
              <a:lnSpc>
                <a:spcPct val="150000"/>
              </a:lnSpc>
            </a:pPr>
            <a:r>
              <a:rPr lang="en-US" sz="2000" b="0"/>
              <a:t>Logic stays predictable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2000"/>
              <a:t>Expected Output</a:t>
            </a:r>
          </a:p>
          <a:p>
            <a:pPr>
              <a:lnSpc>
                <a:spcPct val="150000"/>
              </a:lnSpc>
            </a:pPr>
            <a:r>
              <a:rPr lang="en-US" sz="2000" b="0"/>
              <a:t>Initial: completed = false</a:t>
            </a:r>
          </a:p>
          <a:p>
            <a:pPr>
              <a:lnSpc>
                <a:spcPct val="150000"/>
              </a:lnSpc>
            </a:pPr>
            <a:r>
              <a:rPr lang="en-US" sz="2000" b="0"/>
              <a:t>After toggle(): completed = true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228BC1-5655-A7C2-DC84-4F3950F2B475}"/>
              </a:ext>
            </a:extLst>
          </p:cNvPr>
          <p:cNvSpPr txBox="1"/>
          <p:nvPr/>
        </p:nvSpPr>
        <p:spPr>
          <a:xfrm>
            <a:off x="4894944" y="1310407"/>
            <a:ext cx="534125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Snippet 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078E5B14-189C-2CA9-535B-7061BA3712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6818612"/>
              </p:ext>
            </p:extLst>
          </p:nvPr>
        </p:nvGraphicFramePr>
        <p:xfrm>
          <a:off x="4894944" y="3531929"/>
          <a:ext cx="7162804" cy="1998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0701">
                  <a:extLst>
                    <a:ext uri="{9D8B030D-6E8A-4147-A177-3AD203B41FA5}">
                      <a16:colId xmlns:a16="http://schemas.microsoft.com/office/drawing/2014/main" val="2095100851"/>
                    </a:ext>
                  </a:extLst>
                </a:gridCol>
                <a:gridCol w="1790701">
                  <a:extLst>
                    <a:ext uri="{9D8B030D-6E8A-4147-A177-3AD203B41FA5}">
                      <a16:colId xmlns:a16="http://schemas.microsoft.com/office/drawing/2014/main" val="261574379"/>
                    </a:ext>
                  </a:extLst>
                </a:gridCol>
                <a:gridCol w="1790701">
                  <a:extLst>
                    <a:ext uri="{9D8B030D-6E8A-4147-A177-3AD203B41FA5}">
                      <a16:colId xmlns:a16="http://schemas.microsoft.com/office/drawing/2014/main" val="3880929065"/>
                    </a:ext>
                  </a:extLst>
                </a:gridCol>
                <a:gridCol w="1790701">
                  <a:extLst>
                    <a:ext uri="{9D8B030D-6E8A-4147-A177-3AD203B41FA5}">
                      <a16:colId xmlns:a16="http://schemas.microsoft.com/office/drawing/2014/main" val="352717589"/>
                    </a:ext>
                  </a:extLst>
                </a:gridCol>
              </a:tblGrid>
              <a:tr h="499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Line of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User Action Simulated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Purpose in the 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What It Verifies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1406507"/>
                  </a:ext>
                </a:extLst>
              </a:tr>
              <a:tr h="499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final task = Task(...)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Creates a new Task object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Arrange: prepare test data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Model starts with known state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695910"/>
                  </a:ext>
                </a:extLst>
              </a:tr>
              <a:tr h="499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task.toggle();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Toggles completion flag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Act: perform 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Business logic changes state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30958820"/>
                  </a:ext>
                </a:extLst>
              </a:tr>
              <a:tr h="49960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expect(task.completed, true);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Check result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Assert: validate output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Logic behaves correctly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3988700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14146361-E44D-3617-11E5-A907D99AE89A}"/>
              </a:ext>
            </a:extLst>
          </p:cNvPr>
          <p:cNvSpPr txBox="1"/>
          <p:nvPr/>
        </p:nvSpPr>
        <p:spPr>
          <a:xfrm>
            <a:off x="4778831" y="31727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Explanation</a:t>
            </a:r>
          </a:p>
        </p:txBody>
      </p:sp>
    </p:spTree>
    <p:extLst>
      <p:ext uri="{BB962C8B-B14F-4D97-AF65-F5344CB8AC3E}">
        <p14:creationId xmlns:p14="http://schemas.microsoft.com/office/powerpoint/2010/main" val="9362104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62149" y="327379"/>
            <a:ext cx="9217479" cy="818503"/>
          </a:xfrm>
        </p:spPr>
        <p:txBody>
          <a:bodyPr/>
          <a:lstStyle/>
          <a:p>
            <a:pPr algn="ctr">
              <a:defRPr sz="1800"/>
            </a:pPr>
            <a:r>
              <a:rPr lang="en-US" sz="3200"/>
              <a:t>Demo 11.2 – Widget Test: Add Task Updates UI</a:t>
            </a:r>
          </a:p>
        </p:txBody>
      </p:sp>
      <p:pic>
        <p:nvPicPr>
          <p:cNvPr id="8" name="Picture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22305A28-B3F3-4581-ACB3-717E910213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350" y="2111021"/>
            <a:ext cx="5581650" cy="44196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A541973-4ABE-A038-1D28-BB3AB7EB14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3870" y="1145882"/>
            <a:ext cx="5389787" cy="543507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C38D7C5-12A1-B648-DDDD-9E0B38B90D10}"/>
              </a:ext>
            </a:extLst>
          </p:cNvPr>
          <p:cNvSpPr txBox="1"/>
          <p:nvPr/>
        </p:nvSpPr>
        <p:spPr>
          <a:xfrm>
            <a:off x="348343" y="1191706"/>
            <a:ext cx="574765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File</a:t>
            </a:r>
            <a:r>
              <a:rPr lang="en-US" b="1"/>
              <a:t>: </a:t>
            </a:r>
            <a:r>
              <a:rPr lang="en-US"/>
              <a:t>test/widget/demo_11_2_task_list_add_test.dart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C0FC1-ECAC-54D2-BDD0-8268B51D88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2EC4C-5DEA-413E-6384-2D6C7A2D7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2149" y="534207"/>
            <a:ext cx="9217479" cy="818503"/>
          </a:xfrm>
        </p:spPr>
        <p:txBody>
          <a:bodyPr/>
          <a:lstStyle/>
          <a:p>
            <a:pPr algn="ctr">
              <a:defRPr sz="1800"/>
            </a:pPr>
            <a:r>
              <a:rPr lang="en-US" sz="3200"/>
              <a:t>Widget Test Demonstration (Add Task Interaction)</a:t>
            </a: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1AA9D50A-F8CC-4BEE-A49B-09742D6963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276" y="1505893"/>
            <a:ext cx="4446679" cy="4824869"/>
          </a:xfrm>
        </p:spPr>
        <p:txBody>
          <a:bodyPr/>
          <a:lstStyle/>
          <a:p>
            <a:pPr marL="0" indent="0">
              <a:buNone/>
            </a:pPr>
            <a:r>
              <a:rPr lang="en-US" sz="2000"/>
              <a:t>What we test</a:t>
            </a:r>
          </a:p>
          <a:p>
            <a:r>
              <a:rPr lang="en-US" sz="2000" b="0"/>
              <a:t>Enter text</a:t>
            </a:r>
          </a:p>
          <a:p>
            <a:r>
              <a:rPr lang="en-US" sz="2000" b="0"/>
              <a:t>Tap “Add”</a:t>
            </a:r>
          </a:p>
          <a:p>
            <a:r>
              <a:rPr lang="en-US" sz="2000" b="0"/>
              <a:t>List updates with newly added task</a:t>
            </a:r>
          </a:p>
          <a:p>
            <a:pPr marL="0" indent="0">
              <a:buNone/>
            </a:pPr>
            <a:r>
              <a:rPr lang="en-US" sz="2000"/>
              <a:t>Expected Output</a:t>
            </a:r>
          </a:p>
          <a:p>
            <a:r>
              <a:rPr lang="en-US" sz="2000" b="0"/>
              <a:t>Before: “No tasks yet. Add one!”</a:t>
            </a:r>
          </a:p>
          <a:p>
            <a:r>
              <a:rPr lang="en-US" sz="2000" b="0"/>
              <a:t>After: “Buy milk”</a:t>
            </a:r>
          </a:p>
          <a:p>
            <a:pPr marL="0" indent="0">
              <a:buNone/>
            </a:pPr>
            <a:r>
              <a:rPr lang="en-US" sz="2000"/>
              <a:t>What this proves</a:t>
            </a:r>
          </a:p>
          <a:p>
            <a:r>
              <a:rPr lang="en-US" sz="2000" b="0"/>
              <a:t>UI rebuilds correctly</a:t>
            </a:r>
          </a:p>
          <a:p>
            <a:r>
              <a:rPr lang="en-US" sz="2000" b="0"/>
              <a:t>Provider state updates</a:t>
            </a:r>
          </a:p>
          <a:p>
            <a:r>
              <a:rPr lang="en-US" sz="2000" b="0"/>
              <a:t>ListView reacts to new data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133A107-7A2F-BE4B-F070-FCA05D6B7701}"/>
              </a:ext>
            </a:extLst>
          </p:cNvPr>
          <p:cNvSpPr txBox="1"/>
          <p:nvPr/>
        </p:nvSpPr>
        <p:spPr>
          <a:xfrm>
            <a:off x="5116285" y="1632373"/>
            <a:ext cx="44466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Snippet</a:t>
            </a:r>
          </a:p>
        </p:txBody>
      </p:sp>
      <p:pic>
        <p:nvPicPr>
          <p:cNvPr id="7" name="Picture 6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CA3F5EA2-9C57-FF35-585D-1153C25935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6285" y="2050428"/>
            <a:ext cx="6901544" cy="1625798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CA7D853E-C8FB-27F6-0CFE-E755F7D5F4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614566"/>
              </p:ext>
            </p:extLst>
          </p:nvPr>
        </p:nvGraphicFramePr>
        <p:xfrm>
          <a:off x="5116285" y="4355999"/>
          <a:ext cx="6901544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5386">
                  <a:extLst>
                    <a:ext uri="{9D8B030D-6E8A-4147-A177-3AD203B41FA5}">
                      <a16:colId xmlns:a16="http://schemas.microsoft.com/office/drawing/2014/main" val="979015242"/>
                    </a:ext>
                  </a:extLst>
                </a:gridCol>
                <a:gridCol w="1725386">
                  <a:extLst>
                    <a:ext uri="{9D8B030D-6E8A-4147-A177-3AD203B41FA5}">
                      <a16:colId xmlns:a16="http://schemas.microsoft.com/office/drawing/2014/main" val="1271505479"/>
                    </a:ext>
                  </a:extLst>
                </a:gridCol>
                <a:gridCol w="1725386">
                  <a:extLst>
                    <a:ext uri="{9D8B030D-6E8A-4147-A177-3AD203B41FA5}">
                      <a16:colId xmlns:a16="http://schemas.microsoft.com/office/drawing/2014/main" val="3278009645"/>
                    </a:ext>
                  </a:extLst>
                </a:gridCol>
                <a:gridCol w="1725386">
                  <a:extLst>
                    <a:ext uri="{9D8B030D-6E8A-4147-A177-3AD203B41FA5}">
                      <a16:colId xmlns:a16="http://schemas.microsoft.com/office/drawing/2014/main" val="8944523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Line of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User Action Simulated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Purpose in 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What It Verifies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333512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enterText(..., 'Buy milk')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User types into the input field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Act: simulate typing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The TextField accepts input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25644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tap(addTaskButton)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User presses the Add button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Act: trigger UI 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Provider receives update request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211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pump()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UI rebuild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Assert preparation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The new task appears on screen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05294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4F5A4147-7E6E-02A9-B703-1DF5D6CF4B46}"/>
              </a:ext>
            </a:extLst>
          </p:cNvPr>
          <p:cNvSpPr txBox="1"/>
          <p:nvPr/>
        </p:nvSpPr>
        <p:spPr>
          <a:xfrm>
            <a:off x="5083628" y="398666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Explanation</a:t>
            </a:r>
          </a:p>
        </p:txBody>
      </p:sp>
    </p:spTree>
    <p:extLst>
      <p:ext uri="{BB962C8B-B14F-4D97-AF65-F5344CB8AC3E}">
        <p14:creationId xmlns:p14="http://schemas.microsoft.com/office/powerpoint/2010/main" val="41114052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13972" y="196266"/>
            <a:ext cx="10972800" cy="818503"/>
          </a:xfrm>
        </p:spPr>
        <p:txBody>
          <a:bodyPr/>
          <a:lstStyle/>
          <a:p>
            <a:pPr algn="ctr"/>
            <a:r>
              <a:rPr lang="en-US" sz="3200"/>
              <a:t>Demo 11.3 – Navigation Test: List → Detail</a:t>
            </a:r>
            <a:endParaRPr sz="3200"/>
          </a:p>
        </p:txBody>
      </p:sp>
      <p:pic>
        <p:nvPicPr>
          <p:cNvPr id="8" name="Picture 7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48E0FB58-5F8F-2875-A949-CA7C053585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76" y="1518557"/>
            <a:ext cx="5231040" cy="52578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2B641AA-5EAD-194C-7409-5644219C44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9302" y="1518557"/>
            <a:ext cx="5891439" cy="52578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41A23EA-2ECF-01D4-281B-C8895BBAA967}"/>
              </a:ext>
            </a:extLst>
          </p:cNvPr>
          <p:cNvSpPr txBox="1"/>
          <p:nvPr/>
        </p:nvSpPr>
        <p:spPr>
          <a:xfrm>
            <a:off x="549276" y="1014769"/>
            <a:ext cx="631371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File : test/widget/demo_11_3_navigation_to_detail_test.dart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8186B3-01FE-4D30-8B1D-3185DA8C7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736B1-E019-68E4-C8D8-19FE65B98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196266"/>
            <a:ext cx="10029372" cy="818503"/>
          </a:xfrm>
        </p:spPr>
        <p:txBody>
          <a:bodyPr/>
          <a:lstStyle/>
          <a:p>
            <a:pPr algn="ctr"/>
            <a:r>
              <a:rPr lang="en-US" sz="3200"/>
              <a:t>Navigation Test Demonstration (List → Detail)</a:t>
            </a:r>
            <a:endParaRPr sz="3200"/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F62DDFCE-CCBB-20FF-0133-30D6D5CAD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5022" y="1205817"/>
            <a:ext cx="4446679" cy="4824869"/>
          </a:xfrm>
        </p:spPr>
        <p:txBody>
          <a:bodyPr/>
          <a:lstStyle/>
          <a:p>
            <a:pPr marL="0" indent="0">
              <a:buNone/>
            </a:pPr>
            <a:r>
              <a:rPr lang="en-US" sz="2000"/>
              <a:t>What We Test</a:t>
            </a:r>
          </a:p>
          <a:p>
            <a:r>
              <a:rPr lang="en-US" sz="2000" b="0"/>
              <a:t>Click on the item in the list</a:t>
            </a:r>
          </a:p>
          <a:p>
            <a:r>
              <a:rPr lang="en-US" sz="2000" b="0"/>
              <a:t>Navigate to the detail screen</a:t>
            </a:r>
          </a:p>
          <a:p>
            <a:r>
              <a:rPr lang="en-US" sz="2000" b="0"/>
              <a:t>Data passed to the detail is correct</a:t>
            </a:r>
          </a:p>
          <a:p>
            <a:pPr marL="0" indent="0">
              <a:buNone/>
            </a:pPr>
            <a:r>
              <a:rPr lang="en-US" sz="2000"/>
              <a:t>Expected output</a:t>
            </a:r>
          </a:p>
          <a:p>
            <a:r>
              <a:rPr lang="en-US" sz="2000" b="0"/>
              <a:t>New screen shows: "Task Details"</a:t>
            </a:r>
          </a:p>
          <a:p>
            <a:r>
              <a:rPr lang="en-US" sz="2000" b="0"/>
              <a:t>Detail form loaded with task data</a:t>
            </a:r>
          </a:p>
          <a:p>
            <a:pPr marL="0" indent="0">
              <a:buNone/>
            </a:pPr>
            <a:r>
              <a:rPr lang="en-US" sz="2000"/>
              <a:t>Why this is important</a:t>
            </a:r>
          </a:p>
          <a:p>
            <a:r>
              <a:rPr lang="en-US" sz="2000" b="0"/>
              <a:t>Navigation errors are common</a:t>
            </a:r>
          </a:p>
          <a:p>
            <a:r>
              <a:rPr lang="en-US" sz="2000" b="0"/>
              <a:t>Ensure routes and widget tree are correct</a:t>
            </a:r>
          </a:p>
        </p:txBody>
      </p:sp>
      <p:pic>
        <p:nvPicPr>
          <p:cNvPr id="5" name="Picture 4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D2C79054-6F86-E708-A55D-B1A00CD1C3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7030" y="1869446"/>
            <a:ext cx="6469742" cy="16422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2C9E59C-AEC5-160F-0A66-FFA5751A01E0}"/>
              </a:ext>
            </a:extLst>
          </p:cNvPr>
          <p:cNvSpPr txBox="1"/>
          <p:nvPr/>
        </p:nvSpPr>
        <p:spPr>
          <a:xfrm>
            <a:off x="5617030" y="1287701"/>
            <a:ext cx="444667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Snippet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2B1821D-D48B-FD24-A3C0-ADAE11D040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3841722"/>
              </p:ext>
            </p:extLst>
          </p:nvPr>
        </p:nvGraphicFramePr>
        <p:xfrm>
          <a:off x="5617028" y="4042399"/>
          <a:ext cx="6469744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7436">
                  <a:extLst>
                    <a:ext uri="{9D8B030D-6E8A-4147-A177-3AD203B41FA5}">
                      <a16:colId xmlns:a16="http://schemas.microsoft.com/office/drawing/2014/main" val="2479602226"/>
                    </a:ext>
                  </a:extLst>
                </a:gridCol>
                <a:gridCol w="1617436">
                  <a:extLst>
                    <a:ext uri="{9D8B030D-6E8A-4147-A177-3AD203B41FA5}">
                      <a16:colId xmlns:a16="http://schemas.microsoft.com/office/drawing/2014/main" val="3749936337"/>
                    </a:ext>
                  </a:extLst>
                </a:gridCol>
                <a:gridCol w="1617436">
                  <a:extLst>
                    <a:ext uri="{9D8B030D-6E8A-4147-A177-3AD203B41FA5}">
                      <a16:colId xmlns:a16="http://schemas.microsoft.com/office/drawing/2014/main" val="2827543585"/>
                    </a:ext>
                  </a:extLst>
                </a:gridCol>
                <a:gridCol w="1617436">
                  <a:extLst>
                    <a:ext uri="{9D8B030D-6E8A-4147-A177-3AD203B41FA5}">
                      <a16:colId xmlns:a16="http://schemas.microsoft.com/office/drawing/2014/main" val="27435450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Line of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User Action Simulated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Purpose in 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What It Verifies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62386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tap(find.text('Demo task'))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User taps a list item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Act: trigger navigation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Navigation event is fired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80136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pumpAndSettle()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Wait for animations &amp; navigation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Arrange for assertion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Destination screen fully loads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2224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expect(find.text('Task Detail')...)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Check screen 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Assert: confirm navigation result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App navigated to the correct page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9300972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56A936D-AB24-C33F-E783-4D7873BD5CDD}"/>
              </a:ext>
            </a:extLst>
          </p:cNvPr>
          <p:cNvSpPr txBox="1"/>
          <p:nvPr/>
        </p:nvSpPr>
        <p:spPr>
          <a:xfrm>
            <a:off x="5529946" y="369335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Explanation</a:t>
            </a:r>
          </a:p>
        </p:txBody>
      </p:sp>
    </p:spTree>
    <p:extLst>
      <p:ext uri="{BB962C8B-B14F-4D97-AF65-F5344CB8AC3E}">
        <p14:creationId xmlns:p14="http://schemas.microsoft.com/office/powerpoint/2010/main" val="27446683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5E5BF-974F-D2C9-0D1A-CCEEC74A5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2943" y="181428"/>
            <a:ext cx="10359571" cy="818503"/>
          </a:xfrm>
        </p:spPr>
        <p:txBody>
          <a:bodyPr/>
          <a:lstStyle/>
          <a:p>
            <a:pPr algn="ctr"/>
            <a:r>
              <a:rPr lang="en-US" sz="3200"/>
              <a:t>Demo 11.4 – Integration Test: Full CRUD Flow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04519C-030C-49B5-114B-9426DF6D1E54}"/>
              </a:ext>
            </a:extLst>
          </p:cNvPr>
          <p:cNvSpPr txBox="1"/>
          <p:nvPr/>
        </p:nvSpPr>
        <p:spPr>
          <a:xfrm>
            <a:off x="337457" y="10003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/>
              <a:t>File: test/widget/demo_11_4_integration_flow_test.dart</a:t>
            </a:r>
          </a:p>
        </p:txBody>
      </p:sp>
      <p:pic>
        <p:nvPicPr>
          <p:cNvPr id="12" name="Picture 11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1D16813D-DC00-D916-E699-36160EDB4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692" y="1369654"/>
            <a:ext cx="5524500" cy="5334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4" name="Picture 1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60D1C03E-50FC-D508-A696-1D4DB5B59D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9535" y="999931"/>
            <a:ext cx="4608515" cy="58516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2805479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590DB-464A-985E-AFDC-7B7F9652D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AC85E5-2D6D-EC83-9F8E-F52C53C96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80029" y="341084"/>
            <a:ext cx="10359571" cy="818503"/>
          </a:xfrm>
        </p:spPr>
        <p:txBody>
          <a:bodyPr/>
          <a:lstStyle/>
          <a:p>
            <a:pPr algn="ctr"/>
            <a:r>
              <a:rPr lang="en-US" sz="3200"/>
              <a:t>Integration Test Demonstration (Full Task Flow)</a:t>
            </a:r>
          </a:p>
        </p:txBody>
      </p:sp>
      <p:sp>
        <p:nvSpPr>
          <p:cNvPr id="3" name="Content Placeholder 8">
            <a:extLst>
              <a:ext uri="{FF2B5EF4-FFF2-40B4-BE49-F238E27FC236}">
                <a16:creationId xmlns:a16="http://schemas.microsoft.com/office/drawing/2014/main" id="{ECC60981-429F-DCDE-E5E7-6FEE554CB2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8193" y="1358217"/>
            <a:ext cx="3761149" cy="4824869"/>
          </a:xfrm>
        </p:spPr>
        <p:txBody>
          <a:bodyPr/>
          <a:lstStyle/>
          <a:p>
            <a:pPr marL="0" indent="0">
              <a:buNone/>
            </a:pPr>
            <a:r>
              <a:rPr lang="en-US" sz="2400"/>
              <a:t>What we test</a:t>
            </a:r>
          </a:p>
          <a:p>
            <a:r>
              <a:rPr lang="en-US" sz="2400" b="0"/>
              <a:t>Add task</a:t>
            </a:r>
          </a:p>
          <a:p>
            <a:r>
              <a:rPr lang="en-US" sz="2400" b="0"/>
              <a:t>Open detail</a:t>
            </a:r>
          </a:p>
          <a:p>
            <a:r>
              <a:rPr lang="en-US" sz="2400" b="0"/>
              <a:t>Edit title</a:t>
            </a:r>
          </a:p>
          <a:p>
            <a:r>
              <a:rPr lang="en-US" sz="2400" b="0"/>
              <a:t>Save</a:t>
            </a:r>
          </a:p>
          <a:p>
            <a:r>
              <a:rPr lang="en-US" sz="2400" b="0"/>
              <a:t>Confirm new title appears in list</a:t>
            </a:r>
          </a:p>
          <a:p>
            <a:pPr marL="0" indent="0">
              <a:buNone/>
            </a:pPr>
            <a:r>
              <a:rPr lang="en-US" sz="2400"/>
              <a:t>Expected Output</a:t>
            </a:r>
          </a:p>
          <a:p>
            <a:r>
              <a:rPr lang="en-US" sz="2400" b="0"/>
              <a:t>Old title disappears</a:t>
            </a:r>
          </a:p>
          <a:p>
            <a:pPr>
              <a:lnSpc>
                <a:spcPct val="150000"/>
              </a:lnSpc>
            </a:pPr>
            <a:r>
              <a:rPr lang="en-US" sz="2400" b="0"/>
              <a:t>New title displayed</a:t>
            </a:r>
            <a:endParaRPr lang="en-US" sz="2000" b="0"/>
          </a:p>
        </p:txBody>
      </p:sp>
      <p:pic>
        <p:nvPicPr>
          <p:cNvPr id="5" name="Picture 4" descr="A close-up of a computer code&#10;&#10;AI-generated content may be incorrect.">
            <a:extLst>
              <a:ext uri="{FF2B5EF4-FFF2-40B4-BE49-F238E27FC236}">
                <a16:creationId xmlns:a16="http://schemas.microsoft.com/office/drawing/2014/main" id="{DFF8F92F-67F0-D015-E8A8-C2CC1E415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1742" y="1930471"/>
            <a:ext cx="7119257" cy="161312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7DD349C-7472-2335-EB46-F3C8B887DD61}"/>
              </a:ext>
            </a:extLst>
          </p:cNvPr>
          <p:cNvSpPr txBox="1"/>
          <p:nvPr/>
        </p:nvSpPr>
        <p:spPr>
          <a:xfrm>
            <a:off x="4539342" y="1392564"/>
            <a:ext cx="444667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Snippet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26C242E-8A34-6415-B5F4-6A7D1A60FC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50831488"/>
              </p:ext>
            </p:extLst>
          </p:nvPr>
        </p:nvGraphicFramePr>
        <p:xfrm>
          <a:off x="4691743" y="4145978"/>
          <a:ext cx="7119256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9814">
                  <a:extLst>
                    <a:ext uri="{9D8B030D-6E8A-4147-A177-3AD203B41FA5}">
                      <a16:colId xmlns:a16="http://schemas.microsoft.com/office/drawing/2014/main" val="3293862219"/>
                    </a:ext>
                  </a:extLst>
                </a:gridCol>
                <a:gridCol w="1779814">
                  <a:extLst>
                    <a:ext uri="{9D8B030D-6E8A-4147-A177-3AD203B41FA5}">
                      <a16:colId xmlns:a16="http://schemas.microsoft.com/office/drawing/2014/main" val="4241871512"/>
                    </a:ext>
                  </a:extLst>
                </a:gridCol>
                <a:gridCol w="1779814">
                  <a:extLst>
                    <a:ext uri="{9D8B030D-6E8A-4147-A177-3AD203B41FA5}">
                      <a16:colId xmlns:a16="http://schemas.microsoft.com/office/drawing/2014/main" val="3090689779"/>
                    </a:ext>
                  </a:extLst>
                </a:gridCol>
                <a:gridCol w="1779814">
                  <a:extLst>
                    <a:ext uri="{9D8B030D-6E8A-4147-A177-3AD203B41FA5}">
                      <a16:colId xmlns:a16="http://schemas.microsoft.com/office/drawing/2014/main" val="373179195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Line of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User Action Simulated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Purpose in Test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What It Verifies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36939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enterText(taskTextField, 'Original')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User creates a new 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Step 1 – Add 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Input field and add flow work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35986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enterText(detailTitleField, 'Updated')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User edits the task title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Step 2 – Edit 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Detail screen correctly receives data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69831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latin typeface="Courier New" panose="02070309020205020404" pitchFamily="49" charset="0"/>
                        </a:rPr>
                        <a:t>tap(detailSaveButton)</a:t>
                      </a:r>
                      <a:endParaRPr lang="en-US" sz="1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User saves the edited 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/>
                        <a:t>Step 3 – Save operation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pt-BR" sz="1200"/>
                        <a:t>Provider updates data + UI refresh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1535483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F06157EF-BEF9-98C6-5894-5B9B55907223}"/>
              </a:ext>
            </a:extLst>
          </p:cNvPr>
          <p:cNvSpPr txBox="1"/>
          <p:nvPr/>
        </p:nvSpPr>
        <p:spPr>
          <a:xfrm>
            <a:off x="4604660" y="37766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Explanation</a:t>
            </a:r>
          </a:p>
        </p:txBody>
      </p:sp>
    </p:spTree>
    <p:extLst>
      <p:ext uri="{BB962C8B-B14F-4D97-AF65-F5344CB8AC3E}">
        <p14:creationId xmlns:p14="http://schemas.microsoft.com/office/powerpoint/2010/main" val="159281729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F79CD-F32E-C730-0DC6-ED94FDEDF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9D665-2809-D9CA-CA5D-A8FC19909E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3200"/>
              <a:t>Best Practices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4DCA17C4-2BC6-64C9-01AE-9BA564C15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9299" y="1596570"/>
            <a:ext cx="10308501" cy="4844143"/>
          </a:xfrm>
        </p:spPr>
        <p:txBody>
          <a:bodyPr/>
          <a:lstStyle/>
          <a:p>
            <a:pPr>
              <a:lnSpc>
                <a:spcPct val="150000"/>
              </a:lnSpc>
              <a:defRPr sz="1800"/>
            </a:pPr>
            <a:r>
              <a:rPr lang="en-US" sz="2400" b="0"/>
              <a:t>Keep tests small and focused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400" b="0"/>
              <a:t>Use keys for widget tests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400" b="0"/>
              <a:t>Mock repositories when possible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400" b="0"/>
              <a:t>Avoid testing Flutter framework functionality</a:t>
            </a:r>
          </a:p>
          <a:p>
            <a:pPr>
              <a:lnSpc>
                <a:spcPct val="150000"/>
              </a:lnSpc>
              <a:defRPr sz="1800"/>
            </a:pPr>
            <a:r>
              <a:rPr lang="en-US" sz="2400" b="0"/>
              <a:t>Don’t overuse integration tests</a:t>
            </a:r>
            <a:endParaRPr lang="nb-NO" sz="2400" b="0"/>
          </a:p>
        </p:txBody>
      </p:sp>
    </p:spTree>
    <p:extLst>
      <p:ext uri="{BB962C8B-B14F-4D97-AF65-F5344CB8AC3E}">
        <p14:creationId xmlns:p14="http://schemas.microsoft.com/office/powerpoint/2010/main" val="183079718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94F37-1B9C-2421-DDB6-C6AA320CDE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F88F06-E657-9371-C4DA-7F147F6B2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203200"/>
            <a:ext cx="10972800" cy="818503"/>
          </a:xfrm>
        </p:spPr>
        <p:txBody>
          <a:bodyPr/>
          <a:lstStyle/>
          <a:p>
            <a:pPr algn="ctr"/>
            <a:r>
              <a:rPr lang="en-US" sz="320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882C1-55BA-F0EB-6E98-573CB14D4A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60714" y="1066313"/>
            <a:ext cx="10247085" cy="5066161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/>
              <a:t>In this module, students learned:</a:t>
            </a:r>
          </a:p>
          <a:p>
            <a:pPr>
              <a:lnSpc>
                <a:spcPct val="150000"/>
              </a:lnSpc>
            </a:pPr>
            <a:r>
              <a:rPr lang="en-US" b="0"/>
              <a:t>In this module, students learned how to:</a:t>
            </a:r>
          </a:p>
          <a:p>
            <a:pPr>
              <a:lnSpc>
                <a:spcPct val="150000"/>
              </a:lnSpc>
            </a:pPr>
            <a:r>
              <a:rPr lang="en-US" b="0"/>
              <a:t>Identify common UI and state-related issues in Flutter apps</a:t>
            </a:r>
          </a:p>
          <a:p>
            <a:pPr>
              <a:lnSpc>
                <a:spcPct val="150000"/>
              </a:lnSpc>
            </a:pPr>
            <a:r>
              <a:rPr lang="en-US" b="0"/>
              <a:t>Apply the Flutter testing pyramid (Unit → Widget → Integration)</a:t>
            </a:r>
          </a:p>
          <a:p>
            <a:pPr>
              <a:lnSpc>
                <a:spcPct val="150000"/>
              </a:lnSpc>
            </a:pPr>
            <a:r>
              <a:rPr lang="en-US" b="0"/>
              <a:t>Write unit tests to verify logic and model behavior</a:t>
            </a:r>
          </a:p>
          <a:p>
            <a:pPr>
              <a:lnSpc>
                <a:spcPct val="150000"/>
              </a:lnSpc>
            </a:pPr>
            <a:r>
              <a:rPr lang="en-US" b="0"/>
              <a:t>Write widget tests to validate UI rendering and interactions</a:t>
            </a:r>
          </a:p>
          <a:p>
            <a:pPr>
              <a:lnSpc>
                <a:spcPct val="150000"/>
              </a:lnSpc>
            </a:pPr>
            <a:r>
              <a:rPr lang="en-US" b="0"/>
              <a:t>Write integration tests to confirm full user flows</a:t>
            </a:r>
          </a:p>
          <a:p>
            <a:pPr>
              <a:lnSpc>
                <a:spcPct val="150000"/>
              </a:lnSpc>
            </a:pPr>
            <a:r>
              <a:rPr lang="en-US" b="0"/>
              <a:t>Use DevTools to diagnose layout, rebuild, and navigation issues</a:t>
            </a:r>
          </a:p>
        </p:txBody>
      </p:sp>
    </p:spTree>
    <p:extLst>
      <p:ext uri="{BB962C8B-B14F-4D97-AF65-F5344CB8AC3E}">
        <p14:creationId xmlns:p14="http://schemas.microsoft.com/office/powerpoint/2010/main" val="29603445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sz="320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47057" y="1560285"/>
            <a:ext cx="10660743" cy="4844143"/>
          </a:xfrm>
        </p:spPr>
        <p:txBody>
          <a:bodyPr/>
          <a:lstStyle/>
          <a:p>
            <a:pPr>
              <a:lnSpc>
                <a:spcPct val="150000"/>
              </a:lnSpc>
              <a:defRPr sz="1800"/>
            </a:pPr>
            <a:r>
              <a:rPr lang="nb-NO" sz="2000" b="0"/>
              <a:t>Mastering Flutter 2025: Learn to Develop Flutter Apps, Kevin Moore, Packt Publishing. Chapter 13, 14, 15</a:t>
            </a:r>
          </a:p>
          <a:p>
            <a:pPr>
              <a:lnSpc>
                <a:spcPct val="150000"/>
              </a:lnSpc>
              <a:defRPr sz="1800"/>
            </a:pPr>
            <a:r>
              <a:rPr lang="nb-NO" sz="2000" b="0"/>
              <a:t>Flutter Documentation – Testing: </a:t>
            </a:r>
            <a:r>
              <a:rPr lang="nb-NO" sz="2000" b="0">
                <a:hlinkClick r:id="rId3"/>
              </a:rPr>
              <a:t>https://docs.flutter.dev/cookbook/testing</a:t>
            </a:r>
            <a:r>
              <a:rPr lang="nb-NO" sz="2000" b="0"/>
              <a:t> </a:t>
            </a:r>
          </a:p>
          <a:p>
            <a:pPr>
              <a:lnSpc>
                <a:spcPct val="150000"/>
              </a:lnSpc>
              <a:defRPr sz="1800"/>
            </a:pPr>
            <a:r>
              <a:rPr lang="nb-NO" sz="2000" b="0"/>
              <a:t>Flutter Documentation – DevTools: </a:t>
            </a:r>
            <a:r>
              <a:rPr lang="nb-NO" sz="2000" b="0">
                <a:hlinkClick r:id="rId4"/>
              </a:rPr>
              <a:t>https://docs.flutter.dev/tools/devtools/overview</a:t>
            </a:r>
            <a:r>
              <a:rPr lang="nb-NO" sz="2000" b="0"/>
              <a:t> </a:t>
            </a:r>
          </a:p>
          <a:p>
            <a:pPr>
              <a:lnSpc>
                <a:spcPct val="150000"/>
              </a:lnSpc>
              <a:defRPr sz="1800"/>
            </a:pPr>
            <a:r>
              <a:rPr lang="nb-NO" sz="2000" b="0"/>
              <a:t>Provider Package Documentation: </a:t>
            </a:r>
            <a:r>
              <a:rPr lang="nb-NO" sz="2000" b="0">
                <a:hlinkClick r:id="rId5"/>
              </a:rPr>
              <a:t>https://pub.dev/packages/provider</a:t>
            </a:r>
            <a:r>
              <a:rPr lang="nb-NO" sz="2000" b="0"/>
              <a:t> </a:t>
            </a:r>
          </a:p>
          <a:p>
            <a:pPr>
              <a:lnSpc>
                <a:spcPct val="150000"/>
              </a:lnSpc>
              <a:defRPr sz="1800"/>
            </a:pPr>
            <a:r>
              <a:rPr lang="nb-NO" sz="2000" b="0"/>
              <a:t>flutter_test Library API Reference: </a:t>
            </a:r>
            <a:r>
              <a:rPr lang="nb-NO" sz="2000" b="0">
                <a:hlinkClick r:id="rId6"/>
              </a:rPr>
              <a:t>https://api.flutter.dev/flutter/flutter_test/flutter_test-library.html</a:t>
            </a:r>
            <a:r>
              <a:rPr lang="nb-NO" sz="2000" b="0"/>
              <a:t> </a:t>
            </a:r>
            <a:endParaRPr lang="nb-NO" sz="2400" b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15633</TotalTime>
  <Words>2073</Words>
  <Application>Microsoft Office PowerPoint</Application>
  <PresentationFormat>Widescreen</PresentationFormat>
  <Paragraphs>373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Arial</vt:lpstr>
      <vt:lpstr>Courier New</vt:lpstr>
      <vt:lpstr>Myriad Pro</vt:lpstr>
      <vt:lpstr>Tahoma</vt:lpstr>
      <vt:lpstr>Times New Roman</vt:lpstr>
      <vt:lpstr>Theme1</vt:lpstr>
      <vt:lpstr>Module 11 - Testing &amp; Debugging    in Flutter</vt:lpstr>
      <vt:lpstr>Learning Objectives</vt:lpstr>
      <vt:lpstr>Why Performance Matters</vt:lpstr>
      <vt:lpstr>Example of a Flutter UI Problem</vt:lpstr>
      <vt:lpstr>Types of Tests in Flutter</vt:lpstr>
      <vt:lpstr>The Flutter Testing Pyramid</vt:lpstr>
      <vt:lpstr>Flutter Testing Workflow</vt:lpstr>
      <vt:lpstr>Debugging Goals in Flutter</vt:lpstr>
      <vt:lpstr>How Tests Map to Real Flutter Problems</vt:lpstr>
      <vt:lpstr>Introducing the Taskly Demo App</vt:lpstr>
      <vt:lpstr>Taskly App Overview </vt:lpstr>
      <vt:lpstr>Demo 11.1 – Unit Test: Task Model</vt:lpstr>
      <vt:lpstr>Unit Test Demonstration (Task Model)</vt:lpstr>
      <vt:lpstr>Demo 11.2 – Widget Test: Add Task Updates UI</vt:lpstr>
      <vt:lpstr>Widget Test Demonstration (Add Task Interaction)</vt:lpstr>
      <vt:lpstr>Demo 11.3 – Navigation Test: List → Detail</vt:lpstr>
      <vt:lpstr>Navigation Test Demonstration (List → Detail)</vt:lpstr>
      <vt:lpstr>Demo 11.4 – Integration Test: Full CRUD Flow</vt:lpstr>
      <vt:lpstr>Integration Test Demonstration (Full Task Flow)</vt:lpstr>
      <vt:lpstr>Best Practices</vt:lpstr>
      <vt:lpstr>Summary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Thanh Nguyen</dc:creator>
  <cp:keywords/>
  <dc:description>generated using python-pptx</dc:description>
  <cp:lastModifiedBy>Thanh Nguyen</cp:lastModifiedBy>
  <cp:revision>51</cp:revision>
  <dcterms:created xsi:type="dcterms:W3CDTF">2013-01-27T09:14:16Z</dcterms:created>
  <dcterms:modified xsi:type="dcterms:W3CDTF">2025-12-11T06:41:01Z</dcterms:modified>
  <cp:category/>
</cp:coreProperties>
</file>