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28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7" r:id="rId22"/>
    <p:sldId id="282" r:id="rId23"/>
    <p:sldId id="283" r:id="rId24"/>
    <p:sldId id="285" r:id="rId25"/>
    <p:sldId id="288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419" autoAdjust="0"/>
  </p:normalViewPr>
  <p:slideViewPr>
    <p:cSldViewPr snapToGrid="0" snapToObjects="1">
      <p:cViewPr varScale="1">
        <p:scale>
          <a:sx n="61" d="100"/>
          <a:sy n="61" d="100"/>
        </p:scale>
        <p:origin x="1493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EBE7F-4438-406F-9F9D-F9FF938E3A09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00248-A4E8-4A54-A358-3DD15D6F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31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Why it matters</a:t>
            </a:r>
          </a:p>
          <a:p>
            <a:endParaRPr lang="en-US"/>
          </a:p>
          <a:p>
            <a:r>
              <a:rPr lang="en-US"/>
              <a:t>Flutter UI is reactive — understanding Dart's async &amp; OOP makes UI smooth, scalable, and maintainable.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00248-A4E8-4A54-A358-3DD15D6F32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585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00248-A4E8-4A54-A358-3DD15D6F32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64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Why needed?</a:t>
            </a:r>
          </a:p>
          <a:p>
            <a:endParaRPr lang="en-US"/>
          </a:p>
          <a:p>
            <a:r>
              <a:rPr lang="en-US"/>
              <a:t>Enforce consistent API</a:t>
            </a:r>
          </a:p>
          <a:p>
            <a:endParaRPr lang="en-US"/>
          </a:p>
          <a:p>
            <a:r>
              <a:rPr lang="en-US"/>
              <a:t>Base for polymorphism in Flutter's widget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00248-A4E8-4A54-A358-3DD15D6F32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02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When used?</a:t>
            </a:r>
          </a:p>
          <a:p>
            <a:r>
              <a:rPr lang="en-US"/>
              <a:t>Define contracts (API rules)</a:t>
            </a:r>
          </a:p>
          <a:p>
            <a:r>
              <a:rPr lang="en-US"/>
              <a:t>Used in testing / dependency injection</a:t>
            </a:r>
          </a:p>
          <a:p>
            <a:r>
              <a:rPr lang="en-US"/>
              <a:t>Flutter plugins use this heavily</a:t>
            </a:r>
          </a:p>
          <a:p>
            <a:r>
              <a:rPr lang="en-US"/>
              <a:t>Clear separation between </a:t>
            </a:r>
            <a:r>
              <a:rPr lang="en-US" b="1"/>
              <a:t>what a class should do</a:t>
            </a:r>
            <a:r>
              <a:rPr lang="en-US"/>
              <a:t> vs </a:t>
            </a:r>
            <a:r>
              <a:rPr lang="en-US" b="1"/>
              <a:t>how it does it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00248-A4E8-4A54-A358-3DD15D6F32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08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avoid misuse (e.g., 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CanFly</a:t>
            </a:r>
            <a:r>
              <a:rPr lang="en-US"/>
              <a:t> applied to a Fish).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00248-A4E8-4A54-A358-3DD15D6F32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7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Practical Flutter use</a:t>
            </a:r>
          </a:p>
          <a:p>
            <a:endParaRPr lang="en-US"/>
          </a:p>
          <a:p>
            <a:r>
              <a:rPr lang="en-US"/>
              <a:t>JSON models (User.fromJson)</a:t>
            </a:r>
          </a:p>
          <a:p>
            <a:endParaRPr lang="en-US"/>
          </a:p>
          <a:p>
            <a:r>
              <a:rPr lang="en-US"/>
              <a:t>Caching instances</a:t>
            </a:r>
          </a:p>
          <a:p>
            <a:endParaRPr lang="en-US"/>
          </a:p>
          <a:p>
            <a:r>
              <a:rPr lang="en-US"/>
              <a:t>Dependency injection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00248-A4E8-4A54-A358-3DD15D6F32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39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Generics = “data type plug-ins” - more flexible OOP.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00248-A4E8-4A54-A358-3DD15D6F32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95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Value = 10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00248-A4E8-4A54-A358-3DD15D6F328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61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Why useful</a:t>
            </a:r>
          </a:p>
          <a:p>
            <a:r>
              <a:rPr lang="en-US"/>
              <a:t>API design</a:t>
            </a:r>
          </a:p>
          <a:p>
            <a:r>
              <a:rPr lang="en-US"/>
              <a:t>Prevent misuse</a:t>
            </a:r>
          </a:p>
          <a:p>
            <a:r>
              <a:rPr lang="en-US"/>
              <a:t>Shared behavior guaranteed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00248-A4E8-4A54-A358-3DD15D6F328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35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Critical in 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children: [...widgets]</a:t>
            </a:r>
            <a:r>
              <a:rPr lang="en-US"/>
              <a:t> for UI 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00248-A4E8-4A54-A358-3DD15D6F328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17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00248-A4E8-4A54-A358-3DD15D6F328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00248-A4E8-4A54-A358-3DD15D6F328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16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00248-A4E8-4A54-A358-3DD15D6F328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41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/>
              <a:t>async</a:t>
            </a:r>
            <a:r>
              <a:rPr lang="en-US"/>
              <a:t> and yield </a:t>
            </a:r>
            <a:r>
              <a:rPr lang="en-US">
                <a:sym typeface="Wingdings" panose="05000000000000000000" pitchFamily="2" charset="2"/>
              </a:rPr>
              <a:t> Used in recursive fetching and paginated APIs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/>
              <a:t>Controller &amp; broadcast </a:t>
            </a:r>
            <a:r>
              <a:rPr lang="en-US" b="0">
                <a:sym typeface="Wingdings" panose="05000000000000000000" pitchFamily="2" charset="2"/>
              </a:rPr>
              <a:t> </a:t>
            </a:r>
            <a:r>
              <a:rPr lang="en-US"/>
              <a:t>Used in event buses &amp; UI shared signals</a:t>
            </a:r>
            <a:endParaRPr lang="en-US"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00248-A4E8-4A54-A358-3DD15D6F328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74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Testable, Maintainable, Works with Bloc, Riverpod, Provider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00248-A4E8-4A54-A358-3DD15D6F328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008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/>
              <a:t>Live updates: chat, notifications, counters, sync UI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00248-A4E8-4A54-A358-3DD15D6F328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791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/>
              <a:t>Why this matters</a:t>
            </a:r>
          </a:p>
          <a:p>
            <a:r>
              <a:rPr lang="en-US" b="0"/>
              <a:t>Prepares foundation for real app data flow</a:t>
            </a:r>
          </a:p>
          <a:p>
            <a:r>
              <a:rPr lang="en-US" b="0"/>
              <a:t>Same pattern used in Repository + Bloc / Riverpod in Flutter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00248-A4E8-4A54-A358-3DD15D6F328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35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0" y="2747700"/>
            <a:ext cx="8890000" cy="411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19503" y="3175003"/>
            <a:ext cx="8394700" cy="1827699"/>
          </a:xfrm>
        </p:spPr>
        <p:txBody>
          <a:bodyPr>
            <a:normAutofit/>
          </a:bodyPr>
          <a:lstStyle>
            <a:lvl1pPr>
              <a:defRPr sz="3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19500" y="5143500"/>
            <a:ext cx="8407400" cy="990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19CCAF8C-C753-1DAE-23EA-E5B6B43D66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21" y="183228"/>
            <a:ext cx="2964751" cy="91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14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508000"/>
            <a:ext cx="10972800" cy="81850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050" name="Picture 2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6066AA04-2665-1F3A-BE05-80140B58DB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12023" cy="569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196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5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/>
            </a:lvl2pPr>
            <a:lvl3pPr>
              <a:spcBef>
                <a:spcPts val="450"/>
              </a:spcBef>
              <a:spcAft>
                <a:spcPts val="450"/>
              </a:spcAft>
              <a:defRPr sz="1800"/>
            </a:lvl3pPr>
            <a:lvl4pPr>
              <a:spcBef>
                <a:spcPts val="450"/>
              </a:spcBef>
              <a:spcAft>
                <a:spcPts val="450"/>
              </a:spcAft>
              <a:defRPr sz="1600"/>
            </a:lvl4pPr>
            <a:lvl5pPr>
              <a:spcBef>
                <a:spcPts val="450"/>
              </a:spcBef>
              <a:spcAft>
                <a:spcPts val="450"/>
              </a:spcAft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64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50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158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75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66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29" indent="0">
              <a:buNone/>
              <a:defRPr sz="2000"/>
            </a:lvl6pPr>
            <a:lvl7pPr marL="2742995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818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85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99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869" y="275167"/>
            <a:ext cx="1097227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869" y="1600731"/>
            <a:ext cx="10972271" cy="452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15500" y="6350001"/>
            <a:ext cx="1143000" cy="317500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5003" y="6350002"/>
            <a:ext cx="3860271" cy="365125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914331" eaLnBrk="1" fontAlgn="auto" hangingPunct="1">
              <a:spcBef>
                <a:spcPts val="0"/>
              </a:spcBef>
              <a:spcAft>
                <a:spcPts val="0"/>
              </a:spcAft>
              <a:defRPr sz="12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9003" y="6350003"/>
            <a:ext cx="596636" cy="310887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04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3425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320032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6pPr>
      <a:lvl7pPr marL="640064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7pPr>
      <a:lvl8pPr marL="960096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8pPr>
      <a:lvl9pPr marL="1280128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257" indent="-342257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200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marL="742297" indent="-285585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2pPr>
      <a:lvl3pPr marL="1142336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3pPr>
      <a:lvl4pPr marL="1599049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i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4pPr>
      <a:lvl5pPr marL="2056873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5pPr>
      <a:lvl6pPr marL="2514411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7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71866-18C9-5637-B243-F65318A7F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8628" y="3778118"/>
            <a:ext cx="6296025" cy="1827699"/>
          </a:xfrm>
        </p:spPr>
        <p:txBody>
          <a:bodyPr>
            <a:normAutofit/>
          </a:bodyPr>
          <a:lstStyle/>
          <a:p>
            <a:r>
              <a:rPr lang="en-US" sz="4000"/>
              <a:t>Module 3 – Advanced Dart for Flutter Development</a:t>
            </a:r>
          </a:p>
        </p:txBody>
      </p:sp>
    </p:spTree>
    <p:extLst>
      <p:ext uri="{BB962C8B-B14F-4D97-AF65-F5344CB8AC3E}">
        <p14:creationId xmlns:p14="http://schemas.microsoft.com/office/powerpoint/2010/main" val="1369171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Overview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/>
              <a:t>What you will learn</a:t>
            </a:r>
          </a:p>
          <a:p>
            <a:pPr>
              <a:lnSpc>
                <a:spcPct val="150000"/>
              </a:lnSpc>
            </a:pPr>
            <a:r>
              <a:rPr lang="en-US" sz="2400" b="0"/>
              <a:t>Deep OOP concepts used in Flutter internals</a:t>
            </a:r>
          </a:p>
          <a:p>
            <a:pPr>
              <a:lnSpc>
                <a:spcPct val="150000"/>
              </a:lnSpc>
            </a:pPr>
            <a:r>
              <a:rPr lang="en-US" sz="2400" b="0"/>
              <a:t>Generic programming for reusable components</a:t>
            </a:r>
          </a:p>
          <a:p>
            <a:pPr>
              <a:lnSpc>
                <a:spcPct val="150000"/>
              </a:lnSpc>
            </a:pPr>
            <a:r>
              <a:rPr lang="en-US" sz="2400" b="0"/>
              <a:t>How async and event loops really work in Dart</a:t>
            </a:r>
          </a:p>
          <a:p>
            <a:pPr>
              <a:lnSpc>
                <a:spcPct val="150000"/>
              </a:lnSpc>
            </a:pPr>
            <a:r>
              <a:rPr lang="en-US" sz="2400" b="0"/>
              <a:t>Stream architecture behind StreamBuilder</a:t>
            </a:r>
          </a:p>
          <a:p>
            <a:pPr>
              <a:lnSpc>
                <a:spcPct val="150000"/>
              </a:lnSpc>
            </a:pPr>
            <a:r>
              <a:rPr lang="en-US" sz="2400" b="0"/>
              <a:t>Repository pattern to prepare for state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0723" y="40165"/>
            <a:ext cx="8229600" cy="818503"/>
          </a:xfrm>
        </p:spPr>
        <p:txBody>
          <a:bodyPr/>
          <a:lstStyle/>
          <a:p>
            <a:pPr algn="ctr"/>
            <a:r>
              <a:rPr sz="3200"/>
              <a:t>Learning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3159" y="929748"/>
            <a:ext cx="9177164" cy="5928252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Advanced Language Features</a:t>
            </a:r>
          </a:p>
          <a:p>
            <a:r>
              <a:rPr b="0"/>
              <a:t>Abstract classes &amp; implicit interfaces</a:t>
            </a:r>
          </a:p>
          <a:p>
            <a:r>
              <a:rPr b="0"/>
              <a:t>Mixins</a:t>
            </a:r>
          </a:p>
          <a:p>
            <a:r>
              <a:rPr b="0"/>
              <a:t>Factory constructors</a:t>
            </a:r>
          </a:p>
          <a:p>
            <a:r>
              <a:rPr b="0"/>
              <a:t>Generics</a:t>
            </a:r>
            <a:endParaRPr lang="en-US" b="0"/>
          </a:p>
          <a:p>
            <a:pPr marL="0" indent="0">
              <a:buNone/>
            </a:pPr>
            <a:r>
              <a:rPr lang="en-US"/>
              <a:t>Async mastery</a:t>
            </a:r>
            <a:endParaRPr b="0"/>
          </a:p>
          <a:p>
            <a:r>
              <a:rPr lang="fr-FR" b="0"/>
              <a:t>Microtask queue vs Event queue</a:t>
            </a:r>
          </a:p>
          <a:p>
            <a:r>
              <a:rPr lang="en-US" b="0"/>
              <a:t>Future chaining vs async/await</a:t>
            </a:r>
          </a:p>
          <a:p>
            <a:r>
              <a:rPr lang="en-US" b="0"/>
              <a:t>Streams, broadcast, async*, yield, transformers</a:t>
            </a:r>
          </a:p>
          <a:p>
            <a:pPr marL="0" indent="0">
              <a:buNone/>
            </a:pPr>
            <a:r>
              <a:rPr lang="en-US"/>
              <a:t>Architecture foundation</a:t>
            </a:r>
          </a:p>
          <a:p>
            <a:r>
              <a:rPr lang="en-US" b="0"/>
              <a:t>Model / Repository separation</a:t>
            </a:r>
          </a:p>
          <a:p>
            <a:r>
              <a:rPr lang="en-US" b="0"/>
              <a:t>Preparing for BLoC / Riverpod concepts</a:t>
            </a:r>
          </a:p>
          <a:p>
            <a:pPr marL="0" indent="0">
              <a:buNone/>
            </a:pPr>
            <a:endParaRPr sz="2400"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Abstract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0246" y="1412112"/>
            <a:ext cx="10231470" cy="5205255"/>
          </a:xfrm>
        </p:spPr>
        <p:txBody>
          <a:bodyPr/>
          <a:lstStyle/>
          <a:p>
            <a:r>
              <a:rPr lang="en-US" sz="2400" b="0"/>
              <a:t>Abstract classes define structure without full behavior.</a:t>
            </a:r>
          </a:p>
          <a:p>
            <a:r>
              <a:rPr lang="en-US" sz="2400" b="0"/>
              <a:t>They force subclasses to implement functions.</a:t>
            </a:r>
          </a:p>
          <a:p>
            <a:r>
              <a:rPr lang="en-US" sz="2400" b="0"/>
              <a:t>In Flutter, State&lt;T&gt; is an abstract class - Widgets override methods to define behavior.</a:t>
            </a:r>
          </a:p>
          <a:p>
            <a:r>
              <a:rPr sz="2400" b="0"/>
              <a:t>Example:</a:t>
            </a:r>
            <a:endParaRPr lang="en-US" sz="2400" b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/>
              <a:t>	abstract class Shape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/>
              <a:t>		double area(); // no body = must be implemented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/>
              <a:t>	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/>
              <a:t>	class Circle extends Shape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/>
              <a:t>		final double r;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/>
              <a:t>		Circle(this.r);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/>
              <a:t>		double area() =&gt; 3.14 * r * r;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/>
              <a:t>	}</a:t>
            </a:r>
            <a:endParaRPr sz="2000"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Implicit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/>
              <a:t>Every class in Dart automatically defines an interface.</a:t>
            </a:r>
            <a:br>
              <a:rPr lang="en-US" sz="2400" b="0"/>
            </a:br>
            <a:r>
              <a:rPr lang="en-US" sz="2400" b="0"/>
              <a:t>implements forces full override.</a:t>
            </a:r>
          </a:p>
          <a:p>
            <a:r>
              <a:rPr sz="2400" b="0"/>
              <a:t>Example:</a:t>
            </a:r>
            <a:endParaRPr lang="en-US" sz="2400" b="0"/>
          </a:p>
          <a:p>
            <a:pPr marL="0" indent="0">
              <a:buNone/>
            </a:pPr>
            <a:r>
              <a:rPr lang="en-US" sz="2400" b="0"/>
              <a:t>	class Bird { </a:t>
            </a:r>
          </a:p>
          <a:p>
            <a:pPr marL="0" indent="0">
              <a:buNone/>
            </a:pPr>
            <a:r>
              <a:rPr lang="en-US" sz="2400" b="0"/>
              <a:t>		void fly() =&gt; print("Bird flying"); </a:t>
            </a:r>
          </a:p>
          <a:p>
            <a:pPr marL="0" indent="0">
              <a:buNone/>
            </a:pPr>
            <a:r>
              <a:rPr lang="en-US" sz="2400" b="0"/>
              <a:t>	}</a:t>
            </a:r>
          </a:p>
          <a:p>
            <a:pPr marL="0" indent="0">
              <a:buNone/>
            </a:pPr>
            <a:r>
              <a:rPr lang="en-US" sz="2400" b="0"/>
              <a:t>	class Eagle implements Bird {</a:t>
            </a:r>
          </a:p>
          <a:p>
            <a:pPr marL="0" indent="0">
              <a:buNone/>
            </a:pPr>
            <a:r>
              <a:rPr lang="en-US" sz="2400" b="0"/>
              <a:t>		void fly() =&gt; print("Eagle gliding");</a:t>
            </a:r>
          </a:p>
          <a:p>
            <a:pPr marL="0" indent="0">
              <a:buNone/>
            </a:pPr>
            <a:r>
              <a:rPr lang="en-US" b="0"/>
              <a:t>	}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Extends vs Implements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10161C4-5A81-5900-079E-C5E3D524CE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8474087"/>
              </p:ext>
            </p:extLst>
          </p:nvPr>
        </p:nvGraphicFramePr>
        <p:xfrm>
          <a:off x="1590189" y="1600200"/>
          <a:ext cx="8620612" cy="186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1131">
                  <a:extLst>
                    <a:ext uri="{9D8B030D-6E8A-4147-A177-3AD203B41FA5}">
                      <a16:colId xmlns:a16="http://schemas.microsoft.com/office/drawing/2014/main" val="836854168"/>
                    </a:ext>
                  </a:extLst>
                </a:gridCol>
                <a:gridCol w="2946285">
                  <a:extLst>
                    <a:ext uri="{9D8B030D-6E8A-4147-A177-3AD203B41FA5}">
                      <a16:colId xmlns:a16="http://schemas.microsoft.com/office/drawing/2014/main" val="245658110"/>
                    </a:ext>
                  </a:extLst>
                </a:gridCol>
                <a:gridCol w="3813196">
                  <a:extLst>
                    <a:ext uri="{9D8B030D-6E8A-4147-A177-3AD203B41FA5}">
                      <a16:colId xmlns:a16="http://schemas.microsoft.com/office/drawing/2014/main" val="11330379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Keyword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3829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Inherit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Modify or extend existing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144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signature, no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 contract, custom behavior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0747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Mix in code units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Share code reusable blocks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990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A90EF8-319F-79A2-EF77-382DC6861210}"/>
              </a:ext>
            </a:extLst>
          </p:cNvPr>
          <p:cNvSpPr txBox="1"/>
          <p:nvPr/>
        </p:nvSpPr>
        <p:spPr>
          <a:xfrm>
            <a:off x="1443789" y="3560935"/>
            <a:ext cx="8786061" cy="2020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Flutter real examples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StatefulWidget extends Widget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AnimationController implements Listenable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Mixins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4874" y="1600731"/>
            <a:ext cx="10487266" cy="4525699"/>
          </a:xfrm>
        </p:spPr>
        <p:txBody>
          <a:bodyPr/>
          <a:lstStyle/>
          <a:p>
            <a:r>
              <a:rPr lang="en-US" b="0"/>
              <a:t>Mixins = shared behavior without inheritance chain</a:t>
            </a:r>
          </a:p>
          <a:p>
            <a:r>
              <a:rPr lang="en-US" b="0"/>
              <a:t>Example:</a:t>
            </a:r>
          </a:p>
          <a:p>
            <a:pPr marL="0" indent="0">
              <a:buNone/>
            </a:pPr>
            <a:r>
              <a:rPr lang="en-US" b="0"/>
              <a:t>	mixin Logger {</a:t>
            </a:r>
          </a:p>
          <a:p>
            <a:pPr marL="0" indent="0">
              <a:buNone/>
            </a:pPr>
            <a:r>
              <a:rPr lang="en-US" b="0"/>
              <a:t>		 void log(String msg) =&gt; print("[LOG] $msg");</a:t>
            </a:r>
          </a:p>
          <a:p>
            <a:pPr marL="0" indent="0">
              <a:buNone/>
            </a:pPr>
            <a:r>
              <a:rPr lang="en-US" b="0"/>
              <a:t>	}</a:t>
            </a:r>
          </a:p>
          <a:p>
            <a:pPr marL="0" indent="0">
              <a:buNone/>
            </a:pPr>
            <a:r>
              <a:rPr lang="en-US" b="0"/>
              <a:t>	class AuthService with Logger {</a:t>
            </a:r>
          </a:p>
          <a:p>
            <a:pPr marL="0" indent="0">
              <a:buNone/>
            </a:pPr>
            <a:r>
              <a:rPr lang="en-US" b="0"/>
              <a:t>		void login() { log("login called"); }</a:t>
            </a:r>
          </a:p>
          <a:p>
            <a:pPr marL="0" indent="0">
              <a:buNone/>
            </a:pPr>
            <a:r>
              <a:rPr lang="en-US" b="0"/>
              <a:t>	}</a:t>
            </a:r>
          </a:p>
          <a:p>
            <a:r>
              <a:rPr lang="en-US"/>
              <a:t>Flutter uses mixins for animation, scrolling, lifecycle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Mixin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/>
              <a:t>Limit mixin usage to specific parent type → ensures capability exists.</a:t>
            </a:r>
          </a:p>
          <a:p>
            <a:r>
              <a:rPr lang="en-US" b="0"/>
              <a:t>Example:</a:t>
            </a:r>
          </a:p>
          <a:p>
            <a:pPr marL="0" indent="0">
              <a:buNone/>
            </a:pPr>
            <a:r>
              <a:rPr lang="en-US" b="0"/>
              <a:t>	class Pet { String name; Pet(this.name); }</a:t>
            </a:r>
          </a:p>
          <a:p>
            <a:pPr marL="0" indent="0">
              <a:buNone/>
            </a:pPr>
            <a:r>
              <a:rPr lang="en-US" b="0"/>
              <a:t>	mixin CanBark on Pet {</a:t>
            </a:r>
          </a:p>
          <a:p>
            <a:pPr marL="0" indent="0">
              <a:buNone/>
            </a:pPr>
            <a:r>
              <a:rPr lang="en-US" b="0"/>
              <a:t>		void bark() =&gt; print("$name says woof!");</a:t>
            </a:r>
          </a:p>
          <a:p>
            <a:pPr marL="0" indent="0">
              <a:buNone/>
            </a:pPr>
            <a:r>
              <a:rPr lang="en-US" b="0"/>
              <a:t>	}</a:t>
            </a:r>
          </a:p>
          <a:p>
            <a:pPr marL="0" indent="0">
              <a:buNone/>
            </a:pPr>
            <a:r>
              <a:rPr lang="en-US" b="0"/>
              <a:t>	class Dog extends Pet with CanBark {</a:t>
            </a:r>
          </a:p>
          <a:p>
            <a:pPr marL="0" indent="0">
              <a:buNone/>
            </a:pPr>
            <a:r>
              <a:rPr lang="en-US" b="0"/>
              <a:t>		Dog():super("Buddy");</a:t>
            </a:r>
          </a:p>
          <a:p>
            <a:pPr marL="0" indent="0">
              <a:buNone/>
            </a:pPr>
            <a:r>
              <a:rPr lang="en-US" b="0"/>
              <a:t>	}</a:t>
            </a:r>
          </a:p>
          <a:p>
            <a:endParaRPr lang="en-US" b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Factory 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600731"/>
            <a:ext cx="10947140" cy="4525699"/>
          </a:xfrm>
        </p:spPr>
        <p:txBody>
          <a:bodyPr/>
          <a:lstStyle/>
          <a:p>
            <a:r>
              <a:rPr lang="en-US" b="0"/>
              <a:t>Factory = control over instance creation, instead of always returning new object.</a:t>
            </a:r>
          </a:p>
          <a:p>
            <a:r>
              <a:rPr b="0"/>
              <a:t>Control object creation, caching, JSON parse.</a:t>
            </a:r>
          </a:p>
          <a:p>
            <a:r>
              <a:rPr lang="en-US" b="0"/>
              <a:t>Example:</a:t>
            </a:r>
          </a:p>
          <a:p>
            <a:pPr marL="0" indent="0">
              <a:buNone/>
            </a:pPr>
            <a:r>
              <a:rPr lang="en-US" b="0"/>
              <a:t>	class User {</a:t>
            </a:r>
          </a:p>
          <a:p>
            <a:pPr marL="0" indent="0">
              <a:buNone/>
            </a:pPr>
            <a:r>
              <a:rPr lang="en-US" b="0"/>
              <a:t>		final String name;</a:t>
            </a:r>
          </a:p>
          <a:p>
            <a:pPr marL="0" indent="0">
              <a:buNone/>
            </a:pPr>
            <a:r>
              <a:rPr lang="en-US" b="0"/>
              <a:t>		factory User.fromJson(Map j) =&gt; User._(j['name’]);</a:t>
            </a:r>
          </a:p>
          <a:p>
            <a:pPr marL="0" indent="0">
              <a:buNone/>
            </a:pPr>
            <a:r>
              <a:rPr lang="en-US" b="0"/>
              <a:t>		User._(this.name); // private</a:t>
            </a:r>
          </a:p>
          <a:p>
            <a:pPr marL="0" indent="0">
              <a:buNone/>
            </a:pPr>
            <a:r>
              <a:rPr lang="en-US" b="0"/>
              <a:t>	}</a:t>
            </a:r>
          </a:p>
          <a:p>
            <a:r>
              <a:rPr lang="en-US" b="0"/>
              <a:t>Flutter uses factories for theme, text styles, colors, widgets.</a:t>
            </a:r>
            <a:endParaRPr b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Factory Use Cases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59D026-EB25-930C-BC71-02E2D2F8E2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2325319"/>
              </p:ext>
            </p:extLst>
          </p:nvPr>
        </p:nvGraphicFramePr>
        <p:xfrm>
          <a:off x="1981200" y="1600201"/>
          <a:ext cx="8229600" cy="3557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9263">
                  <a:extLst>
                    <a:ext uri="{9D8B030D-6E8A-4147-A177-3AD203B41FA5}">
                      <a16:colId xmlns:a16="http://schemas.microsoft.com/office/drawing/2014/main" val="588294194"/>
                    </a:ext>
                  </a:extLst>
                </a:gridCol>
                <a:gridCol w="4700337">
                  <a:extLst>
                    <a:ext uri="{9D8B030D-6E8A-4147-A177-3AD203B41FA5}">
                      <a16:colId xmlns:a16="http://schemas.microsoft.com/office/drawing/2014/main" val="1194615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7397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existing instance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Singleton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273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.fromJson()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4704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type before creation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adapters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9023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Async creation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asset before building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4045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Generics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9568" y="1600731"/>
            <a:ext cx="10222572" cy="4525699"/>
          </a:xfrm>
        </p:spPr>
        <p:txBody>
          <a:bodyPr/>
          <a:lstStyle/>
          <a:p>
            <a:r>
              <a:rPr lang="en-US" b="0"/>
              <a:t>Generics = templates for types — write once, reuse safely.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b="0"/>
              <a:t>Dart: Future&lt;T&gt;, Stream&lt;T&gt;, List&lt;T&gt;, Map&lt;K, V&gt;</a:t>
            </a:r>
          </a:p>
          <a:p>
            <a:r>
              <a:rPr lang="en-US" b="0"/>
              <a:t>Example: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b="0"/>
              <a:t>List&lt;String&gt; students = ["Anna", "Ben"];</a:t>
            </a:r>
          </a:p>
          <a:p>
            <a:pPr marL="0" indent="0">
              <a:buNone/>
            </a:pPr>
            <a:r>
              <a:rPr lang="en-US" b="0"/>
              <a:t>	Map&lt;String, int&gt; scores = {"Anna": 95};</a:t>
            </a:r>
          </a:p>
          <a:p>
            <a:r>
              <a:rPr lang="en-US" b="0"/>
              <a:t>Why important</a:t>
            </a:r>
          </a:p>
          <a:p>
            <a:pPr marL="0" indent="0">
              <a:buNone/>
            </a:pPr>
            <a:r>
              <a:rPr lang="en-US" b="0"/>
              <a:t>	Compile-time type safety</a:t>
            </a:r>
          </a:p>
          <a:p>
            <a:pPr marL="0" indent="0">
              <a:buNone/>
            </a:pPr>
            <a:r>
              <a:rPr lang="en-US" b="0"/>
              <a:t>	Avoids dynamic misuse</a:t>
            </a:r>
          </a:p>
          <a:p>
            <a:pPr marL="0" indent="0">
              <a:buNone/>
            </a:pPr>
            <a:r>
              <a:rPr lang="en-US" b="0"/>
              <a:t>	Used everywhere in Flutter (widgets, async, forms)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Generic Class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5032" y="1600731"/>
            <a:ext cx="10427108" cy="4525699"/>
          </a:xfrm>
        </p:spPr>
        <p:txBody>
          <a:bodyPr/>
          <a:lstStyle/>
          <a:p>
            <a:r>
              <a:rPr lang="en-US" b="0"/>
              <a:t>One class → many data types safely</a:t>
            </a:r>
          </a:p>
          <a:p>
            <a:pPr marL="0" indent="0">
              <a:buNone/>
            </a:pPr>
            <a:r>
              <a:rPr lang="en-US" b="0"/>
              <a:t>	Like &lt;String&gt; dropdowns in Flutter or &lt;Widget&gt; lists</a:t>
            </a:r>
          </a:p>
          <a:p>
            <a:r>
              <a:rPr lang="en-US" b="0"/>
              <a:t>Example: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b="0"/>
              <a:t>class Box&lt;T&gt; {</a:t>
            </a:r>
          </a:p>
          <a:p>
            <a:pPr marL="0" indent="0">
              <a:buNone/>
            </a:pPr>
            <a:r>
              <a:rPr lang="en-US" b="0"/>
              <a:t>		T value;</a:t>
            </a:r>
          </a:p>
          <a:p>
            <a:pPr marL="0" indent="0">
              <a:buNone/>
            </a:pPr>
            <a:r>
              <a:rPr lang="en-US" b="0"/>
              <a:t>		Box(this.value);</a:t>
            </a:r>
          </a:p>
          <a:p>
            <a:pPr marL="0" indent="0">
              <a:buNone/>
            </a:pPr>
            <a:r>
              <a:rPr lang="en-US" b="0"/>
              <a:t>		void show() =&gt; print("Value = $value");</a:t>
            </a:r>
          </a:p>
          <a:p>
            <a:pPr marL="0" indent="0">
              <a:buNone/>
            </a:pPr>
            <a:r>
              <a:rPr lang="en-US" b="0"/>
              <a:t>	}</a:t>
            </a:r>
          </a:p>
          <a:p>
            <a:pPr marL="0" indent="0">
              <a:buNone/>
            </a:pPr>
            <a:r>
              <a:rPr lang="en-US" b="0"/>
              <a:t>	void main() =&gt; Box&lt;int&gt;(10).show();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Generic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811" y="1600731"/>
            <a:ext cx="10511329" cy="4525699"/>
          </a:xfrm>
        </p:spPr>
        <p:txBody>
          <a:bodyPr/>
          <a:lstStyle/>
          <a:p>
            <a:r>
              <a:rPr lang="en-US" b="0"/>
              <a:t>Force generic to be subclass of certain type</a:t>
            </a:r>
          </a:p>
          <a:p>
            <a:r>
              <a:rPr lang="en-US" b="0"/>
              <a:t>Example:</a:t>
            </a:r>
          </a:p>
          <a:p>
            <a:pPr marL="0" indent="0">
              <a:buNone/>
            </a:pPr>
            <a:r>
              <a:rPr lang="en-US" b="0"/>
              <a:t>	abstract class Animal { String sound(); }</a:t>
            </a:r>
          </a:p>
          <a:p>
            <a:pPr marL="0" indent="0">
              <a:buNone/>
            </a:pPr>
            <a:r>
              <a:rPr lang="en-US" b="0"/>
              <a:t>	class Cat extends Animal { sound() =&gt; "Meow"; }</a:t>
            </a:r>
          </a:p>
          <a:p>
            <a:pPr marL="0" indent="0">
              <a:buNone/>
            </a:pPr>
            <a:r>
              <a:rPr lang="en-US" b="0"/>
              <a:t>	class Box&lt;T extends Animal&gt; {</a:t>
            </a:r>
          </a:p>
          <a:p>
            <a:pPr marL="0" indent="0">
              <a:buNone/>
            </a:pPr>
            <a:r>
              <a:rPr lang="en-US" b="0"/>
              <a:t>		T pet;</a:t>
            </a:r>
          </a:p>
          <a:p>
            <a:pPr marL="0" indent="0">
              <a:buNone/>
            </a:pPr>
            <a:r>
              <a:rPr lang="en-US" b="0"/>
              <a:t>		Box(this.pet);</a:t>
            </a:r>
          </a:p>
          <a:p>
            <a:pPr marL="0" indent="0">
              <a:buNone/>
            </a:pPr>
            <a:r>
              <a:rPr lang="en-US" b="0"/>
              <a:t>		void play() =&gt; print(pet.sound());</a:t>
            </a:r>
          </a:p>
          <a:p>
            <a:pPr marL="0" indent="0">
              <a:buNone/>
            </a:pPr>
            <a:r>
              <a:rPr lang="en-US" b="0"/>
              <a:t>	}</a:t>
            </a:r>
          </a:p>
          <a:p>
            <a:r>
              <a:rPr lang="en-US" b="0"/>
              <a:t>Used in animation system &amp; provider patterns</a:t>
            </a:r>
            <a:endParaRPr b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Collection-if / for / spread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063" y="1600731"/>
            <a:ext cx="10415077" cy="4525699"/>
          </a:xfrm>
        </p:spPr>
        <p:txBody>
          <a:bodyPr/>
          <a:lstStyle/>
          <a:p>
            <a:r>
              <a:rPr lang="en-US" b="0"/>
              <a:t>Dart provides functional collection building</a:t>
            </a:r>
          </a:p>
          <a:p>
            <a:r>
              <a:rPr lang="en-US" b="0"/>
              <a:t>Example:</a:t>
            </a:r>
          </a:p>
          <a:p>
            <a:pPr marL="0" indent="0">
              <a:buNone/>
            </a:pPr>
            <a:r>
              <a:rPr lang="en-US" b="0"/>
              <a:t>	var base = [1,2,3];</a:t>
            </a:r>
          </a:p>
          <a:p>
            <a:pPr marL="0" indent="0">
              <a:buNone/>
            </a:pPr>
            <a:r>
              <a:rPr lang="en-US" b="0"/>
              <a:t>	var list = [  ...base,        // spread</a:t>
            </a:r>
          </a:p>
          <a:p>
            <a:pPr marL="0" indent="0">
              <a:buNone/>
            </a:pPr>
            <a:r>
              <a:rPr lang="en-US" b="0"/>
              <a:t>	if(true) 99,    // conditional insert</a:t>
            </a:r>
          </a:p>
          <a:p>
            <a:pPr marL="0" indent="0">
              <a:buNone/>
            </a:pPr>
            <a:r>
              <a:rPr lang="en-US" b="0"/>
              <a:t>	for (var x in base) x * 10 // loop insert</a:t>
            </a:r>
          </a:p>
          <a:p>
            <a:pPr marL="0" indent="0">
              <a:buNone/>
            </a:pPr>
            <a:r>
              <a:rPr lang="en-US" b="0"/>
              <a:t>	];</a:t>
            </a:r>
          </a:p>
          <a:p>
            <a:pPr marL="0" indent="0">
              <a:buNone/>
            </a:pPr>
            <a:r>
              <a:rPr lang="en-US" b="0"/>
              <a:t>	print(list);</a:t>
            </a:r>
          </a:p>
          <a:p>
            <a:r>
              <a:rPr lang="en-US" b="0"/>
              <a:t>Output:  [1, 2, 3, 99, 10, 20, 30]</a:t>
            </a:r>
          </a:p>
          <a:p>
            <a:pPr marL="0" indent="0">
              <a:buNone/>
            </a:pPr>
            <a:endParaRPr lang="en-US" b="0"/>
          </a:p>
          <a:p>
            <a:endParaRPr b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Custom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968" y="1600731"/>
            <a:ext cx="10451172" cy="4525699"/>
          </a:xfrm>
        </p:spPr>
        <p:txBody>
          <a:bodyPr/>
          <a:lstStyle/>
          <a:p>
            <a:pPr marL="0" indent="0">
              <a:buNone/>
            </a:pPr>
            <a:r>
              <a:rPr lang="en-US" b="0"/>
              <a:t>Purpose</a:t>
            </a:r>
          </a:p>
          <a:p>
            <a:r>
              <a:rPr lang="en-US" b="0"/>
              <a:t>Domain-specific error context (instead of raw text strings)</a:t>
            </a:r>
          </a:p>
          <a:p>
            <a:r>
              <a:rPr lang="en-US" b="0"/>
              <a:t>Example</a:t>
            </a:r>
          </a:p>
          <a:p>
            <a:pPr marL="0" indent="0">
              <a:buNone/>
            </a:pPr>
            <a:r>
              <a:rPr lang="en-US" b="0"/>
              <a:t>	class LoginException implements Exception {</a:t>
            </a:r>
          </a:p>
          <a:p>
            <a:pPr marL="0" indent="0">
              <a:buNone/>
            </a:pPr>
            <a:r>
              <a:rPr lang="en-US" b="0"/>
              <a:t>		final String msg;</a:t>
            </a:r>
          </a:p>
          <a:p>
            <a:pPr marL="0" indent="0">
              <a:buNone/>
            </a:pPr>
            <a:r>
              <a:rPr lang="en-US" b="0"/>
              <a:t>		 LoginException(this.msg);</a:t>
            </a:r>
          </a:p>
          <a:p>
            <a:pPr marL="0" indent="0">
              <a:buNone/>
            </a:pPr>
            <a:r>
              <a:rPr lang="en-US" b="0"/>
              <a:t>	}</a:t>
            </a:r>
          </a:p>
          <a:p>
            <a:r>
              <a:rPr lang="en-US" b="0"/>
              <a:t>Throw meaningful exceptions in repositories → easy to debug UI logic.</a:t>
            </a:r>
          </a:p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Event Loop &amp; Microtasks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1" y="1600731"/>
            <a:ext cx="8889162" cy="4279209"/>
          </a:xfrm>
        </p:spPr>
        <p:txBody>
          <a:bodyPr/>
          <a:lstStyle/>
          <a:p>
            <a:r>
              <a:rPr lang="en-US" b="0"/>
              <a:t>Understanding async order = smoother UI.</a:t>
            </a:r>
          </a:p>
          <a:p>
            <a:r>
              <a:rPr lang="en-US" b="0"/>
              <a:t>Dart async engine has two queues:</a:t>
            </a:r>
          </a:p>
          <a:p>
            <a:endParaRPr lang="en-US" b="0"/>
          </a:p>
          <a:p>
            <a:endParaRPr lang="en-US" b="0"/>
          </a:p>
          <a:p>
            <a:endParaRPr lang="en-US" b="0"/>
          </a:p>
          <a:p>
            <a:endParaRPr lang="en-US" b="0"/>
          </a:p>
          <a:p>
            <a:endParaRPr lang="en-US" b="0"/>
          </a:p>
          <a:p>
            <a:endParaRPr lang="en-US"/>
          </a:p>
          <a:p>
            <a:r>
              <a:rPr lang="en-US" b="0"/>
              <a:t>Microtasks run before event queue.</a:t>
            </a:r>
          </a:p>
          <a:p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AD7B46-FE5A-F71E-B7CE-0FAF3E2F9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96129"/>
              </p:ext>
            </p:extLst>
          </p:nvPr>
        </p:nvGraphicFramePr>
        <p:xfrm>
          <a:off x="2191476" y="3048644"/>
          <a:ext cx="7492677" cy="165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559">
                  <a:extLst>
                    <a:ext uri="{9D8B030D-6E8A-4147-A177-3AD203B41FA5}">
                      <a16:colId xmlns:a16="http://schemas.microsoft.com/office/drawing/2014/main" val="2715641011"/>
                    </a:ext>
                  </a:extLst>
                </a:gridCol>
                <a:gridCol w="1650035">
                  <a:extLst>
                    <a:ext uri="{9D8B030D-6E8A-4147-A177-3AD203B41FA5}">
                      <a16:colId xmlns:a16="http://schemas.microsoft.com/office/drawing/2014/main" val="1343809279"/>
                    </a:ext>
                  </a:extLst>
                </a:gridCol>
                <a:gridCol w="3345083">
                  <a:extLst>
                    <a:ext uri="{9D8B030D-6E8A-4147-A177-3AD203B41FA5}">
                      <a16:colId xmlns:a16="http://schemas.microsoft.com/office/drawing/2014/main" val="29920584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Handles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4143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Microtask 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🔺 Highest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Immediate internal 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1343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Event 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/>
                        <a:t>Futures, UI events, timers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0346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S</a:t>
            </a:r>
            <a:r>
              <a:rPr sz="3200"/>
              <a:t>cheduleMicrotask()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7537" y="1600730"/>
            <a:ext cx="9529009" cy="4904242"/>
          </a:xfrm>
        </p:spPr>
        <p:txBody>
          <a:bodyPr/>
          <a:lstStyle/>
          <a:p>
            <a:r>
              <a:rPr lang="en-US" b="0"/>
              <a:t>Understanding queue = smooth animations + predictable async</a:t>
            </a:r>
          </a:p>
          <a:p>
            <a:r>
              <a:rPr lang="en-US" b="0"/>
              <a:t>Example</a:t>
            </a:r>
          </a:p>
          <a:p>
            <a:pPr marL="0" indent="0">
              <a:buNone/>
            </a:pPr>
            <a:r>
              <a:rPr lang="en-US" b="0"/>
              <a:t>	import 'dart:async’;</a:t>
            </a:r>
          </a:p>
          <a:p>
            <a:pPr marL="0" indent="0">
              <a:buNone/>
            </a:pPr>
            <a:r>
              <a:rPr lang="en-US" b="0"/>
              <a:t>	void main() {</a:t>
            </a:r>
          </a:p>
          <a:p>
            <a:pPr marL="0" indent="0">
              <a:buNone/>
            </a:pPr>
            <a:r>
              <a:rPr lang="en-US" b="0"/>
              <a:t>		print("A");</a:t>
            </a:r>
          </a:p>
          <a:p>
            <a:pPr marL="0" indent="0">
              <a:buNone/>
            </a:pPr>
            <a:r>
              <a:rPr lang="en-US" b="0"/>
              <a:t>		scheduleMicrotask(() =&gt; print("micro"));</a:t>
            </a:r>
          </a:p>
          <a:p>
            <a:pPr marL="0" indent="0">
              <a:buNone/>
            </a:pPr>
            <a:r>
              <a:rPr lang="en-US" b="0"/>
              <a:t>		Future(() =&gt; print("future"));</a:t>
            </a:r>
          </a:p>
          <a:p>
            <a:pPr marL="0" indent="0">
              <a:buNone/>
            </a:pPr>
            <a:r>
              <a:rPr lang="en-US" b="0"/>
              <a:t>		print("B");</a:t>
            </a:r>
          </a:p>
          <a:p>
            <a:pPr marL="0" indent="0">
              <a:buNone/>
            </a:pPr>
            <a:r>
              <a:rPr lang="en-US" b="0"/>
              <a:t>	}</a:t>
            </a:r>
          </a:p>
          <a:p>
            <a:pPr marL="0" indent="0">
              <a:buNone/>
            </a:pPr>
            <a:r>
              <a:rPr lang="en-US" b="0"/>
              <a:t>Output </a:t>
            </a:r>
            <a:r>
              <a:rPr lang="en-US" b="0">
                <a:sym typeface="Wingdings" panose="05000000000000000000" pitchFamily="2" charset="2"/>
              </a:rPr>
              <a:t> </a:t>
            </a:r>
            <a:r>
              <a:rPr lang="en-US" b="0"/>
              <a:t>A, B, micro, future</a:t>
            </a:r>
          </a:p>
          <a:p>
            <a:pPr marL="0" indent="0">
              <a:buNone/>
            </a:pPr>
            <a:endParaRPr lang="en-US" b="0"/>
          </a:p>
          <a:p>
            <a:pPr marL="0" indent="0">
              <a:buNone/>
            </a:pPr>
            <a:endParaRPr lang="en-US" b="0"/>
          </a:p>
          <a:p>
            <a:pPr marL="0" indent="0">
              <a:buNone/>
            </a:pPr>
            <a:endParaRPr lang="en-US" b="0"/>
          </a:p>
          <a:p>
            <a:endParaRPr lang="en-US" b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Future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00731"/>
            <a:ext cx="10439140" cy="4525699"/>
          </a:xfrm>
        </p:spPr>
        <p:txBody>
          <a:bodyPr/>
          <a:lstStyle/>
          <a:p>
            <a:r>
              <a:rPr lang="en-US" sz="2400" b="0"/>
              <a:t>Chain async steps without nesting</a:t>
            </a:r>
          </a:p>
          <a:p>
            <a:r>
              <a:rPr lang="en-US" sz="2400" b="0"/>
              <a:t>Use when you don't need variables or async/await blocks.</a:t>
            </a:r>
          </a:p>
          <a:p>
            <a:endParaRPr lang="en-US" sz="2400" b="0"/>
          </a:p>
          <a:p>
            <a:r>
              <a:rPr lang="en-US" sz="2400" b="0"/>
              <a:t>Example:</a:t>
            </a:r>
          </a:p>
          <a:p>
            <a:pPr marL="456712" lvl="1" indent="0">
              <a:buNone/>
            </a:pPr>
            <a:r>
              <a:rPr lang="en-US" sz="2400"/>
              <a:t>	Future(() =&gt; 1)</a:t>
            </a:r>
          </a:p>
          <a:p>
            <a:pPr marL="456712" lvl="1" indent="0">
              <a:buNone/>
            </a:pPr>
            <a:r>
              <a:rPr lang="en-US" sz="2400"/>
              <a:t> 	.then((v) =&gt; v + 1)</a:t>
            </a:r>
          </a:p>
          <a:p>
            <a:pPr marL="456712" lvl="1" indent="0">
              <a:buNone/>
            </a:pPr>
            <a:r>
              <a:rPr lang="en-US" sz="2400"/>
              <a:t>	.then((v) =&gt; print(v));</a:t>
            </a:r>
          </a:p>
          <a:p>
            <a:pPr marL="456712" lvl="1" indent="0">
              <a:buNone/>
            </a:pPr>
            <a:endParaRPr lang="en-US" sz="2400"/>
          </a:p>
          <a:p>
            <a:pPr marL="456712" lvl="1" indent="0">
              <a:buNone/>
            </a:pPr>
            <a:r>
              <a:rPr lang="en-US" sz="2400"/>
              <a:t>Output </a:t>
            </a:r>
            <a:r>
              <a:rPr lang="en-US" sz="2400">
                <a:sym typeface="Wingdings" panose="05000000000000000000" pitchFamily="2" charset="2"/>
              </a:rPr>
              <a:t> 2</a:t>
            </a:r>
            <a:endParaRPr lang="en-US" sz="2400" b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Stream Generators - Controller &amp; broadcast 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8779" y="1379733"/>
            <a:ext cx="9841832" cy="5141383"/>
          </a:xfrm>
        </p:spPr>
        <p:txBody>
          <a:bodyPr/>
          <a:lstStyle/>
          <a:p>
            <a:r>
              <a:rPr lang="en-US" b="0" i="1"/>
              <a:t>async</a:t>
            </a:r>
            <a:r>
              <a:rPr lang="en-US" b="0"/>
              <a:t> and yield</a:t>
            </a:r>
          </a:p>
          <a:p>
            <a:pPr marL="0" indent="0">
              <a:buNone/>
            </a:pPr>
            <a:r>
              <a:rPr lang="en-US" b="0"/>
              <a:t>	Stream&lt;int&gt; nums() async* {</a:t>
            </a:r>
          </a:p>
          <a:p>
            <a:pPr marL="0" indent="0">
              <a:buNone/>
            </a:pPr>
            <a:r>
              <a:rPr lang="en-US" b="0"/>
              <a:t>		 for(int i=1;i&lt;=3;i++) yield i;</a:t>
            </a:r>
          </a:p>
          <a:p>
            <a:pPr marL="0" indent="0">
              <a:buNone/>
            </a:pPr>
            <a:r>
              <a:rPr lang="en-US" b="0"/>
              <a:t>	}</a:t>
            </a:r>
          </a:p>
          <a:p>
            <a:r>
              <a:rPr lang="en-US" b="0"/>
              <a:t>Controller &amp; broadcast</a:t>
            </a:r>
          </a:p>
          <a:p>
            <a:pPr marL="0" indent="0">
              <a:buNone/>
            </a:pPr>
            <a:r>
              <a:rPr lang="en-US" b="0"/>
              <a:t>	var c = StreamController.broadcast();</a:t>
            </a:r>
          </a:p>
          <a:p>
            <a:pPr marL="0" indent="0">
              <a:buNone/>
            </a:pPr>
            <a:r>
              <a:rPr lang="en-US" b="0"/>
              <a:t>	c.stream.listen((v)=&gt;print("A:$v"));</a:t>
            </a:r>
          </a:p>
          <a:p>
            <a:pPr marL="0" indent="0">
              <a:buNone/>
            </a:pPr>
            <a:r>
              <a:rPr lang="en-US" b="0"/>
              <a:t>	c.stream.listen((v)=&gt;print("B:$v"));</a:t>
            </a:r>
          </a:p>
          <a:p>
            <a:pPr marL="0" indent="0">
              <a:buNone/>
            </a:pPr>
            <a:r>
              <a:rPr lang="en-US" b="0"/>
              <a:t>	c..add(1)..add(2);</a:t>
            </a:r>
          </a:p>
          <a:p>
            <a:pPr marL="0" indent="0">
              <a:buNone/>
            </a:pPr>
            <a:r>
              <a:rPr lang="en-US" b="0"/>
              <a:t>			Output </a:t>
            </a:r>
            <a:r>
              <a:rPr lang="en-US" b="0">
                <a:sym typeface="Wingdings" panose="05000000000000000000" pitchFamily="2" charset="2"/>
              </a:rPr>
              <a:t> 	</a:t>
            </a:r>
            <a:r>
              <a:rPr lang="pt-BR" b="0">
                <a:sym typeface="Wingdings" panose="05000000000000000000" pitchFamily="2" charset="2"/>
              </a:rPr>
              <a:t>A:1 B:1</a:t>
            </a:r>
          </a:p>
          <a:p>
            <a:pPr marL="0" indent="0">
              <a:buNone/>
            </a:pPr>
            <a:r>
              <a:rPr lang="pt-BR" b="0">
                <a:sym typeface="Wingdings" panose="05000000000000000000" pitchFamily="2" charset="2"/>
              </a:rPr>
              <a:t>					A:2 B:2</a:t>
            </a:r>
            <a:endParaRPr lang="en-US" b="0"/>
          </a:p>
          <a:p>
            <a:endParaRPr lang="en-US" b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91432"/>
            <a:ext cx="10972800" cy="818503"/>
          </a:xfrm>
        </p:spPr>
        <p:txBody>
          <a:bodyPr/>
          <a:lstStyle/>
          <a:p>
            <a:pPr algn="ctr"/>
            <a:r>
              <a:t>Repository </a:t>
            </a:r>
            <a:r>
              <a:rPr sz="3200"/>
              <a:t>Pattern</a:t>
            </a:r>
            <a:r>
              <a:t> Intro</a:t>
            </a:r>
            <a:r>
              <a:rPr lang="en-US"/>
              <a:t> - Example (Future)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3316" y="1275877"/>
            <a:ext cx="9926052" cy="5112586"/>
          </a:xfrm>
        </p:spPr>
        <p:txBody>
          <a:bodyPr/>
          <a:lstStyle/>
          <a:p>
            <a:r>
              <a:rPr lang="en-US" b="0"/>
              <a:t>Separate data fetching from presentation/UI</a:t>
            </a:r>
          </a:p>
          <a:p>
            <a:pPr marL="0" indent="0">
              <a:buNone/>
            </a:pPr>
            <a:r>
              <a:rPr lang="en-US" b="0"/>
              <a:t>	</a:t>
            </a:r>
            <a:r>
              <a:rPr b="0"/>
              <a:t>UI -&gt; Repository -&gt; Data (API/DB)</a:t>
            </a:r>
            <a:endParaRPr lang="en-US" b="0"/>
          </a:p>
          <a:p>
            <a:r>
              <a:rPr lang="en-US" b="0"/>
              <a:t>Testable, Maintainable, Works with Bloc, Riverpod, Provider</a:t>
            </a:r>
          </a:p>
          <a:p>
            <a:r>
              <a:rPr lang="en-US" b="0"/>
              <a:t>Example (Future): UI calls: await repo.getUser()</a:t>
            </a:r>
            <a:endParaRPr b="0"/>
          </a:p>
          <a:p>
            <a:pPr marL="0" indent="0">
              <a:buNone/>
            </a:pPr>
            <a:r>
              <a:rPr lang="en-US" b="0"/>
              <a:t>     class Repo {</a:t>
            </a:r>
          </a:p>
          <a:p>
            <a:pPr marL="0" indent="0">
              <a:buNone/>
            </a:pPr>
            <a:r>
              <a:rPr lang="en-US" b="0"/>
              <a:t>  	Future&lt;String&gt; getUser() async {</a:t>
            </a:r>
          </a:p>
          <a:p>
            <a:pPr marL="0" indent="0">
              <a:buNone/>
            </a:pPr>
            <a:r>
              <a:rPr lang="en-US" b="0"/>
              <a:t>    		await Future.delayed(Duration(milliseconds:300));</a:t>
            </a:r>
          </a:p>
          <a:p>
            <a:pPr marL="0" indent="0">
              <a:buNone/>
            </a:pPr>
            <a:r>
              <a:rPr lang="en-US" b="0"/>
              <a:t>   		 return "Anna";</a:t>
            </a:r>
          </a:p>
          <a:p>
            <a:pPr marL="0" indent="0">
              <a:buNone/>
            </a:pPr>
            <a:r>
              <a:rPr lang="en-US" b="0"/>
              <a:t> 	 }</a:t>
            </a:r>
          </a:p>
          <a:p>
            <a:pPr marL="0" indent="0">
              <a:buNone/>
            </a:pPr>
            <a:r>
              <a:rPr lang="en-US" b="0"/>
              <a:t>    }</a:t>
            </a:r>
          </a:p>
          <a:p>
            <a:pPr marL="0" indent="0">
              <a:buNone/>
            </a:pPr>
            <a:r>
              <a:rPr lang="en-US" b="0">
                <a:sym typeface="Wingdings" panose="05000000000000000000" pitchFamily="2" charset="2"/>
              </a:rPr>
              <a:t>	 </a:t>
            </a:r>
            <a:r>
              <a:rPr lang="en-US" b="0"/>
              <a:t>UI calls: await repo.getUser()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253" y="207210"/>
            <a:ext cx="10972800" cy="818503"/>
          </a:xfrm>
        </p:spPr>
        <p:txBody>
          <a:bodyPr/>
          <a:lstStyle/>
          <a:p>
            <a:pPr algn="ctr"/>
            <a:r>
              <a:t>Repository Stream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0658" y="1287910"/>
            <a:ext cx="10972271" cy="4525699"/>
          </a:xfrm>
        </p:spPr>
        <p:txBody>
          <a:bodyPr/>
          <a:lstStyle/>
          <a:p>
            <a:r>
              <a:rPr lang="en-US" b="0"/>
              <a:t>Example: </a:t>
            </a:r>
          </a:p>
          <a:p>
            <a:pPr marL="0" indent="0">
              <a:buNone/>
            </a:pPr>
            <a:r>
              <a:rPr lang="en-US" b="0"/>
              <a:t>     Stream&lt;int&gt; counter() async* {</a:t>
            </a:r>
          </a:p>
          <a:p>
            <a:pPr marL="0" indent="0">
              <a:buNone/>
            </a:pPr>
            <a:r>
              <a:rPr lang="en-US" b="0"/>
              <a:t>	for(int i=1;i&lt;=3;i++){</a:t>
            </a:r>
          </a:p>
          <a:p>
            <a:pPr marL="0" indent="0">
              <a:buNone/>
            </a:pPr>
            <a:r>
              <a:rPr lang="en-US" b="0"/>
              <a:t>		await Future.delayed(Duration(milliseconds:300));</a:t>
            </a:r>
          </a:p>
          <a:p>
            <a:pPr marL="0" indent="0">
              <a:buNone/>
            </a:pPr>
            <a:r>
              <a:rPr lang="en-US" b="0"/>
              <a:t>		yield i;</a:t>
            </a:r>
          </a:p>
          <a:p>
            <a:pPr marL="0" indent="0">
              <a:buNone/>
            </a:pPr>
            <a:r>
              <a:rPr lang="en-US" b="0"/>
              <a:t>	}</a:t>
            </a:r>
          </a:p>
          <a:p>
            <a:pPr marL="0" indent="0">
              <a:buNone/>
            </a:pPr>
            <a:r>
              <a:rPr lang="en-US" b="0"/>
              <a:t>     }</a:t>
            </a:r>
          </a:p>
          <a:p>
            <a:r>
              <a:rPr lang="en-US" b="0"/>
              <a:t>Flutter widget</a:t>
            </a:r>
          </a:p>
          <a:p>
            <a:pPr marL="0" indent="0">
              <a:buNone/>
            </a:pPr>
            <a:r>
              <a:rPr lang="en-US" b="0"/>
              <a:t>	StreamBuilder(stream: repo.counter(), builder:... )</a:t>
            </a:r>
          </a:p>
          <a:p>
            <a:r>
              <a:rPr lang="en-US" b="0"/>
              <a:t>Foundation for real-time apps</a:t>
            </a:r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/>
              <a:t>Putting It Together</a:t>
            </a:r>
            <a:r>
              <a:rPr lang="en-US" sz="3000"/>
              <a:t> -  Performance Best Practices</a:t>
            </a:r>
            <a:endParaRPr sz="3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311" y="1339066"/>
            <a:ext cx="10972271" cy="452569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0"/>
              <a:t>Architecture flow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0"/>
              <a:t>	</a:t>
            </a:r>
            <a:r>
              <a:t>Model -&gt; Repo -&gt; Stream/Future -&gt; Widgets rebuild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b="0"/>
              <a:t>Performance Best Practices</a:t>
            </a:r>
          </a:p>
          <a:p>
            <a:pPr lvl="1">
              <a:lnSpc>
                <a:spcPct val="150000"/>
              </a:lnSpc>
            </a:pPr>
            <a:r>
              <a:rPr lang="en-US" sz="2200"/>
              <a:t>Avoid blocking main isolate (no heavy loops in UI)</a:t>
            </a:r>
          </a:p>
          <a:p>
            <a:pPr lvl="1">
              <a:lnSpc>
                <a:spcPct val="150000"/>
              </a:lnSpc>
            </a:pPr>
            <a:r>
              <a:rPr lang="en-US" sz="2200"/>
              <a:t>Use const widgets to reduce rebuild cost</a:t>
            </a:r>
          </a:p>
          <a:p>
            <a:pPr lvl="1">
              <a:lnSpc>
                <a:spcPct val="150000"/>
              </a:lnSpc>
            </a:pPr>
            <a:r>
              <a:rPr lang="en-US" sz="2200"/>
              <a:t>Use async functions for I/O</a:t>
            </a:r>
          </a:p>
          <a:p>
            <a:pPr lvl="1">
              <a:lnSpc>
                <a:spcPct val="150000"/>
              </a:lnSpc>
            </a:pPr>
            <a:r>
              <a:rPr lang="en-US" sz="2200"/>
              <a:t>Use Isolates for heavy CPU tasks (later module)</a:t>
            </a:r>
            <a:endParaRPr sz="2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Practice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063" y="1600731"/>
            <a:ext cx="10415077" cy="4525699"/>
          </a:xfrm>
        </p:spPr>
        <p:txBody>
          <a:bodyPr/>
          <a:lstStyle/>
          <a:p>
            <a:pPr marL="0" indent="0">
              <a:buNone/>
            </a:pPr>
            <a:r>
              <a:rPr lang="en-US" sz="2400"/>
              <a:t>Goal: Build data layer simulation using Dart</a:t>
            </a:r>
          </a:p>
          <a:p>
            <a:pPr>
              <a:lnSpc>
                <a:spcPct val="150000"/>
              </a:lnSpc>
            </a:pPr>
            <a:r>
              <a:rPr lang="en-US" sz="2400" b="0"/>
              <a:t>Create Product model</a:t>
            </a:r>
          </a:p>
          <a:p>
            <a:pPr>
              <a:lnSpc>
                <a:spcPct val="150000"/>
              </a:lnSpc>
            </a:pPr>
            <a:r>
              <a:rPr lang="en-US" sz="2400" b="0"/>
              <a:t>Create repository returning: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/>
              <a:t>	Future&lt;List&lt;Product&gt;&gt;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/>
              <a:t>	Stream&lt;Product&gt; (live add)</a:t>
            </a:r>
          </a:p>
          <a:p>
            <a:pPr>
              <a:lnSpc>
                <a:spcPct val="150000"/>
              </a:lnSpc>
            </a:pPr>
            <a:r>
              <a:rPr lang="en-US" sz="2400" b="0"/>
              <a:t>Print to console</a:t>
            </a:r>
            <a:endParaRPr sz="2400" b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00731"/>
            <a:ext cx="10347158" cy="4525699"/>
          </a:xfrm>
        </p:spPr>
        <p:txBody>
          <a:bodyPr/>
          <a:lstStyle/>
          <a:p>
            <a:r>
              <a:rPr sz="2400" b="0"/>
              <a:t>Advanced OOP</a:t>
            </a:r>
          </a:p>
          <a:p>
            <a:r>
              <a:rPr sz="2400" b="0"/>
              <a:t>Generics</a:t>
            </a:r>
          </a:p>
          <a:p>
            <a:r>
              <a:rPr sz="2400" b="0"/>
              <a:t>Collections</a:t>
            </a:r>
          </a:p>
          <a:p>
            <a:r>
              <a:rPr sz="2400" b="0"/>
              <a:t>Exceptions</a:t>
            </a:r>
          </a:p>
          <a:p>
            <a:r>
              <a:rPr sz="2400" b="0"/>
              <a:t>Async &amp; Streams</a:t>
            </a:r>
          </a:p>
          <a:p>
            <a:r>
              <a:rPr sz="2400" b="0"/>
              <a:t>Repo pattern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086DA-15DC-15BC-C870-37A5CB9EA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3217A-5188-5464-4841-4B4451AF6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References</a:t>
            </a:r>
            <a:endParaRPr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2A796-32CF-2E16-3A37-F5EF74DB3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00731"/>
            <a:ext cx="10347158" cy="4525699"/>
          </a:xfrm>
        </p:spPr>
        <p:txBody>
          <a:bodyPr/>
          <a:lstStyle/>
          <a:p>
            <a:r>
              <a:rPr lang="en-US" sz="2400" b="0">
                <a:solidFill>
                  <a:srgbClr val="000000"/>
                </a:solidFill>
                <a:latin typeface="Segoe UI"/>
              </a:rPr>
              <a:t>Mastering Flutter (2025), Chapter 2,3,6</a:t>
            </a:r>
          </a:p>
          <a:p>
            <a:r>
              <a:rPr lang="en-US" sz="2400" b="0">
                <a:solidFill>
                  <a:srgbClr val="000000"/>
                </a:solidFill>
                <a:latin typeface="Segoe UI"/>
              </a:rPr>
              <a:t>docs.flutter.dev</a:t>
            </a:r>
          </a:p>
          <a:p>
            <a:r>
              <a:rPr lang="en-US" sz="2400" b="0">
                <a:solidFill>
                  <a:srgbClr val="000000"/>
                </a:solidFill>
                <a:latin typeface="Segoe UI"/>
              </a:rPr>
              <a:t>dart.dev/tools/dartpad </a:t>
            </a:r>
          </a:p>
        </p:txBody>
      </p:sp>
    </p:spTree>
    <p:extLst>
      <p:ext uri="{BB962C8B-B14F-4D97-AF65-F5344CB8AC3E}">
        <p14:creationId xmlns:p14="http://schemas.microsoft.com/office/powerpoint/2010/main" val="386666538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1.AndroidOverview</Template>
  <TotalTime>413</TotalTime>
  <Words>1667</Words>
  <Application>Microsoft Office PowerPoint</Application>
  <PresentationFormat>Widescreen</PresentationFormat>
  <Paragraphs>306</Paragraphs>
  <Slides>25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Arial</vt:lpstr>
      <vt:lpstr>Myriad Pro</vt:lpstr>
      <vt:lpstr>Segoe UI</vt:lpstr>
      <vt:lpstr>Tahoma</vt:lpstr>
      <vt:lpstr>Times New Roman</vt:lpstr>
      <vt:lpstr>Wingdings</vt:lpstr>
      <vt:lpstr>Theme1</vt:lpstr>
      <vt:lpstr>Module 3 – Advanced Dart for Flutter Development</vt:lpstr>
      <vt:lpstr>Overview</vt:lpstr>
      <vt:lpstr>Learning Roadmap</vt:lpstr>
      <vt:lpstr>Abstract Classes</vt:lpstr>
      <vt:lpstr>Implicit Interfaces</vt:lpstr>
      <vt:lpstr>Extends vs Implements</vt:lpstr>
      <vt:lpstr>Mixins</vt:lpstr>
      <vt:lpstr>Mixin Constraints</vt:lpstr>
      <vt:lpstr>Factory Constructors</vt:lpstr>
      <vt:lpstr>Factory Use Cases</vt:lpstr>
      <vt:lpstr>Generics Overview</vt:lpstr>
      <vt:lpstr>Generic Class Example</vt:lpstr>
      <vt:lpstr>Generic Constraints</vt:lpstr>
      <vt:lpstr>Collection-if / for / spread</vt:lpstr>
      <vt:lpstr>Custom Exceptions</vt:lpstr>
      <vt:lpstr>Event Loop &amp; Microtasks</vt:lpstr>
      <vt:lpstr>ScheduleMicrotask()</vt:lpstr>
      <vt:lpstr>Future Chaining</vt:lpstr>
      <vt:lpstr>Stream Generators - Controller &amp; broadcast </vt:lpstr>
      <vt:lpstr>Repository Pattern Intro - Example (Future)</vt:lpstr>
      <vt:lpstr>Repository Stream Example</vt:lpstr>
      <vt:lpstr>Putting It Together -  Performance Best Practices</vt:lpstr>
      <vt:lpstr>Practice Task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Thanh Nguyen</dc:creator>
  <cp:keywords/>
  <dc:description>generated using python-pptx</dc:description>
  <cp:lastModifiedBy>Thanh Nguyen</cp:lastModifiedBy>
  <cp:revision>7</cp:revision>
  <dcterms:created xsi:type="dcterms:W3CDTF">2013-01-27T09:14:16Z</dcterms:created>
  <dcterms:modified xsi:type="dcterms:W3CDTF">2025-12-12T15:07:33Z</dcterms:modified>
  <cp:category/>
</cp:coreProperties>
</file>